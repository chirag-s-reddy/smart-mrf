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slides/slide22.xml" ContentType="application/vnd.openxmlformats-officedocument.presentationml.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71" r:id="rId24"/>
    <p:sldId id="270" r:id="rId23"/>
    <p:sldId id="266" r:id="rId12"/>
    <p:sldId id="267" r:id="rId13"/>
    <p:sldId id="272" r:id="rId25"/>
    <p:sldId id="273" r:id="rId26"/>
    <p:sldId id="274" r:id="rId27"/>
    <p:sldId id="275" r:id="rId28"/>
    <p:sldId id="276" r:id="rId29"/>
    <p:sldId id="268" r:id="rId14"/>
    <p:sldId id="277" r:id="rId30"/>
    <p:sldId id="26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F700B11-DD1C-41E5-A47F-450919AB86ED}" v="7" dt="2026-10-16T08:03:49.01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3.xml"/><Relationship Id="rId13" Type="http://schemas.openxmlformats.org/officeDocument/2006/relationships/slide" Target="slides/slide14.xml"/><Relationship Id="rId14" Type="http://schemas.openxmlformats.org/officeDocument/2006/relationships/slide" Target="slides/slide15.xml"/><Relationship Id="rId15" Type="http://schemas.openxmlformats.org/officeDocument/2006/relationships/slide" Target="slides/slide16.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21" Type="http://schemas.microsoft.com/office/2016/11/relationships/changesInfo" Target="changesInfos/changesInfo1.xml"/><Relationship Id="rId22" Type="http://schemas.microsoft.com/office/2015/10/relationships/revisionInfo" Target="revisionInfo.xml"/><Relationship Id="rId23" Type="http://schemas.openxmlformats.org/officeDocument/2006/relationships/slide" Target="slides/slide12.xml"/><Relationship Id="rId24" Type="http://schemas.openxmlformats.org/officeDocument/2006/relationships/slide" Target="slides/slide11.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  <Relationship Id="rId30" Type="http://schemas.openxmlformats.org/officeDocument/2006/relationships/slide" Target="slides/slide22.xml"/>
</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rusmaran.r@outlook.com" userId="ef3c157fccf07343" providerId="LiveId" clId="{7F55B915-F25B-4D3A-A070-76BF1C6C1BA7}"/>
    <pc:docChg chg="undo custSel modSld">
      <pc:chgData name="gurusmaran.r@outlook.com" userId="ef3c157fccf07343" providerId="LiveId" clId="{7F55B915-F25B-4D3A-A070-76BF1C6C1BA7}" dt="2026-10-16T08:07:14.966" v="46" actId="14100"/>
      <pc:docMkLst>
        <pc:docMk/>
      </pc:docMkLst>
      <pc:sldChg chg="modSp mod">
        <pc:chgData name="gurusmaran.r@outlook.com" userId="ef3c157fccf07343" providerId="LiveId" clId="{7F55B915-F25B-4D3A-A070-76BF1C6C1BA7}" dt="2026-10-16T08:07:14.966" v="46" actId="14100"/>
        <pc:sldMkLst>
          <pc:docMk/>
          <pc:sldMk cId="0" sldId="257"/>
        </pc:sldMkLst>
        <pc:spChg chg="mod">
          <ac:chgData name="gurusmaran.r@outlook.com" userId="ef3c157fccf07343" providerId="LiveId" clId="{7F55B915-F25B-4D3A-A070-76BF1C6C1BA7}" dt="2026-10-16T08:06:56.833" v="43" actId="1076"/>
          <ac:spMkLst>
            <pc:docMk/>
            <pc:sldMk cId="0" sldId="257"/>
            <ac:spMk id="2" creationId="{00000000-0000-0000-0000-000000000000}"/>
          </ac:spMkLst>
        </pc:spChg>
        <pc:spChg chg="mod">
          <ac:chgData name="gurusmaran.r@outlook.com" userId="ef3c157fccf07343" providerId="LiveId" clId="{7F55B915-F25B-4D3A-A070-76BF1C6C1BA7}" dt="2026-10-16T08:07:14.966" v="46" actId="14100"/>
          <ac:spMkLst>
            <pc:docMk/>
            <pc:sldMk cId="0" sldId="257"/>
            <ac:spMk id="3" creationId="{00000000-0000-0000-0000-000000000000}"/>
          </ac:spMkLst>
        </pc:spChg>
      </pc:sldChg>
      <pc:sldChg chg="delSp modSp mod">
        <pc:chgData name="gurusmaran.r@outlook.com" userId="ef3c157fccf07343" providerId="LiveId" clId="{7F55B915-F25B-4D3A-A070-76BF1C6C1BA7}" dt="2026-10-16T07:48:30.678" v="12" actId="21"/>
        <pc:sldMkLst>
          <pc:docMk/>
          <pc:sldMk cId="0" sldId="258"/>
        </pc:sldMkLst>
        <pc:spChg chg="del">
          <ac:chgData name="gurusmaran.r@outlook.com" userId="ef3c157fccf07343" providerId="LiveId" clId="{7F55B915-F25B-4D3A-A070-76BF1C6C1BA7}" dt="2026-10-16T07:48:30.678" v="12" actId="21"/>
          <ac:spMkLst>
            <pc:docMk/>
            <pc:sldMk cId="0" sldId="258"/>
            <ac:spMk id="17" creationId="{00000000-0000-0000-0000-000000000000}"/>
          </ac:spMkLst>
        </pc:spChg>
        <pc:picChg chg="mod">
          <ac:chgData name="gurusmaran.r@outlook.com" userId="ef3c157fccf07343" providerId="LiveId" clId="{7F55B915-F25B-4D3A-A070-76BF1C6C1BA7}" dt="2026-10-16T07:48:26.641" v="11" actId="14100"/>
          <ac:picMkLst>
            <pc:docMk/>
            <pc:sldMk cId="0" sldId="258"/>
            <ac:picMk id="16" creationId="{00000000-0000-0000-0000-000000000000}"/>
          </ac:picMkLst>
        </pc:picChg>
      </pc:sldChg>
      <pc:sldChg chg="delSp modSp mod">
        <pc:chgData name="gurusmaran.r@outlook.com" userId="ef3c157fccf07343" providerId="LiveId" clId="{7F55B915-F25B-4D3A-A070-76BF1C6C1BA7}" dt="2026-10-16T07:46:55.641" v="7" actId="21"/>
        <pc:sldMkLst>
          <pc:docMk/>
          <pc:sldMk cId="0" sldId="259"/>
        </pc:sldMkLst>
        <pc:spChg chg="del">
          <ac:chgData name="gurusmaran.r@outlook.com" userId="ef3c157fccf07343" providerId="LiveId" clId="{7F55B915-F25B-4D3A-A070-76BF1C6C1BA7}" dt="2026-10-16T07:46:55.641" v="7" actId="21"/>
          <ac:spMkLst>
            <pc:docMk/>
            <pc:sldMk cId="0" sldId="259"/>
            <ac:spMk id="17" creationId="{00000000-0000-0000-0000-000000000000}"/>
          </ac:spMkLst>
        </pc:spChg>
        <pc:picChg chg="mod">
          <ac:chgData name="gurusmaran.r@outlook.com" userId="ef3c157fccf07343" providerId="LiveId" clId="{7F55B915-F25B-4D3A-A070-76BF1C6C1BA7}" dt="2026-10-16T07:46:21.531" v="6" actId="14100"/>
          <ac:picMkLst>
            <pc:docMk/>
            <pc:sldMk cId="0" sldId="259"/>
            <ac:picMk id="16" creationId="{00000000-0000-0000-0000-000000000000}"/>
          </ac:picMkLst>
        </pc:picChg>
      </pc:sldChg>
      <pc:sldChg chg="modSp mod">
        <pc:chgData name="gurusmaran.r@outlook.com" userId="ef3c157fccf07343" providerId="LiveId" clId="{7F55B915-F25B-4D3A-A070-76BF1C6C1BA7}" dt="2026-10-16T07:42:22.174" v="3" actId="14100"/>
        <pc:sldMkLst>
          <pc:docMk/>
          <pc:sldMk cId="0" sldId="260"/>
        </pc:sldMkLst>
        <pc:picChg chg="mod">
          <ac:chgData name="gurusmaran.r@outlook.com" userId="ef3c157fccf07343" providerId="LiveId" clId="{7F55B915-F25B-4D3A-A070-76BF1C6C1BA7}" dt="2026-10-16T07:42:22.174" v="3" actId="14100"/>
          <ac:picMkLst>
            <pc:docMk/>
            <pc:sldMk cId="0" sldId="260"/>
            <ac:picMk id="16" creationId="{00000000-0000-0000-0000-000000000000}"/>
          </ac:picMkLst>
        </pc:pic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solidFill>
                  <a:srgbClr val="0F172A"/>
                </a:solidFill>
                <a:latin typeface="Space Grotesk"/>
              </a:rPr>
              <a:t>AP50 per class (all classes: 0.661 mAP50)</a:t>
            </a:r>
          </a:p>
        </c:rich>
      </c:tx>
      <c:layout/>
      <c:overlay val="0"/>
    </c:title>
    <c:autoTitleDeleted val="0"/>
    <c:plotArea>
      <c:barChart>
        <c:barDir val="bar"/>
        <c:grouping val="clustered"/>
        <c:ser>
          <c:idx val="0"/>
          <c:order val="0"/>
          <c:tx>
            <c:strRef>
              <c:f>Sheet1!$B$1</c:f>
              <c:strCache>
                <c:ptCount val="1"/>
                <c:pt idx="0">
                  <c:v>AP50</c:v>
                </c:pt>
              </c:strCache>
            </c:strRef>
          </c:tx>
          <c:spPr>
            <a:solidFill>
              <a:srgbClr val="059669"/>
            </a:solidFill>
          </c:spPr>
          <c:dPt>
            <c:idx val="0"/>
            <c:spPr>
              <a:solidFill>
                <a:srgbClr val="DC2626"/>
              </a:solidFill>
            </c:spPr>
          </c:dPt>
          <c:cat>
            <c:strRef>
              <c:f>Sheet1!$A$2:$A$8</c:f>
              <c:strCache>
                <c:ptCount val="7"/>
                <c:pt idx="0">
                  <c:v>aerosol</c:v>
                </c:pt>
                <c:pt idx="1">
                  <c:v>paper</c:v>
                </c:pt>
                <c:pt idx="2">
                  <c:v>plastic_bag</c:v>
                </c:pt>
                <c:pt idx="3">
                  <c:v>glass</c:v>
                </c:pt>
                <c:pt idx="4">
                  <c:v>plastic</c:v>
                </c:pt>
                <c:pt idx="5">
                  <c:v>metal</c:v>
                </c:pt>
                <c:pt idx="6">
                  <c:v>cardboard</c:v>
                </c:pt>
              </c:strCache>
            </c:strRef>
          </c:cat>
          <c:val>
            <c:numRef>
              <c:f>Sheet1!$B$2:$B$8</c:f>
              <c:numCache>
                <c:formatCode>General</c:formatCode>
                <c:ptCount val="7"/>
                <c:pt idx="0">
                  <c:v>0.335</c:v>
                </c:pt>
                <c:pt idx="1">
                  <c:v>0.609</c:v>
                </c:pt>
                <c:pt idx="2">
                  <c:v>0.625</c:v>
                </c:pt>
                <c:pt idx="3">
                  <c:v>0.635</c:v>
                </c:pt>
                <c:pt idx="4">
                  <c:v>0.715</c:v>
                </c:pt>
                <c:pt idx="5">
                  <c:v>0.848</c:v>
                </c:pt>
                <c:pt idx="6">
                  <c:v>0.857</c:v>
                </c:pt>
              </c:numCache>
            </c:numRef>
          </c:val>
        </c:ser>
        <c:dLbls>
          <c:numFmt formatCode="0.000" sourceLinked="0"/>
          <c:txPr>
            <a:bodyPr/>
            <a:lstStyle/>
            <a:p>
              <a:pPr>
                <a:defRPr sz="1200">
                  <a:solidFill>
                    <a:srgbClr val="0F172A"/>
                  </a:solidFill>
                  <a:latin typeface="Space Grotesk"/>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inMax"/>
        </c:scaling>
        <c:delete val="0"/>
        <c:axPos val="l"/>
        <c:majorTickMark val="out"/>
        <c:minorTickMark val="none"/>
        <c:tickLblPos val="nextTo"/>
        <c:spPr>
          <a:ln>
            <a:solidFill>
              <a:srgbClr val="CBD5E1"/>
            </a:solidFill>
          </a:ln>
        </c:spPr>
        <c:txPr>
          <a:bodyPr/>
          <a:lstStyle/>
          <a:p>
            <a:pPr>
              <a:defRPr sz="1200">
                <a:solidFill>
                  <a:srgbClr val="0F172A"/>
                </a:solidFill>
                <a:latin typeface="Space Grotesk"/>
              </a:defRPr>
            </a:pPr>
          </a:p>
        </c:txPr>
        <c:crossAx val="-2113994440"/>
        <c:crosses val="autoZero"/>
        <c:auto val="1"/>
        <c:lblAlgn val="ctr"/>
        <c:lblOffset val="100"/>
        <c:noMultiLvlLbl val="0"/>
      </c:catAx>
      <c:valAx>
        <c:axId val="-2113994440"/>
        <c:scaling>
          <c:max val="1.0"/>
          <c:min val="0.0"/>
        </c:scaling>
        <c:delete val="0"/>
        <c:axPos val="b"/>
        <c:majorGridlines>
          <c:spPr>
            <a:ln>
              <a:solidFill>
                <a:srgbClr val="E2E8F0"/>
              </a:solidFill>
            </a:ln>
          </c:spPr>
        </c:majorGridlines>
        <c:majorTickMark val="out"/>
        <c:minorTickMark val="none"/>
        <c:tickLblPos val="nextTo"/>
        <c:spPr>
          <a:ln>
            <a:noFill/>
          </a:ln>
        </c:spPr>
        <c:txPr>
          <a:bodyPr/>
          <a:lstStyle/>
          <a:p>
            <a:pPr>
              <a:defRPr sz="1100">
                <a:solidFill>
                  <a:srgbClr val="475569"/>
                </a:solidFill>
                <a:latin typeface="Space Grotesk"/>
              </a:defRPr>
            </a:pPr>
          </a:p>
        </c:txPr>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300016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Deccan Herald/PTI on Delhi landfill fires (37 incidents in 2019); Outlook India on Ghazipur 2022; Outlook Business (95% battery estimate, no official figures); DT Next (Chennai); WRWA (London); Fogelman 9th Annual Waste and Recycling Facility Fires Report (US/Canada 2025). Delhi landfill fires are landfill fires, not MRF baler fires. Illustrations are not photos of incidents.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CSE via Down To Earth (35% multi-layered, 3.8 million tons); Citizen Matters (Bengaluru, 82%); MoEFCC Rajya Sabha reply (34.69 lakh tons generated, about 15.8 lakh tons recycled, 2019-20); Innovation Norway deck on low prices for carry bags, multi-layer packs and films; Eureka Recycling testimony; ISRI on Chicago. The India figures are national context, not machine-jam data.</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CPCB via Impri India (30-35%); Delhi DPCC SWMC minutes (57% MCD average, 2023); IIT BHU thesis citing CPCB 2022; Outlook Business; Houston city presentation (May 2026); Lets Recycle on Wigan (2015). Low segregation is context for contamination, not a measured MRF purity rate.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Indian figures: Citizen Matters (Bengaluru dry waste centres) and an Innovation Norway deck (waste pickers, older estimate). Robot costs are reported figures excluding software licences and maintenance. Smart MRF cost to be filled in.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Classes shown are illustrations of the 8 classes in the repo README.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Wireframe with placeholder values. The repo dashboard is a Flask backend with a three.js 3D twin (templates/index.html).</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Trained on three merged Roboflow Universe datasets (CC BY 4.0), box annotations only, Colab T4. Final model YOLO11s (94 epochs); the results slides show the initial YOLO11n run (40 epochs).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8FAFC"/>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22961"/>
            <a:ext cx="10566400" cy="419100"/>
          </a:xfrm>
          <a:prstGeom prst="rect">
            <a:avLst/>
          </a:prstGeom>
          <a:noFill/>
          <a:ln/>
        </p:spPr>
        <p:txBody>
          <a:bodyPr wrap="square" lIns="0" tIns="0" rIns="0" bIns="0" rtlCol="0" anchor="t"/>
          <a:lstStyle>
            <a:lvl1pPr marL="0" indent="0" algn="l">
              <a:lnSpc>
                <a:spcPct val="115000"/>
              </a:lnSpc>
              <a:buNone/>
              <a:defRPr lang="en-US" sz="3000" dirty="0">
                <a:solidFill>
                  <a:srgbClr val="0F172A"/>
                </a:solidFill>
                <a:latin typeface="Space Grotesk" pitchFamily="34" charset="0"/>
                <a:ea typeface="Space Grotesk" pitchFamily="34" charset="-122"/>
                <a:cs typeface="Space Grotesk" pitchFamily="34" charset="-120"/>
              </a:defRPr>
            </a:lvl1pPr>
          </a:lstStyle>
          <a:p>
            <a:pPr marL="0" indent="0" algn="l">
              <a:lnSpc>
                <a:spcPct val="115000"/>
              </a:lnSpc>
              <a:buNone/>
            </a:pPr>
            <a:endParaRPr lang="en-US" sz="3000" dirty="0"/>
          </a:p>
        </p:txBody>
      </p:sp>
      <p:sp>
        <p:nvSpPr>
          <p:cNvPr id="3" name="Text Placeholder 2"/>
          <p:cNvSpPr>
            <a:spLocks noGrp="1"/>
          </p:cNvSpPr>
          <p:nvPr>
            <p:ph type="body" idx="101"/>
          </p:nvPr>
        </p:nvSpPr>
        <p:spPr>
          <a:xfrm>
            <a:off x="812800" y="1546861"/>
            <a:ext cx="10566400" cy="4498339"/>
          </a:xfrm>
          <a:prstGeom prst="rect">
            <a:avLst/>
          </a:prstGeom>
          <a:noFill/>
          <a:ln/>
        </p:spPr>
        <p:txBody>
          <a:bodyPr wrap="square" lIns="0" tIns="0" rIns="0" bIns="0" rtlCol="0" anchor="t"/>
          <a:lstStyle>
            <a:lvl1pPr marL="0" indent="0" algn="l">
              <a:lnSpc>
                <a:spcPct val="140000"/>
              </a:lnSpc>
              <a:buNone/>
              <a:defRPr lang="en-US" sz="1600" dirty="0">
                <a:solidFill>
                  <a:srgbClr val="0F172A"/>
                </a:solidFill>
                <a:latin typeface="JetBrains Mono" pitchFamily="34" charset="0"/>
                <a:ea typeface="JetBrains Mono" pitchFamily="34" charset="-122"/>
                <a:cs typeface="JetBrains Mono"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22961"/>
            <a:ext cx="10566400" cy="419100"/>
          </a:xfrm>
          <a:prstGeom prst="rect">
            <a:avLst/>
          </a:prstGeom>
          <a:noFill/>
          <a:ln/>
        </p:spPr>
        <p:txBody>
          <a:bodyPr wrap="square" lIns="0" tIns="0" rIns="0" bIns="0" rtlCol="0" anchor="t"/>
          <a:lstStyle>
            <a:lvl1pPr marL="0" indent="0" algn="l">
              <a:lnSpc>
                <a:spcPct val="115000"/>
              </a:lnSpc>
              <a:buNone/>
              <a:defRPr lang="en-US" sz="3000" dirty="0">
                <a:solidFill>
                  <a:srgbClr val="0F172A"/>
                </a:solidFill>
                <a:latin typeface="Space Grotesk" pitchFamily="34" charset="0"/>
                <a:ea typeface="Space Grotesk" pitchFamily="34" charset="-122"/>
                <a:cs typeface="Space Grotesk" pitchFamily="34" charset="-120"/>
              </a:defRPr>
            </a:lvl1pPr>
          </a:lstStyle>
          <a:p>
            <a:pPr marL="0" indent="0" algn="l">
              <a:lnSpc>
                <a:spcPct val="115000"/>
              </a:lnSpc>
              <a:buNone/>
            </a:pPr>
            <a:endParaRPr lang="en-US" sz="3000" dirty="0"/>
          </a:p>
        </p:txBody>
      </p:sp>
      <p:sp>
        <p:nvSpPr>
          <p:cNvPr id="3" name="Text Placeholder 2"/>
          <p:cNvSpPr>
            <a:spLocks noGrp="1"/>
          </p:cNvSpPr>
          <p:nvPr>
            <p:ph type="body" idx="101"/>
          </p:nvPr>
        </p:nvSpPr>
        <p:spPr>
          <a:xfrm>
            <a:off x="812800" y="1546861"/>
            <a:ext cx="10566400" cy="4498339"/>
          </a:xfrm>
          <a:prstGeom prst="rect">
            <a:avLst/>
          </a:prstGeom>
          <a:noFill/>
          <a:ln/>
        </p:spPr>
        <p:txBody>
          <a:bodyPr wrap="square" lIns="0" tIns="0" rIns="0" bIns="0" rtlCol="0" anchor="t"/>
          <a:lstStyle>
            <a:lvl1pPr marL="0" indent="0" algn="l">
              <a:lnSpc>
                <a:spcPct val="140000"/>
              </a:lnSpc>
              <a:buNone/>
              <a:defRPr lang="en-US" sz="1600" dirty="0">
                <a:solidFill>
                  <a:srgbClr val="0F172A"/>
                </a:solidFill>
                <a:latin typeface="JetBrains Mono" pitchFamily="34" charset="0"/>
                <a:ea typeface="JetBrains Mono" pitchFamily="34" charset="-122"/>
                <a:cs typeface="JetBrains Mono"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hyperlink" Target="https://www.deccanherald.com/amp/story/india%2Fblaze-at-delhis-ghazipur-dumping-yard-rages-2-fire-tenders-involved-in-dousing-flames-1095999.html" TargetMode="External"/><Relationship Id="rId4" Type="http://schemas.openxmlformats.org/officeDocument/2006/relationships/hyperlink" Target="https://outlookindia.com/national/fire-erupts-in-north-delhi-s-bhalswa-landfill-site-brought-under-control-news-200199" TargetMode="External"/><Relationship Id="rId5" Type="http://schemas.openxmlformats.org/officeDocument/2006/relationships/hyperlink" Target="https://www.outlookbusiness.com/magazine/indias-self-reliance-in-battery-manufacturing-needs-a-lithium-recycling-strategy" TargetMode="External"/><Relationship Id="rId6" Type="http://schemas.openxmlformats.org/officeDocument/2006/relationships/image" Target="../media/image1.png"/><Relationship Id="rId7" Type="http://schemas.openxmlformats.org/officeDocument/2006/relationships/hyperlink" Target="https://www.dtnext.in/amp/story/news/chennai/plastic-baling-centre-at-pallikaranai-dump-yard-catches-fire" TargetMode="External"/><Relationship Id="rId8" Type="http://schemas.openxmlformats.org/officeDocument/2006/relationships/hyperlink" Target="https://wrwa.gov.uk/wp-content/uploads/2019/01/WRWA-856-General-Managers-Final.pdf"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hyperlink" Target="https://www.downtoearth.org.in/amp/story/pollution/life-of-plastic-indian-producers-brands-contribute-majorly-to-polymer-pollution-says-cse-here-is-how-86131" TargetMode="External"/><Relationship Id="rId4" Type="http://schemas.openxmlformats.org/officeDocument/2006/relationships/hyperlink" Target="https://citizenmatters.in/dry-waste-collection-centres-need-design-changes-to-make-them-function-better-34853" TargetMode="External"/><Relationship Id="rId5" Type="http://schemas.openxmlformats.org/officeDocument/2006/relationships/image" Target="../media/image2.png"/><Relationship Id="rId6" Type="http://schemas.openxmlformats.org/officeDocument/2006/relationships/hyperlink" Target="https://rsdebate.nic.in/bitstream/123456789/734866/1/PQ_258_22122022_U1800_p234_p238.pdf" TargetMode="External"/><Relationship Id="rId7" Type="http://schemas.openxmlformats.org/officeDocument/2006/relationships/hyperlink" Target="https://www.house.leg.state.mn.us/comm/docs/ByfCBPeF_E2kskf5K3jDgA.pdf"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hyperlink" Target="https://www.impriindia.com/insights/policy-update/solid-waste-management-rules-2026-examining-indias-implementation-readiness/" TargetMode="External"/><Relationship Id="rId4" Type="http://schemas.openxmlformats.org/officeDocument/2006/relationships/hyperlink" Target="https://dpcc.delhi.gov.in/sites/default/files/DPCC/universal/mom-3rd-swmc.pdf" TargetMode="External"/><Relationship Id="rId5" Type="http://schemas.openxmlformats.org/officeDocument/2006/relationships/hyperlink" Target="https://idr-sdlib.iitbhu.ac.in/bitstreams/d4957ff4-68d0-4d15-a91f-4ff64918f0cb/download" TargetMode="External"/><Relationship Id="rId6" Type="http://schemas.openxmlformats.org/officeDocument/2006/relationships/image" Target="../media/image3.png"/><Relationship Id="rId7" Type="http://schemas.openxmlformats.org/officeDocument/2006/relationships/hyperlink" Target="https://www.outlookbusiness.com/circularity/plastic-waste-india-material-recovery-facilities" TargetMode="External"/><Relationship Id="rId8" Type="http://schemas.openxmlformats.org/officeDocument/2006/relationships/hyperlink" Target="https://preflight.houstontx.gov/council/committees/resilience/20260507/Contamination-In-Recycling-Stream.pdf"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hyperlink" Target="https://citizenmatters.in/dry-waste-collection-centres-need-design-changes-to-make-them-function-better-34853" TargetMode="External"/><Relationship Id="rId4" Type="http://schemas.openxmlformats.org/officeDocument/2006/relationships/hyperlink" Target="https://www.sintef.no/contentassets/1291665930ce401fbbbc2535251daa6a/plastic_recycling_in_india.pdf" TargetMode="External"/><Relationship Id="rId5" Type="http://schemas.openxmlformats.org/officeDocument/2006/relationships/hyperlink" Target="https://resource-recycling.com/recycling/?p=12836" TargetMode="External"/><Relationship Id="rId6" Type="http://schemas.openxmlformats.org/officeDocument/2006/relationships/hyperlink" Target="https://resource-recycling.com/recycling/?p=27805"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png"/><Relationship Id="rId8" Type="http://schemas.openxmlformats.org/officeDocument/2006/relationships/image" Target="../media/image10.png"/><Relationship Id="rId9" Type="http://schemas.openxmlformats.org/officeDocument/2006/relationships/image" Target="../media/image11.png"/><Relationship Id="rId10" Type="http://schemas.openxmlformats.org/officeDocument/2006/relationships/image" Target="../media/image12.png"/><Relationship Id="rId11"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image" Target="../media/image1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a:effectLst/>
      </p:bgPr>
    </p:bg>
    <p:spTree>
      <p:nvGrpSpPr>
        <p:cNvPr id="1" name=""/>
        <p:cNvGrpSpPr/>
        <p:nvPr/>
      </p:nvGrpSpPr>
      <p:grpSpPr>
        <a:xfrm>
          <a:off x="0" y="0"/>
          <a:ext cx="0" cy="0"/>
          <a:chOff x="0" y="0"/>
          <a:chExt cx="0" cy="0"/>
        </a:xfrm>
      </p:grpSpPr>
      <p:sp>
        <p:nvSpPr>
          <p:cNvPr id="2" name="Ring 1"/>
          <p:cNvSpPr/>
          <p:nvPr/>
        </p:nvSpPr>
        <p:spPr>
          <a:xfrm>
            <a:off x="7900000" y="-1500000"/>
            <a:ext cx="5200000" cy="5200000"/>
          </a:xfrm>
          <a:prstGeom prst="ellipse">
            <a:avLst/>
          </a:prstGeom>
          <a:noFill/>
          <a:ln w="12700">
            <a:solidFill>
              <a:srgbClr val="34D399">
                <a:alpha val="18000"/>
              </a:srgbClr>
            </a:solidFill>
          </a:ln>
        </p:spPr>
        <p:txBody>
          <a:bodyPr wrap="square" lIns="0" tIns="0" rIns="0" bIns="0" rtlCol="0" anchor="t">
            <a:normAutofit/>
          </a:bodyPr>
          <a:lstStyle/>
          <a:p>
            <a:endParaRPr lang="en-US"/>
          </a:p>
        </p:txBody>
      </p:sp>
      <p:sp>
        <p:nvSpPr>
          <p:cNvPr id="3" name="Ring 2"/>
          <p:cNvSpPr/>
          <p:nvPr/>
        </p:nvSpPr>
        <p:spPr>
          <a:xfrm>
            <a:off x="8900000" y="-500000"/>
            <a:ext cx="3200000" cy="3200000"/>
          </a:xfrm>
          <a:prstGeom prst="ellipse">
            <a:avLst/>
          </a:prstGeom>
          <a:noFill/>
          <a:ln w="12700">
            <a:solidFill>
              <a:srgbClr val="34D399">
                <a:alpha val="30000"/>
              </a:srgbClr>
            </a:solidFill>
          </a:ln>
        </p:spPr>
        <p:txBody>
          <a:bodyPr wrap="square" lIns="0" tIns="0" rIns="0" bIns="0" rtlCol="0" anchor="t">
            <a:normAutofit/>
          </a:bodyPr>
          <a:lstStyle/>
          <a:p>
            <a:endParaRPr lang="en-US"/>
          </a:p>
        </p:txBody>
      </p:sp>
      <p:sp>
        <p:nvSpPr>
          <p:cNvPr id="4" name="Tag"/>
          <p:cNvSpPr/>
          <p:nvPr/>
        </p:nvSpPr>
        <p:spPr>
          <a:xfrm>
            <a:off x="812800" y="480000"/>
            <a:ext cx="10883392" cy="250000"/>
          </a:xfrm>
          <a:prstGeom prst="rect">
            <a:avLst/>
          </a:prstGeom>
          <a:noFill/>
          <a:ln>
            <a:noFill/>
          </a:ln>
        </p:spPr>
        <p:txBody>
          <a:bodyPr wrap="square" lIns="0" tIns="0" rIns="0" bIns="0" rtlCol="0" anchor="t">
            <a:normAutofit/>
          </a:bodyPr>
          <a:lstStyle/>
          <a:p>
            <a:pPr marL="0" indent="0" algn="l">
              <a:lnSpc>
                <a:spcPts val="1820"/>
              </a:lnSpc>
              <a:buNone/>
            </a:pPr>
            <a:r>
              <a:rPr lang="en-US" sz="1300" b="1" dirty="0">
                <a:solidFill>
                  <a:srgbClr val="34D399"/>
                </a:solidFill>
                <a:latin typeface="JetBrains Mono" pitchFamily="34" charset="0"/>
                <a:ea typeface="JetBrains Mono" pitchFamily="34" charset="-122"/>
                <a:cs typeface="JetBrains Mono" pitchFamily="34" charset="-120"/>
              </a:rPr>
              <a:t>INDUSTRIAL AI &amp; DIGITAL TWIN  ·  PROBLEM STATEMENT 06  ·  SMART RECYCLING ASSISTANT</a:t>
            </a:r>
            <a:endParaRPr lang="en-US" sz="1200" dirty="0"/>
          </a:p>
        </p:txBody>
      </p:sp>
      <p:sp>
        <p:nvSpPr>
          <p:cNvPr id="5" name="Title"/>
          <p:cNvSpPr>
            <a:spLocks noGrp="1"/>
          </p:cNvSpPr>
          <p:nvPr>
            <p:ph type="title"/>
          </p:nvPr>
        </p:nvSpPr>
        <p:spPr>
          <a:xfrm>
            <a:off x="812800" y="830000"/>
            <a:ext cx="10883392" cy="1150000"/>
          </a:xfrm>
          <a:prstGeom prst="rect">
            <a:avLst/>
          </a:prstGeom>
          <a:noFill/>
          <a:ln>
            <a:noFill/>
          </a:ln>
        </p:spPr>
        <p:txBody>
          <a:bodyPr wrap="square" lIns="0" tIns="0" rIns="0" bIns="0" rtlCol="0" anchor="t">
            <a:normAutofit/>
          </a:bodyPr>
          <a:lstStyle/>
          <a:p>
            <a:pPr marL="0" indent="0" algn="l">
              <a:lnSpc>
                <a:spcPts val="9200"/>
              </a:lnSpc>
              <a:buNone/>
            </a:pPr>
            <a:r>
              <a:rPr lang="en-US" sz="8800" b="1" dirty="0">
                <a:solidFill>
                  <a:srgbClr val="F8FAFC"/>
                </a:solidFill>
                <a:latin typeface="Space Grotesk" pitchFamily="34" charset="0"/>
                <a:ea typeface="Space Grotesk" pitchFamily="34" charset="-122"/>
                <a:cs typeface="Space Grotesk" pitchFamily="34" charset="-120"/>
              </a:rPr>
              <a:t>Smart MRF</a:t>
            </a:r>
            <a:endParaRPr lang="en-US" sz="1200" dirty="0"/>
          </a:p>
        </p:txBody>
      </p:sp>
      <p:sp>
        <p:nvSpPr>
          <p:cNvPr id="6" name="Subtitle"/>
          <p:cNvSpPr/>
          <p:nvPr/>
        </p:nvSpPr>
        <p:spPr>
          <a:xfrm>
            <a:off x="812800" y="2020000"/>
            <a:ext cx="8200000" cy="760000"/>
          </a:xfrm>
          <a:prstGeom prst="rect">
            <a:avLst/>
          </a:prstGeom>
          <a:noFill/>
          <a:ln>
            <a:noFill/>
          </a:ln>
        </p:spPr>
        <p:txBody>
          <a:bodyPr wrap="square" lIns="0" tIns="0" rIns="0" bIns="0" rtlCol="0" anchor="t">
            <a:normAutofit/>
          </a:bodyPr>
          <a:lstStyle/>
          <a:p>
            <a:pPr marL="0" indent="0" algn="l">
              <a:lnSpc>
                <a:spcPts val="2750"/>
              </a:lnSpc>
              <a:buNone/>
            </a:pPr>
            <a:r>
              <a:rPr lang="en-US" sz="2200" b="0" dirty="0">
                <a:solidFill>
                  <a:srgbClr val="CBD5E1"/>
                </a:solidFill>
                <a:latin typeface="Space Grotesk" pitchFamily="34" charset="0"/>
                <a:ea typeface="Space Grotesk" pitchFamily="34" charset="-122"/>
                <a:cs typeface="Space Grotesk" pitchFamily="34" charset="-120"/>
              </a:rPr>
              <a:t>The affordable intelligence layer for modern Material Recovery Facilities.</a:t>
            </a:r>
            <a:endParaRPr lang="en-US" sz="1200" dirty="0"/>
          </a:p>
        </p:txBody>
      </p:sp>
      <p:sp>
        <p:nvSpPr>
          <p:cNvPr id="7" name="Chip 1"/>
          <p:cNvSpPr/>
          <p:nvPr/>
        </p:nvSpPr>
        <p:spPr>
          <a:xfrm>
            <a:off x="812800" y="2950000"/>
            <a:ext cx="2650000" cy="430000"/>
          </a:xfrm>
          <a:prstGeom prst="roundRect">
            <a:avLst>
              <a:gd name="adj" fmla="val 50000"/>
            </a:avLst>
          </a:prstGeom>
          <a:solidFill>
            <a:srgbClr val="0F172A"/>
          </a:solidFill>
          <a:ln w="15875">
            <a:solidFill>
              <a:srgbClr val="34D399"/>
            </a:solidFill>
          </a:ln>
        </p:spPr>
        <p:txBody>
          <a:bodyPr wrap="square" lIns="0" tIns="0" rIns="0" bIns="0" rtlCol="0" anchor="ctr">
            <a:normAutofit/>
          </a:bodyPr>
          <a:lstStyle/>
          <a:p>
            <a:pPr marL="0" indent="0" algn="ctr">
              <a:buNone/>
            </a:pPr>
            <a:r>
              <a:rPr lang="en-US" sz="1300" b="1" dirty="0">
                <a:solidFill>
                  <a:srgbClr val="34D399"/>
                </a:solidFill>
                <a:latin typeface="JetBrains Mono" pitchFamily="34" charset="0"/>
                <a:ea typeface="JetBrains Mono" pitchFamily="34" charset="-122"/>
                <a:cs typeface="JetBrains Mono" pitchFamily="34" charset="-120"/>
              </a:rPr>
              <a:t>Camera Feed (Eye)</a:t>
            </a:r>
            <a:endParaRPr lang="en-US" sz="1200" dirty="0"/>
          </a:p>
        </p:txBody>
      </p:sp>
      <p:sp>
        <p:nvSpPr>
          <p:cNvPr id="8" name="Arrow 1"/>
          <p:cNvSpPr/>
          <p:nvPr/>
        </p:nvSpPr>
        <p:spPr>
          <a:xfrm>
            <a:off x="3462800" y="2950000"/>
            <a:ext cx="330000" cy="430000"/>
          </a:xfrm>
          <a:prstGeom prst="rect">
            <a:avLst/>
          </a:prstGeom>
          <a:noFill/>
          <a:ln>
            <a:noFill/>
          </a:ln>
        </p:spPr>
        <p:txBody>
          <a:bodyPr wrap="square" lIns="0" tIns="0" rIns="0" bIns="0" rtlCol="0" anchor="ctr">
            <a:normAutofit/>
          </a:bodyPr>
          <a:lstStyle/>
          <a:p>
            <a:pPr marL="0" indent="0" algn="ctr">
              <a:buNone/>
            </a:pPr>
            <a:r>
              <a:rPr lang="en-US" sz="2000" b="1" dirty="0">
                <a:solidFill>
                  <a:srgbClr val="34D399"/>
                </a:solidFill>
                <a:latin typeface="JetBrains Mono" pitchFamily="34" charset="0"/>
                <a:ea typeface="JetBrains Mono" pitchFamily="34" charset="-122"/>
                <a:cs typeface="JetBrains Mono" pitchFamily="34" charset="-120"/>
              </a:rPr>
              <a:t>→</a:t>
            </a:r>
            <a:endParaRPr lang="en-US" sz="1200" dirty="0"/>
          </a:p>
        </p:txBody>
      </p:sp>
      <p:sp>
        <p:nvSpPr>
          <p:cNvPr id="9" name="Chip 2"/>
          <p:cNvSpPr/>
          <p:nvPr/>
        </p:nvSpPr>
        <p:spPr>
          <a:xfrm>
            <a:off x="3792800" y="2950000"/>
            <a:ext cx="2650000" cy="430000"/>
          </a:xfrm>
          <a:prstGeom prst="roundRect">
            <a:avLst>
              <a:gd name="adj" fmla="val 50000"/>
            </a:avLst>
          </a:prstGeom>
          <a:solidFill>
            <a:srgbClr val="0F172A"/>
          </a:solidFill>
          <a:ln w="15875">
            <a:solidFill>
              <a:srgbClr val="34D399"/>
            </a:solidFill>
          </a:ln>
        </p:spPr>
        <p:txBody>
          <a:bodyPr wrap="square" lIns="0" tIns="0" rIns="0" bIns="0" rtlCol="0" anchor="ctr">
            <a:normAutofit/>
          </a:bodyPr>
          <a:lstStyle/>
          <a:p>
            <a:pPr marL="0" indent="0" algn="ctr">
              <a:buNone/>
            </a:pPr>
            <a:r>
              <a:rPr lang="en-US" sz="1300" b="1" dirty="0">
                <a:solidFill>
                  <a:srgbClr val="34D399"/>
                </a:solidFill>
                <a:latin typeface="JetBrains Mono" pitchFamily="34" charset="0"/>
                <a:ea typeface="JetBrains Mono" pitchFamily="34" charset="-122"/>
                <a:cs typeface="JetBrains Mono" pitchFamily="34" charset="-120"/>
              </a:rPr>
              <a:t>LLM Controller (Brain)</a:t>
            </a:r>
            <a:endParaRPr lang="en-US" sz="1200" dirty="0"/>
          </a:p>
        </p:txBody>
      </p:sp>
      <p:sp>
        <p:nvSpPr>
          <p:cNvPr id="10" name="Arrow 2"/>
          <p:cNvSpPr/>
          <p:nvPr/>
        </p:nvSpPr>
        <p:spPr>
          <a:xfrm>
            <a:off x="6442800" y="2950000"/>
            <a:ext cx="330000" cy="430000"/>
          </a:xfrm>
          <a:prstGeom prst="rect">
            <a:avLst/>
          </a:prstGeom>
          <a:noFill/>
          <a:ln>
            <a:noFill/>
          </a:ln>
        </p:spPr>
        <p:txBody>
          <a:bodyPr wrap="square" lIns="0" tIns="0" rIns="0" bIns="0" rtlCol="0" anchor="ctr">
            <a:normAutofit/>
          </a:bodyPr>
          <a:lstStyle/>
          <a:p>
            <a:pPr marL="0" indent="0" algn="ctr">
              <a:buNone/>
            </a:pPr>
            <a:r>
              <a:rPr lang="en-US" sz="2000" b="1" dirty="0">
                <a:solidFill>
                  <a:srgbClr val="34D399"/>
                </a:solidFill>
                <a:latin typeface="JetBrains Mono" pitchFamily="34" charset="0"/>
                <a:ea typeface="JetBrains Mono" pitchFamily="34" charset="-122"/>
                <a:cs typeface="JetBrains Mono" pitchFamily="34" charset="-120"/>
              </a:rPr>
              <a:t>→</a:t>
            </a:r>
            <a:endParaRPr lang="en-US" sz="1200" dirty="0"/>
          </a:p>
        </p:txBody>
      </p:sp>
      <p:sp>
        <p:nvSpPr>
          <p:cNvPr id="11" name="Chip 3"/>
          <p:cNvSpPr/>
          <p:nvPr/>
        </p:nvSpPr>
        <p:spPr>
          <a:xfrm>
            <a:off x="6772800" y="2950000"/>
            <a:ext cx="2650000" cy="430000"/>
          </a:xfrm>
          <a:prstGeom prst="roundRect">
            <a:avLst>
              <a:gd name="adj" fmla="val 50000"/>
            </a:avLst>
          </a:prstGeom>
          <a:solidFill>
            <a:srgbClr val="0F172A"/>
          </a:solidFill>
          <a:ln w="15875">
            <a:solidFill>
              <a:srgbClr val="34D399"/>
            </a:solidFill>
          </a:ln>
        </p:spPr>
        <p:txBody>
          <a:bodyPr wrap="square" lIns="0" tIns="0" rIns="0" bIns="0" rtlCol="0" anchor="ctr">
            <a:normAutofit/>
          </a:bodyPr>
          <a:lstStyle/>
          <a:p>
            <a:pPr marL="0" indent="0" algn="ctr">
              <a:buNone/>
            </a:pPr>
            <a:r>
              <a:rPr lang="en-US" sz="1300" b="1" dirty="0">
                <a:solidFill>
                  <a:srgbClr val="34D399"/>
                </a:solidFill>
                <a:latin typeface="JetBrains Mono" pitchFamily="34" charset="0"/>
                <a:ea typeface="JetBrains Mono" pitchFamily="34" charset="-122"/>
                <a:cs typeface="JetBrains Mono" pitchFamily="34" charset="-120"/>
              </a:rPr>
              <a:t>Digital Twin (Actuator)</a:t>
            </a:r>
            <a:endParaRPr lang="en-US" sz="1200" dirty="0"/>
          </a:p>
        </p:txBody>
      </p:sp>
      <p:sp>
        <p:nvSpPr>
          <p:cNvPr id="12" name="Team label"/>
          <p:cNvSpPr/>
          <p:nvPr/>
        </p:nvSpPr>
        <p:spPr>
          <a:xfrm>
            <a:off x="812800" y="3880000"/>
            <a:ext cx="10883392" cy="250000"/>
          </a:xfrm>
          <a:prstGeom prst="rect">
            <a:avLst/>
          </a:prstGeom>
          <a:noFill/>
          <a:ln>
            <a:noFill/>
          </a:ln>
        </p:spPr>
        <p:txBody>
          <a:bodyPr wrap="square" lIns="0" tIns="0" rIns="0" bIns="0" rtlCol="0" anchor="t">
            <a:normAutofit/>
          </a:bodyPr>
          <a:lstStyle/>
          <a:p>
            <a:pPr marL="0" indent="0" algn="l">
              <a:lnSpc>
                <a:spcPts val="1820"/>
              </a:lnSpc>
              <a:buNone/>
            </a:pPr>
            <a:r>
              <a:rPr lang="en-US" sz="1300" b="1" dirty="0">
                <a:solidFill>
                  <a:srgbClr val="34D399"/>
                </a:solidFill>
                <a:latin typeface="JetBrains Mono" pitchFamily="34" charset="0"/>
                <a:ea typeface="JetBrains Mono" pitchFamily="34" charset="-122"/>
                <a:cs typeface="JetBrains Mono" pitchFamily="34" charset="-120"/>
              </a:rPr>
              <a:t>THE TEAM</a:t>
            </a:r>
            <a:endParaRPr lang="en-US" sz="1200" dirty="0"/>
          </a:p>
        </p:txBody>
      </p:sp>
      <p:sp>
        <p:nvSpPr>
          <p:cNvPr id="13" name="Card 1"/>
          <p:cNvSpPr/>
          <p:nvPr/>
        </p:nvSpPr>
        <p:spPr>
          <a:xfrm>
            <a:off x="812800" y="4230000"/>
            <a:ext cx="2570848" cy="1300000"/>
          </a:xfrm>
          <a:prstGeom prst="roundRect">
            <a:avLst>
              <a:gd name="adj" fmla="val 8000"/>
            </a:avLst>
          </a:prstGeom>
          <a:solidFill>
            <a:srgbClr val="1E293B"/>
          </a:solidFill>
          <a:ln w="12700">
            <a:solidFill>
              <a:srgbClr val="334155"/>
            </a:solidFill>
          </a:ln>
        </p:spPr>
        <p:txBody>
          <a:bodyPr wrap="square" lIns="0" tIns="0" rIns="0" bIns="0" rtlCol="0" anchor="t">
            <a:normAutofit/>
          </a:bodyPr>
          <a:lstStyle/>
          <a:p>
            <a:endParaRPr lang="en-US"/>
          </a:p>
        </p:txBody>
      </p:sp>
      <p:sp>
        <p:nvSpPr>
          <p:cNvPr id="14" name="Avatar 1"/>
          <p:cNvSpPr/>
          <p:nvPr/>
        </p:nvSpPr>
        <p:spPr>
          <a:xfrm>
            <a:off x="972800" y="4400000"/>
            <a:ext cx="540000" cy="540000"/>
          </a:xfrm>
          <a:prstGeom prst="ellipse">
            <a:avLst/>
          </a:prstGeom>
          <a:solidFill>
            <a:srgbClr val="34D399"/>
          </a:solidFill>
          <a:ln>
            <a:noFill/>
          </a:ln>
        </p:spPr>
        <p:txBody>
          <a:bodyPr wrap="square" lIns="0" tIns="0" rIns="0" bIns="0" rtlCol="0" anchor="ctr">
            <a:normAutofit/>
          </a:bodyPr>
          <a:lstStyle/>
          <a:p>
            <a:pPr marL="0" indent="0" algn="ctr">
              <a:buNone/>
            </a:pPr>
            <a:r>
              <a:rPr lang="en-US" sz="1500" b="1" dirty="0">
                <a:solidFill>
                  <a:srgbClr val="0F172A"/>
                </a:solidFill>
                <a:latin typeface="Space Grotesk" pitchFamily="34" charset="0"/>
                <a:ea typeface="Space Grotesk" pitchFamily="34" charset="-122"/>
                <a:cs typeface="Space Grotesk" pitchFamily="34" charset="-120"/>
              </a:rPr>
              <a:t>CS</a:t>
            </a:r>
            <a:endParaRPr lang="en-US" sz="1200" dirty="0"/>
          </a:p>
        </p:txBody>
      </p:sp>
      <p:sp>
        <p:nvSpPr>
          <p:cNvPr id="15" name="Affil 1"/>
          <p:cNvSpPr/>
          <p:nvPr/>
        </p:nvSpPr>
        <p:spPr>
          <a:xfrm>
            <a:off x="1612800" y="4400000"/>
            <a:ext cx="1670848" cy="540000"/>
          </a:xfrm>
          <a:prstGeom prst="rect">
            <a:avLst/>
          </a:prstGeom>
          <a:noFill/>
          <a:ln>
            <a:noFill/>
          </a:ln>
        </p:spPr>
        <p:txBody>
          <a:bodyPr wrap="square" lIns="0" tIns="0" rIns="0" bIns="0" rtlCol="0" anchor="ctr">
            <a:normAutofit/>
          </a:bodyPr>
          <a:lstStyle/>
          <a:p>
            <a:pPr marL="0" indent="0" algn="l">
              <a:lnSpc>
                <a:spcPts val="1700"/>
              </a:lnSpc>
              <a:buNone/>
            </a:pPr>
            <a:r>
              <a:rPr lang="en-US" sz="1300" b="1" dirty="0">
                <a:solidFill>
                  <a:srgbClr val="34D399"/>
                </a:solidFill>
                <a:latin typeface="JetBrains Mono" pitchFamily="34" charset="0"/>
                <a:ea typeface="JetBrains Mono" pitchFamily="34" charset="-122"/>
                <a:cs typeface="JetBrains Mono" pitchFamily="34" charset="-120"/>
              </a:rPr>
              <a:t>DSATM</a:t>
            </a:r>
            <a:endParaRPr lang="en-US" sz="1200" dirty="0"/>
          </a:p>
          <a:p>
            <a:pPr marL="0" indent="0" algn="l">
              <a:lnSpc>
                <a:spcPts val="1500"/>
              </a:lnSpc>
              <a:buNone/>
            </a:pPr>
            <a:r>
              <a:rPr lang="en-US" sz="1100" b="0" dirty="0">
                <a:solidFill>
                  <a:srgbClr val="94A3B8"/>
                </a:solidFill>
                <a:latin typeface="JetBrains Mono" pitchFamily="34" charset="0"/>
                <a:ea typeface="JetBrains Mono" pitchFamily="34" charset="-122"/>
                <a:cs typeface="JetBrains Mono" pitchFamily="34" charset="-120"/>
              </a:rPr>
              <a:t>Project lead</a:t>
            </a:r>
            <a:endParaRPr lang="en-US" sz="1200" dirty="0"/>
          </a:p>
        </p:txBody>
      </p:sp>
      <p:sp>
        <p:nvSpPr>
          <p:cNvPr id="16" name="Name 1"/>
          <p:cNvSpPr/>
          <p:nvPr/>
        </p:nvSpPr>
        <p:spPr>
          <a:xfrm>
            <a:off x="972800" y="5050000"/>
            <a:ext cx="2310848" cy="330000"/>
          </a:xfrm>
          <a:prstGeom prst="rect">
            <a:avLst/>
          </a:prstGeom>
          <a:noFill/>
          <a:ln>
            <a:noFill/>
          </a:ln>
        </p:spPr>
        <p:txBody>
          <a:bodyPr wrap="square" lIns="0" tIns="0" rIns="0" bIns="0" rtlCol="0" anchor="t">
            <a:noAutofit/>
          </a:bodyPr>
          <a:lstStyle/>
          <a:p>
            <a:pPr marL="0" indent="0" algn="l">
              <a:lnSpc>
                <a:spcPts val="2000"/>
              </a:lnSpc>
              <a:buNone/>
            </a:pPr>
            <a:r>
              <a:rPr lang="en-US" sz="1400" b="1" dirty="0">
                <a:solidFill>
                  <a:srgbClr val="F8FAFC"/>
                </a:solidFill>
                <a:latin typeface="Space Grotesk" pitchFamily="34" charset="0"/>
                <a:ea typeface="Space Grotesk" pitchFamily="34" charset="-122"/>
                <a:cs typeface="Space Grotesk" pitchFamily="34" charset="-120"/>
              </a:rPr>
              <a:t>Chirag S Reddy</a:t>
            </a:r>
            <a:endParaRPr lang="en-US" sz="1200" dirty="0"/>
          </a:p>
        </p:txBody>
      </p:sp>
      <p:sp>
        <p:nvSpPr>
          <p:cNvPr id="17" name="Card 2"/>
          <p:cNvSpPr/>
          <p:nvPr/>
        </p:nvSpPr>
        <p:spPr>
          <a:xfrm>
            <a:off x="3583648" y="4230000"/>
            <a:ext cx="2570848" cy="1300000"/>
          </a:xfrm>
          <a:prstGeom prst="roundRect">
            <a:avLst>
              <a:gd name="adj" fmla="val 8000"/>
            </a:avLst>
          </a:prstGeom>
          <a:solidFill>
            <a:srgbClr val="1E293B"/>
          </a:solidFill>
          <a:ln w="12700">
            <a:solidFill>
              <a:srgbClr val="334155"/>
            </a:solidFill>
          </a:ln>
        </p:spPr>
        <p:txBody>
          <a:bodyPr wrap="square" lIns="0" tIns="0" rIns="0" bIns="0" rtlCol="0" anchor="t">
            <a:normAutofit/>
          </a:bodyPr>
          <a:lstStyle/>
          <a:p>
            <a:endParaRPr lang="en-US"/>
          </a:p>
        </p:txBody>
      </p:sp>
      <p:sp>
        <p:nvSpPr>
          <p:cNvPr id="18" name="Avatar 2"/>
          <p:cNvSpPr/>
          <p:nvPr/>
        </p:nvSpPr>
        <p:spPr>
          <a:xfrm>
            <a:off x="3743648" y="4400000"/>
            <a:ext cx="540000" cy="540000"/>
          </a:xfrm>
          <a:prstGeom prst="ellipse">
            <a:avLst/>
          </a:prstGeom>
          <a:solidFill>
            <a:srgbClr val="34D399"/>
          </a:solidFill>
          <a:ln>
            <a:noFill/>
          </a:ln>
        </p:spPr>
        <p:txBody>
          <a:bodyPr wrap="square" lIns="0" tIns="0" rIns="0" bIns="0" rtlCol="0" anchor="ctr">
            <a:normAutofit/>
          </a:bodyPr>
          <a:lstStyle/>
          <a:p>
            <a:pPr marL="0" indent="0" algn="ctr">
              <a:buNone/>
            </a:pPr>
            <a:r>
              <a:rPr lang="en-US" sz="1500" b="1" dirty="0">
                <a:solidFill>
                  <a:srgbClr val="0F172A"/>
                </a:solidFill>
                <a:latin typeface="Space Grotesk" pitchFamily="34" charset="0"/>
                <a:ea typeface="Space Grotesk" pitchFamily="34" charset="-122"/>
                <a:cs typeface="Space Grotesk" pitchFamily="34" charset="-120"/>
              </a:rPr>
              <a:t>NM</a:t>
            </a:r>
            <a:endParaRPr lang="en-US" sz="1200" dirty="0"/>
          </a:p>
        </p:txBody>
      </p:sp>
      <p:sp>
        <p:nvSpPr>
          <p:cNvPr id="19" name="Affil 2"/>
          <p:cNvSpPr/>
          <p:nvPr/>
        </p:nvSpPr>
        <p:spPr>
          <a:xfrm>
            <a:off x="4383648" y="4400000"/>
            <a:ext cx="1670848" cy="540000"/>
          </a:xfrm>
          <a:prstGeom prst="rect">
            <a:avLst/>
          </a:prstGeom>
          <a:noFill/>
          <a:ln>
            <a:noFill/>
          </a:ln>
        </p:spPr>
        <p:txBody>
          <a:bodyPr wrap="square" lIns="0" tIns="0" rIns="0" bIns="0" rtlCol="0" anchor="ctr">
            <a:normAutofit/>
          </a:bodyPr>
          <a:lstStyle/>
          <a:p>
            <a:pPr marL="0" indent="0" algn="l">
              <a:lnSpc>
                <a:spcPts val="1700"/>
              </a:lnSpc>
              <a:buNone/>
            </a:pPr>
            <a:r>
              <a:rPr lang="en-US" sz="1300" b="1" dirty="0">
                <a:solidFill>
                  <a:srgbClr val="34D399"/>
                </a:solidFill>
                <a:latin typeface="JetBrains Mono" pitchFamily="34" charset="0"/>
                <a:ea typeface="JetBrains Mono" pitchFamily="34" charset="-122"/>
                <a:cs typeface="JetBrains Mono" pitchFamily="34" charset="-120"/>
              </a:rPr>
              <a:t>BIT</a:t>
            </a:r>
            <a:endParaRPr lang="en-US" sz="1200" dirty="0"/>
          </a:p>
        </p:txBody>
      </p:sp>
      <p:sp>
        <p:nvSpPr>
          <p:cNvPr id="20" name="Name 2"/>
          <p:cNvSpPr/>
          <p:nvPr/>
        </p:nvSpPr>
        <p:spPr>
          <a:xfrm>
            <a:off x="3743648" y="5050000"/>
            <a:ext cx="2310848" cy="330000"/>
          </a:xfrm>
          <a:prstGeom prst="rect">
            <a:avLst/>
          </a:prstGeom>
          <a:noFill/>
          <a:ln>
            <a:noFill/>
          </a:ln>
        </p:spPr>
        <p:txBody>
          <a:bodyPr wrap="square" lIns="0" tIns="0" rIns="0" bIns="0" rtlCol="0" anchor="t">
            <a:noAutofit/>
          </a:bodyPr>
          <a:lstStyle/>
          <a:p>
            <a:pPr marL="0" indent="0" algn="l">
              <a:lnSpc>
                <a:spcPts val="2000"/>
              </a:lnSpc>
              <a:buNone/>
            </a:pPr>
            <a:r>
              <a:rPr lang="en-US" sz="1400" b="1" dirty="0">
                <a:solidFill>
                  <a:srgbClr val="F8FAFC"/>
                </a:solidFill>
                <a:latin typeface="Space Grotesk" pitchFamily="34" charset="0"/>
                <a:ea typeface="Space Grotesk" pitchFamily="34" charset="-122"/>
                <a:cs typeface="Space Grotesk" pitchFamily="34" charset="-120"/>
              </a:rPr>
              <a:t>Nikshay MS</a:t>
            </a:r>
            <a:endParaRPr lang="en-US" sz="1200" dirty="0"/>
          </a:p>
        </p:txBody>
      </p:sp>
      <p:sp>
        <p:nvSpPr>
          <p:cNvPr id="21" name="Card 3"/>
          <p:cNvSpPr/>
          <p:nvPr/>
        </p:nvSpPr>
        <p:spPr>
          <a:xfrm>
            <a:off x="6354496" y="4230000"/>
            <a:ext cx="2570848" cy="1300000"/>
          </a:xfrm>
          <a:prstGeom prst="roundRect">
            <a:avLst>
              <a:gd name="adj" fmla="val 8000"/>
            </a:avLst>
          </a:prstGeom>
          <a:solidFill>
            <a:srgbClr val="1E293B"/>
          </a:solidFill>
          <a:ln w="12700">
            <a:solidFill>
              <a:srgbClr val="334155"/>
            </a:solidFill>
          </a:ln>
        </p:spPr>
        <p:txBody>
          <a:bodyPr wrap="square" lIns="0" tIns="0" rIns="0" bIns="0" rtlCol="0" anchor="t">
            <a:normAutofit/>
          </a:bodyPr>
          <a:lstStyle/>
          <a:p>
            <a:endParaRPr lang="en-US"/>
          </a:p>
        </p:txBody>
      </p:sp>
      <p:sp>
        <p:nvSpPr>
          <p:cNvPr id="22" name="Avatar 3"/>
          <p:cNvSpPr/>
          <p:nvPr/>
        </p:nvSpPr>
        <p:spPr>
          <a:xfrm>
            <a:off x="6514496" y="4400000"/>
            <a:ext cx="540000" cy="540000"/>
          </a:xfrm>
          <a:prstGeom prst="ellipse">
            <a:avLst/>
          </a:prstGeom>
          <a:solidFill>
            <a:srgbClr val="34D399"/>
          </a:solidFill>
          <a:ln>
            <a:noFill/>
          </a:ln>
        </p:spPr>
        <p:txBody>
          <a:bodyPr wrap="square" lIns="0" tIns="0" rIns="0" bIns="0" rtlCol="0" anchor="ctr">
            <a:normAutofit/>
          </a:bodyPr>
          <a:lstStyle/>
          <a:p>
            <a:pPr marL="0" indent="0" algn="ctr">
              <a:buNone/>
            </a:pPr>
            <a:r>
              <a:rPr lang="en-US" sz="1500" b="1" dirty="0">
                <a:solidFill>
                  <a:srgbClr val="0F172A"/>
                </a:solidFill>
                <a:latin typeface="Space Grotesk" pitchFamily="34" charset="0"/>
                <a:ea typeface="Space Grotesk" pitchFamily="34" charset="-122"/>
                <a:cs typeface="Space Grotesk" pitchFamily="34" charset="-120"/>
              </a:rPr>
              <a:t>CB</a:t>
            </a:r>
            <a:endParaRPr lang="en-US" sz="1200" dirty="0"/>
          </a:p>
        </p:txBody>
      </p:sp>
      <p:sp>
        <p:nvSpPr>
          <p:cNvPr id="23" name="Affil 3"/>
          <p:cNvSpPr/>
          <p:nvPr/>
        </p:nvSpPr>
        <p:spPr>
          <a:xfrm>
            <a:off x="7154496" y="4400000"/>
            <a:ext cx="1670848" cy="540000"/>
          </a:xfrm>
          <a:prstGeom prst="rect">
            <a:avLst/>
          </a:prstGeom>
          <a:noFill/>
          <a:ln>
            <a:noFill/>
          </a:ln>
        </p:spPr>
        <p:txBody>
          <a:bodyPr wrap="square" lIns="0" tIns="0" rIns="0" bIns="0" rtlCol="0" anchor="ctr">
            <a:normAutofit/>
          </a:bodyPr>
          <a:lstStyle/>
          <a:p>
            <a:pPr marL="0" indent="0" algn="l">
              <a:lnSpc>
                <a:spcPts val="1700"/>
              </a:lnSpc>
              <a:buNone/>
            </a:pPr>
            <a:r>
              <a:rPr lang="en-US" sz="1300" b="1" dirty="0">
                <a:solidFill>
                  <a:srgbClr val="34D399"/>
                </a:solidFill>
                <a:latin typeface="JetBrains Mono" pitchFamily="34" charset="0"/>
                <a:ea typeface="JetBrains Mono" pitchFamily="34" charset="-122"/>
                <a:cs typeface="JetBrains Mono" pitchFamily="34" charset="-120"/>
              </a:rPr>
              <a:t>BMS</a:t>
            </a:r>
            <a:endParaRPr lang="en-US" sz="1200" dirty="0"/>
          </a:p>
        </p:txBody>
      </p:sp>
      <p:sp>
        <p:nvSpPr>
          <p:cNvPr id="24" name="Name 3"/>
          <p:cNvSpPr/>
          <p:nvPr/>
        </p:nvSpPr>
        <p:spPr>
          <a:xfrm>
            <a:off x="6514496" y="5050000"/>
            <a:ext cx="2310848" cy="330000"/>
          </a:xfrm>
          <a:prstGeom prst="rect">
            <a:avLst/>
          </a:prstGeom>
          <a:noFill/>
          <a:ln>
            <a:noFill/>
          </a:ln>
        </p:spPr>
        <p:txBody>
          <a:bodyPr wrap="square" lIns="0" tIns="0" rIns="0" bIns="0" rtlCol="0" anchor="t">
            <a:noAutofit/>
          </a:bodyPr>
          <a:lstStyle/>
          <a:p>
            <a:pPr marL="0" indent="0" algn="l">
              <a:lnSpc>
                <a:spcPts val="2000"/>
              </a:lnSpc>
              <a:buNone/>
            </a:pPr>
            <a:r>
              <a:rPr lang="en-US" sz="1400" b="1" dirty="0">
                <a:solidFill>
                  <a:srgbClr val="F8FAFC"/>
                </a:solidFill>
                <a:latin typeface="Space Grotesk" pitchFamily="34" charset="0"/>
                <a:ea typeface="Space Grotesk" pitchFamily="34" charset="-122"/>
                <a:cs typeface="Space Grotesk" pitchFamily="34" charset="-120"/>
              </a:rPr>
              <a:t>Chetan B</a:t>
            </a:r>
            <a:endParaRPr lang="en-US" sz="1200" dirty="0"/>
          </a:p>
        </p:txBody>
      </p:sp>
      <p:sp>
        <p:nvSpPr>
          <p:cNvPr id="25" name="Card 4"/>
          <p:cNvSpPr/>
          <p:nvPr/>
        </p:nvSpPr>
        <p:spPr>
          <a:xfrm>
            <a:off x="9125344" y="4230000"/>
            <a:ext cx="2570848" cy="1300000"/>
          </a:xfrm>
          <a:prstGeom prst="roundRect">
            <a:avLst>
              <a:gd name="adj" fmla="val 8000"/>
            </a:avLst>
          </a:prstGeom>
          <a:solidFill>
            <a:srgbClr val="1E293B"/>
          </a:solidFill>
          <a:ln w="12700">
            <a:solidFill>
              <a:srgbClr val="334155"/>
            </a:solidFill>
          </a:ln>
        </p:spPr>
        <p:txBody>
          <a:bodyPr wrap="square" lIns="0" tIns="0" rIns="0" bIns="0" rtlCol="0" anchor="t">
            <a:normAutofit/>
          </a:bodyPr>
          <a:lstStyle/>
          <a:p>
            <a:endParaRPr lang="en-US"/>
          </a:p>
        </p:txBody>
      </p:sp>
      <p:sp>
        <p:nvSpPr>
          <p:cNvPr id="26" name="Avatar 4"/>
          <p:cNvSpPr/>
          <p:nvPr/>
        </p:nvSpPr>
        <p:spPr>
          <a:xfrm>
            <a:off x="9285344" y="4400000"/>
            <a:ext cx="540000" cy="540000"/>
          </a:xfrm>
          <a:prstGeom prst="ellipse">
            <a:avLst/>
          </a:prstGeom>
          <a:solidFill>
            <a:srgbClr val="34D399"/>
          </a:solidFill>
          <a:ln>
            <a:noFill/>
          </a:ln>
        </p:spPr>
        <p:txBody>
          <a:bodyPr wrap="square" lIns="0" tIns="0" rIns="0" bIns="0" rtlCol="0" anchor="ctr">
            <a:normAutofit/>
          </a:bodyPr>
          <a:lstStyle/>
          <a:p>
            <a:pPr marL="0" indent="0" algn="ctr">
              <a:buNone/>
            </a:pPr>
            <a:r>
              <a:rPr lang="en-US" sz="1500" b="1" dirty="0">
                <a:solidFill>
                  <a:srgbClr val="0F172A"/>
                </a:solidFill>
                <a:latin typeface="Space Grotesk" pitchFamily="34" charset="0"/>
                <a:ea typeface="Space Grotesk" pitchFamily="34" charset="-122"/>
                <a:cs typeface="Space Grotesk" pitchFamily="34" charset="-120"/>
              </a:rPr>
              <a:t>GR</a:t>
            </a:r>
            <a:endParaRPr lang="en-US" sz="1200" dirty="0"/>
          </a:p>
        </p:txBody>
      </p:sp>
      <p:sp>
        <p:nvSpPr>
          <p:cNvPr id="27" name="Affil 4"/>
          <p:cNvSpPr/>
          <p:nvPr/>
        </p:nvSpPr>
        <p:spPr>
          <a:xfrm>
            <a:off x="9925344" y="4400000"/>
            <a:ext cx="1670848" cy="540000"/>
          </a:xfrm>
          <a:prstGeom prst="rect">
            <a:avLst/>
          </a:prstGeom>
          <a:noFill/>
          <a:ln>
            <a:noFill/>
          </a:ln>
        </p:spPr>
        <p:txBody>
          <a:bodyPr wrap="square" lIns="0" tIns="0" rIns="0" bIns="0" rtlCol="0" anchor="ctr">
            <a:normAutofit/>
          </a:bodyPr>
          <a:lstStyle/>
          <a:p>
            <a:pPr marL="0" indent="0" algn="l">
              <a:lnSpc>
                <a:spcPts val="1700"/>
              </a:lnSpc>
              <a:buNone/>
            </a:pPr>
            <a:r>
              <a:rPr lang="en-US" sz="1300" b="1" dirty="0">
                <a:solidFill>
                  <a:srgbClr val="34D399"/>
                </a:solidFill>
                <a:latin typeface="JetBrains Mono" pitchFamily="34" charset="0"/>
                <a:ea typeface="JetBrains Mono" pitchFamily="34" charset="-122"/>
                <a:cs typeface="JetBrains Mono" pitchFamily="34" charset="-120"/>
              </a:rPr>
              <a:t>BIT</a:t>
            </a:r>
            <a:endParaRPr lang="en-US" sz="1200" dirty="0"/>
          </a:p>
        </p:txBody>
      </p:sp>
      <p:sp>
        <p:nvSpPr>
          <p:cNvPr id="28" name="Name 4"/>
          <p:cNvSpPr/>
          <p:nvPr/>
        </p:nvSpPr>
        <p:spPr>
          <a:xfrm>
            <a:off x="9285344" y="5050000"/>
            <a:ext cx="2310848" cy="330000"/>
          </a:xfrm>
          <a:prstGeom prst="rect">
            <a:avLst/>
          </a:prstGeom>
          <a:noFill/>
          <a:ln>
            <a:noFill/>
          </a:ln>
        </p:spPr>
        <p:txBody>
          <a:bodyPr wrap="square" lIns="0" tIns="0" rIns="0" bIns="0" rtlCol="0" anchor="t">
            <a:noAutofit/>
          </a:bodyPr>
          <a:lstStyle/>
          <a:p>
            <a:pPr marL="0" indent="0" algn="l">
              <a:lnSpc>
                <a:spcPts val="2000"/>
              </a:lnSpc>
              <a:buNone/>
            </a:pPr>
            <a:r>
              <a:rPr lang="en-US" sz="1400" b="1" dirty="0">
                <a:solidFill>
                  <a:srgbClr val="F8FAFC"/>
                </a:solidFill>
                <a:latin typeface="Space Grotesk" pitchFamily="34" charset="0"/>
                <a:ea typeface="Space Grotesk" pitchFamily="34" charset="-122"/>
                <a:cs typeface="Space Grotesk" pitchFamily="34" charset="-120"/>
              </a:rPr>
              <a:t>Gurusmaran Raghavan</a:t>
            </a:r>
            <a:endParaRPr lang="en-US" sz="1200" dirty="0"/>
          </a:p>
        </p:txBody>
      </p:sp>
      <p:sp>
        <p:nvSpPr>
          <p:cNvPr id="29" name="Repo"/>
          <p:cNvSpPr/>
          <p:nvPr/>
        </p:nvSpPr>
        <p:spPr>
          <a:xfrm>
            <a:off x="812800" y="6080000"/>
            <a:ext cx="6200000" cy="300000"/>
          </a:xfrm>
          <a:prstGeom prst="rect">
            <a:avLst/>
          </a:prstGeom>
          <a:noFill/>
          <a:ln>
            <a:noFill/>
          </a:ln>
        </p:spPr>
        <p:txBody>
          <a:bodyPr wrap="square" lIns="0" tIns="0" rIns="0" bIns="0" rtlCol="0" anchor="t">
            <a:normAutofit/>
          </a:bodyPr>
          <a:lstStyle/>
          <a:p>
            <a:pPr marL="0" indent="0" algn="l">
              <a:lnSpc>
                <a:spcPts val="2100"/>
              </a:lnSpc>
              <a:buNone/>
            </a:pPr>
            <a:r>
              <a:rPr lang="en-US" sz="1500" b="1" dirty="0">
                <a:solidFill>
                  <a:srgbClr val="34D399"/>
                </a:solidFill>
                <a:latin typeface="JetBrains Mono" pitchFamily="34" charset="0"/>
                <a:ea typeface="JetBrains Mono" pitchFamily="34" charset="-122"/>
                <a:cs typeface="JetBrains Mono" pitchFamily="34" charset="-120"/>
              </a:rPr>
              <a:t>github.com/Chirag-S-Reddy/Smart-MRF</a:t>
            </a:r>
            <a:endParaRPr lang="en-US" sz="1200" dirty="0"/>
          </a:p>
        </p:txBody>
      </p:sp>
      <p:sp>
        <p:nvSpPr>
          <p:cNvPr id="30" name="Pillars"/>
          <p:cNvSpPr/>
          <p:nvPr/>
        </p:nvSpPr>
        <p:spPr>
          <a:xfrm>
            <a:off x="7012800" y="6080000"/>
            <a:ext cx="4683392" cy="300000"/>
          </a:xfrm>
          <a:prstGeom prst="rect">
            <a:avLst/>
          </a:prstGeom>
          <a:noFill/>
          <a:ln>
            <a:noFill/>
          </a:ln>
        </p:spPr>
        <p:txBody>
          <a:bodyPr wrap="square" lIns="0" tIns="0" rIns="0" bIns="0" rtlCol="0" anchor="t">
            <a:normAutofit/>
          </a:bodyPr>
          <a:lstStyle/>
          <a:p>
            <a:pPr marL="0" indent="0" algn="r">
              <a:lnSpc>
                <a:spcPts val="2100"/>
              </a:lnSpc>
              <a:buNone/>
            </a:pPr>
            <a:r>
              <a:rPr lang="en-US" sz="1200" b="0" dirty="0">
                <a:solidFill>
                  <a:srgbClr val="94A3B8"/>
                </a:solidFill>
                <a:latin typeface="JetBrains Mono" pitchFamily="34" charset="0"/>
                <a:ea typeface="JetBrains Mono" pitchFamily="34" charset="-122"/>
                <a:cs typeface="JetBrains Mono" pitchFamily="34" charset="-120"/>
              </a:rPr>
              <a:t>Computer Vision  ·  Digital Twin  ·  Generative AI</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812800" y="1115423"/>
            <a:ext cx="10883392" cy="274320"/>
          </a:xfrm>
          <a:prstGeom prst="rect">
            <a:avLst/>
          </a:prstGeom>
          <a:noFill/>
          <a:ln/>
        </p:spPr>
        <p:txBody>
          <a:bodyPr wrap="square" lIns="0" tIns="0" rIns="0" bIns="0" rtlCol="0" anchor="t">
            <a:noAutofit/>
          </a:bodyPr>
          <a:lstStyle/>
          <a:p>
            <a:pPr marL="0" indent="0" algn="l">
              <a:lnSpc>
                <a:spcPts val="1960"/>
              </a:lnSpc>
              <a:buNone/>
            </a:pPr>
            <a:r>
              <a:rPr lang="en-US" sz="3200" b="1" dirty="0">
                <a:solidFill>
                  <a:srgbClr val="059669"/>
                </a:solidFill>
                <a:latin typeface="JetBrains Mono" pitchFamily="49" charset="0"/>
                <a:ea typeface="JetBrains Mono" pitchFamily="49" charset="-122"/>
                <a:cs typeface="JetBrains Mono" pitchFamily="49" charset="-120"/>
              </a:rPr>
              <a:t>PROBLEM STATEMENT</a:t>
            </a:r>
            <a:endParaRPr lang="en-US" sz="3200" dirty="0"/>
          </a:p>
        </p:txBody>
      </p:sp>
      <p:sp>
        <p:nvSpPr>
          <p:cNvPr id="3" name="Text 1"/>
          <p:cNvSpPr>
            <a:spLocks noGrp="1"/>
          </p:cNvSpPr>
          <p:nvPr>
            <p:ph type="title"/>
          </p:nvPr>
        </p:nvSpPr>
        <p:spPr>
          <a:xfrm>
            <a:off x="812800" y="1585581"/>
            <a:ext cx="10883392" cy="3854165"/>
          </a:xfrm>
          <a:prstGeom prst="rect">
            <a:avLst/>
          </a:prstGeom>
          <a:noFill/>
          <a:ln/>
        </p:spPr>
        <p:txBody>
          <a:bodyPr wrap="square" lIns="0" tIns="0" rIns="0" bIns="0" rtlCol="0" anchor="t">
            <a:noAutofit/>
          </a:bodyPr>
          <a:lstStyle/>
          <a:p>
            <a:pPr algn="just"/>
            <a:r>
              <a:rPr lang="en-IN" sz="3200" dirty="0">
                <a:solidFill>
                  <a:srgbClr val="FF0000"/>
                </a:solidFill>
              </a:rPr>
              <a:t>Inefficient manual sorting </a:t>
            </a:r>
            <a:r>
              <a:rPr lang="en-IN" sz="3200" dirty="0"/>
              <a:t>and a </a:t>
            </a:r>
            <a:r>
              <a:rPr lang="en-IN" sz="3200" dirty="0">
                <a:solidFill>
                  <a:srgbClr val="FF0000"/>
                </a:solidFill>
              </a:rPr>
              <a:t>lack of actionable disposal guidance </a:t>
            </a:r>
            <a:r>
              <a:rPr lang="en-IN" sz="3200" dirty="0">
                <a:solidFill>
                  <a:schemeClr val="tx1"/>
                </a:solidFill>
              </a:rPr>
              <a:t>hinder </a:t>
            </a:r>
            <a:r>
              <a:rPr lang="en-IN" sz="3200" dirty="0"/>
              <a:t>effective waste management and circular economy adoption. This project develops an integrated system combining </a:t>
            </a:r>
            <a:r>
              <a:rPr lang="en-IN" sz="3200" dirty="0">
                <a:solidFill>
                  <a:schemeClr val="accent1"/>
                </a:solidFill>
              </a:rPr>
              <a:t>Computer Vision </a:t>
            </a:r>
            <a:r>
              <a:rPr lang="en-IN" sz="3200" dirty="0"/>
              <a:t>for automated material classification, a Digital Twin for real-time lifecycle tracking, and </a:t>
            </a:r>
            <a:r>
              <a:rPr lang="en-IN" sz="3200" dirty="0">
                <a:solidFill>
                  <a:schemeClr val="accent1"/>
                </a:solidFill>
              </a:rPr>
              <a:t>Generative AI </a:t>
            </a:r>
            <a:r>
              <a:rPr lang="en-IN" sz="3200" dirty="0"/>
              <a:t>for personalized recycling recommendations.</a:t>
            </a:r>
            <a:endParaRPr lang="en-US" sz="3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59669"/>
                </a:solidFill>
                <a:latin typeface="JetBrains Mono" pitchFamily="49" charset="0"/>
                <a:ea typeface="JetBrains Mono" pitchFamily="49" charset="-122"/>
                <a:cs typeface="JetBrains Mono" pitchFamily="49" charset="-120"/>
              </a:rPr>
              <a:t>PROBLEM 1 · FIRE</a:t>
            </a:r>
            <a:endParaRPr lang="en-US" sz="1200" dirty="0"/>
          </a:p>
        </p:txBody>
      </p:sp>
      <p:sp>
        <p:nvSpPr>
          <p:cNvPr id="3" name="Text 1"/>
          <p:cNvSpPr>
            <a:spLocks noGrp="1"/>
          </p:cNvSpPr>
          <p:nvPr>
            <p:ph type="title"/>
          </p:nvPr>
        </p:nvSpPr>
        <p:spPr>
          <a:xfrm>
            <a:off x="812800" y="822961"/>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0F172A"/>
                </a:solidFill>
                <a:latin typeface="Space Grotesk" pitchFamily="34" charset="0"/>
                <a:ea typeface="Space Grotesk" pitchFamily="34" charset="-122"/>
                <a:cs typeface="Space Grotesk" pitchFamily="34" charset="-120"/>
              </a:rPr>
              <a:t>Hidden Battery &amp; Aerosol Fires</a:t>
            </a:r>
            <a:endParaRPr lang="en-US" sz="3000" dirty="0"/>
          </a:p>
        </p:txBody>
      </p:sp>
      <p:sp>
        <p:nvSpPr>
          <p:cNvPr id="4" name="Shape 2"/>
          <p:cNvSpPr/>
          <p:nvPr/>
        </p:nvSpPr>
        <p:spPr>
          <a:xfrm>
            <a:off x="812800" y="1419861"/>
            <a:ext cx="3420507" cy="942340"/>
          </a:xfrm>
          <a:prstGeom prst="roundRect">
            <a:avLst>
              <a:gd name="adj" fmla="val 8086"/>
            </a:avLst>
          </a:prstGeom>
          <a:solidFill>
            <a:srgbClr val="FFFFFF"/>
          </a:solidFill>
          <a:ln/>
        </p:spPr>
      </p:sp>
      <p:sp>
        <p:nvSpPr>
          <p:cNvPr id="5" name="Shape 3"/>
          <p:cNvSpPr/>
          <p:nvPr/>
        </p:nvSpPr>
        <p:spPr>
          <a:xfrm>
            <a:off x="812800" y="1419861"/>
            <a:ext cx="3420507" cy="942340"/>
          </a:xfrm>
          <a:custGeom>
            <a:avLst/>
            <a:gdLst/>
            <a:ahLst/>
            <a:cxnLst/>
            <a:rect l="l" t="t" r="r" b="b"/>
            <a:pathLst>
              <a:path w="3420507" h="942340">
                <a:moveTo>
                  <a:pt x="76200" y="942340"/>
                </a:moveTo>
                <a:lnTo>
                  <a:pt x="76200" y="942340"/>
                </a:lnTo>
                <a:arcTo wR="76200" hR="76200" stAng="5400000" swAng="5400000"/>
                <a:lnTo>
                  <a:pt x="0" y="76200"/>
                </a:lnTo>
                <a:arcTo wR="76200" hR="76200" stAng="10800000" swAng="5400000"/>
                <a:lnTo>
                  <a:pt x="76200" y="0"/>
                </a:lnTo>
                <a:arcTo wR="25400" hR="76200" stAng="16200000" swAng="-5400000"/>
                <a:lnTo>
                  <a:pt x="50800" y="866140"/>
                </a:lnTo>
                <a:arcTo wR="25400" hR="76200" stAng="10800000" swAng="-5400000"/>
                <a:close/>
              </a:path>
            </a:pathLst>
          </a:custGeom>
          <a:solidFill>
            <a:srgbClr val="DC2626"/>
          </a:solidFill>
          <a:ln/>
        </p:spPr>
      </p:sp>
      <p:sp>
        <p:nvSpPr>
          <p:cNvPr id="6" name="Text 4"/>
          <p:cNvSpPr/>
          <p:nvPr/>
        </p:nvSpPr>
        <p:spPr>
          <a:xfrm>
            <a:off x="1016000" y="1534161"/>
            <a:ext cx="402336" cy="332740"/>
          </a:xfrm>
          <a:prstGeom prst="rect">
            <a:avLst/>
          </a:prstGeom>
          <a:noFill/>
          <a:ln/>
        </p:spPr>
        <p:txBody>
          <a:bodyPr wrap="square" lIns="0" tIns="0" rIns="0" bIns="0" rtlCol="0" anchor="t">
            <a:normAutofit/>
          </a:bodyPr>
          <a:lstStyle/>
          <a:p>
            <a:pPr marL="0" indent="0" algn="l">
              <a:lnSpc>
                <a:spcPts val="2420"/>
              </a:lnSpc>
              <a:buNone/>
            </a:pPr>
            <a:r>
              <a:rPr lang="en-US" sz="2200" b="1" dirty="0">
                <a:solidFill>
                  <a:srgbClr val="DC2626"/>
                </a:solidFill>
                <a:latin typeface="JetBrains Mono" pitchFamily="49" charset="0"/>
                <a:ea typeface="JetBrains Mono" pitchFamily="49" charset="-122"/>
                <a:cs typeface="JetBrains Mono" pitchFamily="49" charset="-120"/>
              </a:rPr>
              <a:t>37</a:t>
            </a:r>
            <a:endParaRPr lang="en-US" sz="2200" dirty="0"/>
          </a:p>
        </p:txBody>
      </p:sp>
      <p:sp>
        <p:nvSpPr>
          <p:cNvPr id="7" name="Text 5"/>
          <p:cNvSpPr/>
          <p:nvPr/>
        </p:nvSpPr>
        <p:spPr>
          <a:xfrm>
            <a:off x="1016000" y="1866900"/>
            <a:ext cx="3156854" cy="4064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475569"/>
                </a:solidFill>
                <a:latin typeface="Space Grotesk" pitchFamily="34" charset="0"/>
                <a:ea typeface="Space Grotesk" pitchFamily="34" charset="-122"/>
                <a:cs typeface="Space Grotesk" pitchFamily="34" charset="-120"/>
              </a:rPr>
              <a:t>fire incidents at Delhi landfills in 2019 (fire department data) </a:t>
            </a:r>
            <a:r>
              <a:rPr lang="en-US" sz="1200" b="1" u="sng" dirty="0">
                <a:solidFill>
                  <a:srgbClr val="DC2626"/>
                </a:solidFill>
                <a:latin typeface="Space Grotesk" pitchFamily="34" charset="0"/>
                <a:ea typeface="Space Grotesk" pitchFamily="34" charset="-122"/>
                <a:cs typeface="Space Grotesk" pitchFamily="34" charset="-120"/>
                <a:hlinkClick r:id="rId3">
                  <a:extLst>
                    <a:ext uri="{A12FA001-AC4F-418D-AE19-62706E023703}">
                      <ahyp:hlinkClr xmlns:ahyp="http://schemas.microsoft.com/office/drawing/2018/hyperlinkcolor" val="tx"/>
                    </a:ext>
                  </a:extLst>
                </a:hlinkClick>
              </a:rPr>
              <a:t>src ↗</a:t>
            </a:r>
            <a:endParaRPr lang="en-US" sz="1200" dirty="0"/>
          </a:p>
        </p:txBody>
      </p:sp>
      <p:sp>
        <p:nvSpPr>
          <p:cNvPr id="8" name="Shape 6"/>
          <p:cNvSpPr/>
          <p:nvPr/>
        </p:nvSpPr>
        <p:spPr>
          <a:xfrm>
            <a:off x="4385707" y="1419861"/>
            <a:ext cx="3420586" cy="942340"/>
          </a:xfrm>
          <a:prstGeom prst="roundRect">
            <a:avLst>
              <a:gd name="adj" fmla="val 8086"/>
            </a:avLst>
          </a:prstGeom>
          <a:solidFill>
            <a:srgbClr val="FFFFFF"/>
          </a:solidFill>
          <a:ln/>
        </p:spPr>
      </p:sp>
      <p:sp>
        <p:nvSpPr>
          <p:cNvPr id="9" name="Shape 7"/>
          <p:cNvSpPr/>
          <p:nvPr/>
        </p:nvSpPr>
        <p:spPr>
          <a:xfrm>
            <a:off x="4385707" y="1419861"/>
            <a:ext cx="3420586" cy="942340"/>
          </a:xfrm>
          <a:custGeom>
            <a:avLst/>
            <a:gdLst/>
            <a:ahLst/>
            <a:cxnLst/>
            <a:rect l="l" t="t" r="r" b="b"/>
            <a:pathLst>
              <a:path w="3420586" h="942340">
                <a:moveTo>
                  <a:pt x="76200" y="942340"/>
                </a:moveTo>
                <a:lnTo>
                  <a:pt x="76200" y="942340"/>
                </a:lnTo>
                <a:arcTo wR="76200" hR="76200" stAng="5400000" swAng="5400000"/>
                <a:lnTo>
                  <a:pt x="0" y="76200"/>
                </a:lnTo>
                <a:arcTo wR="76200" hR="76200" stAng="10800000" swAng="5400000"/>
                <a:lnTo>
                  <a:pt x="76200" y="0"/>
                </a:lnTo>
                <a:arcTo wR="25400" hR="76200" stAng="16200000" swAng="-5400000"/>
                <a:lnTo>
                  <a:pt x="50800" y="866140"/>
                </a:lnTo>
                <a:arcTo wR="25400" hR="76200" stAng="10800000" swAng="-5400000"/>
                <a:close/>
              </a:path>
            </a:pathLst>
          </a:custGeom>
          <a:solidFill>
            <a:srgbClr val="DC2626"/>
          </a:solidFill>
          <a:ln/>
        </p:spPr>
      </p:sp>
      <p:sp>
        <p:nvSpPr>
          <p:cNvPr id="10" name="Text 8"/>
          <p:cNvSpPr/>
          <p:nvPr/>
        </p:nvSpPr>
        <p:spPr>
          <a:xfrm>
            <a:off x="4588907" y="1534161"/>
            <a:ext cx="1005840" cy="332740"/>
          </a:xfrm>
          <a:prstGeom prst="rect">
            <a:avLst/>
          </a:prstGeom>
          <a:noFill/>
          <a:ln/>
        </p:spPr>
        <p:txBody>
          <a:bodyPr wrap="square" lIns="0" tIns="0" rIns="0" bIns="0" rtlCol="0" anchor="t">
            <a:normAutofit/>
          </a:bodyPr>
          <a:lstStyle/>
          <a:p>
            <a:pPr marL="0" indent="0" algn="l">
              <a:lnSpc>
                <a:spcPts val="2420"/>
              </a:lnSpc>
              <a:buNone/>
            </a:pPr>
            <a:r>
              <a:rPr lang="en-US" sz="2200" b="1" dirty="0">
                <a:solidFill>
                  <a:srgbClr val="DC2626"/>
                </a:solidFill>
                <a:latin typeface="JetBrains Mono" pitchFamily="49" charset="0"/>
                <a:ea typeface="JetBrains Mono" pitchFamily="49" charset="-122"/>
                <a:cs typeface="JetBrains Mono" pitchFamily="49" charset="-120"/>
              </a:rPr>
              <a:t>50+ h</a:t>
            </a:r>
            <a:endParaRPr lang="en-US" sz="2200" dirty="0"/>
          </a:p>
        </p:txBody>
      </p:sp>
      <p:sp>
        <p:nvSpPr>
          <p:cNvPr id="11" name="Text 9"/>
          <p:cNvSpPr/>
          <p:nvPr/>
        </p:nvSpPr>
        <p:spPr>
          <a:xfrm>
            <a:off x="4588907" y="1866900"/>
            <a:ext cx="3156936" cy="4064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475569"/>
                </a:solidFill>
                <a:latin typeface="Space Grotesk" pitchFamily="34" charset="0"/>
                <a:ea typeface="Space Grotesk" pitchFamily="34" charset="-122"/>
                <a:cs typeface="Space Grotesk" pitchFamily="34" charset="-120"/>
              </a:rPr>
              <a:t>to douse the Ghazipur landfill fire, March 2022 </a:t>
            </a:r>
            <a:r>
              <a:rPr lang="en-US" sz="1200" b="1" u="sng" dirty="0">
                <a:solidFill>
                  <a:srgbClr val="DC2626"/>
                </a:solidFill>
                <a:latin typeface="Space Grotesk" pitchFamily="34" charset="0"/>
                <a:ea typeface="Space Grotesk" pitchFamily="34" charset="-122"/>
                <a:cs typeface="Space Grotesk" pitchFamily="34" charset="-120"/>
                <a:hlinkClick r:id="rId4">
                  <a:extLst>
                    <a:ext uri="{A12FA001-AC4F-418D-AE19-62706E023703}">
                      <ahyp:hlinkClr xmlns:ahyp="http://schemas.microsoft.com/office/drawing/2018/hyperlinkcolor" val="tx"/>
                    </a:ext>
                  </a:extLst>
                </a:hlinkClick>
              </a:rPr>
              <a:t>src ↗</a:t>
            </a:r>
            <a:endParaRPr lang="en-US" sz="1200" dirty="0"/>
          </a:p>
        </p:txBody>
      </p:sp>
      <p:sp>
        <p:nvSpPr>
          <p:cNvPr id="12" name="Shape 10"/>
          <p:cNvSpPr/>
          <p:nvPr/>
        </p:nvSpPr>
        <p:spPr>
          <a:xfrm>
            <a:off x="7958693" y="1419861"/>
            <a:ext cx="3420507" cy="942340"/>
          </a:xfrm>
          <a:prstGeom prst="roundRect">
            <a:avLst>
              <a:gd name="adj" fmla="val 8086"/>
            </a:avLst>
          </a:prstGeom>
          <a:solidFill>
            <a:srgbClr val="FFFFFF"/>
          </a:solidFill>
          <a:ln/>
        </p:spPr>
      </p:sp>
      <p:sp>
        <p:nvSpPr>
          <p:cNvPr id="13" name="Shape 11"/>
          <p:cNvSpPr/>
          <p:nvPr/>
        </p:nvSpPr>
        <p:spPr>
          <a:xfrm>
            <a:off x="7958693" y="1419861"/>
            <a:ext cx="3420507" cy="942340"/>
          </a:xfrm>
          <a:custGeom>
            <a:avLst/>
            <a:gdLst/>
            <a:ahLst/>
            <a:cxnLst/>
            <a:rect l="l" t="t" r="r" b="b"/>
            <a:pathLst>
              <a:path w="3420507" h="942340">
                <a:moveTo>
                  <a:pt x="76200" y="942340"/>
                </a:moveTo>
                <a:lnTo>
                  <a:pt x="76200" y="942340"/>
                </a:lnTo>
                <a:arcTo wR="76200" hR="76200" stAng="5400000" swAng="5400000"/>
                <a:lnTo>
                  <a:pt x="0" y="76200"/>
                </a:lnTo>
                <a:arcTo wR="76200" hR="76200" stAng="10800000" swAng="5400000"/>
                <a:lnTo>
                  <a:pt x="76200" y="0"/>
                </a:lnTo>
                <a:arcTo wR="25400" hR="76200" stAng="16200000" swAng="-5400000"/>
                <a:lnTo>
                  <a:pt x="50800" y="866140"/>
                </a:lnTo>
                <a:arcTo wR="25400" hR="76200" stAng="10800000" swAng="-5400000"/>
                <a:close/>
              </a:path>
            </a:pathLst>
          </a:custGeom>
          <a:solidFill>
            <a:srgbClr val="DC2626"/>
          </a:solidFill>
          <a:ln/>
        </p:spPr>
      </p:sp>
      <p:sp>
        <p:nvSpPr>
          <p:cNvPr id="14" name="Text 12"/>
          <p:cNvSpPr/>
          <p:nvPr/>
        </p:nvSpPr>
        <p:spPr>
          <a:xfrm>
            <a:off x="8161893" y="1534161"/>
            <a:ext cx="804672" cy="332740"/>
          </a:xfrm>
          <a:prstGeom prst="rect">
            <a:avLst/>
          </a:prstGeom>
          <a:noFill/>
          <a:ln/>
        </p:spPr>
        <p:txBody>
          <a:bodyPr wrap="square" lIns="0" tIns="0" rIns="0" bIns="0" rtlCol="0" anchor="t">
            <a:normAutofit/>
          </a:bodyPr>
          <a:lstStyle/>
          <a:p>
            <a:pPr marL="0" indent="0" algn="l">
              <a:lnSpc>
                <a:spcPts val="2420"/>
              </a:lnSpc>
              <a:buNone/>
            </a:pPr>
            <a:r>
              <a:rPr lang="en-US" sz="2200" b="1" dirty="0">
                <a:solidFill>
                  <a:srgbClr val="DC2626"/>
                </a:solidFill>
                <a:latin typeface="JetBrains Mono" pitchFamily="49" charset="0"/>
                <a:ea typeface="JetBrains Mono" pitchFamily="49" charset="-122"/>
                <a:cs typeface="JetBrains Mono" pitchFamily="49" charset="-120"/>
              </a:rPr>
              <a:t>~95%</a:t>
            </a:r>
            <a:endParaRPr lang="en-US" sz="2200" dirty="0"/>
          </a:p>
        </p:txBody>
      </p:sp>
      <p:sp>
        <p:nvSpPr>
          <p:cNvPr id="15" name="Text 13"/>
          <p:cNvSpPr/>
          <p:nvPr/>
        </p:nvSpPr>
        <p:spPr>
          <a:xfrm>
            <a:off x="8161893" y="1866900"/>
            <a:ext cx="3156854" cy="4064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475569"/>
                </a:solidFill>
                <a:latin typeface="Space Grotesk" pitchFamily="34" charset="0"/>
                <a:ea typeface="Space Grotesk" pitchFamily="34" charset="-122"/>
                <a:cs typeface="Space Grotesk" pitchFamily="34" charset="-120"/>
              </a:rPr>
              <a:t>of Indian Li-ion batteries believed to end up in rubbish tips (estimate) </a:t>
            </a:r>
            <a:r>
              <a:rPr lang="en-US" sz="1200" b="1" u="sng" dirty="0">
                <a:solidFill>
                  <a:srgbClr val="DC2626"/>
                </a:solidFill>
                <a:latin typeface="Space Grotesk" pitchFamily="34" charset="0"/>
                <a:ea typeface="Space Grotesk" pitchFamily="34" charset="-122"/>
                <a:cs typeface="Space Grotesk" pitchFamily="34" charset="-120"/>
                <a:hlinkClick r:id="rId5">
                  <a:extLst>
                    <a:ext uri="{A12FA001-AC4F-418D-AE19-62706E023703}">
                      <ahyp:hlinkClr xmlns:ahyp="http://schemas.microsoft.com/office/drawing/2018/hyperlinkcolor" val="tx"/>
                    </a:ext>
                  </a:extLst>
                </a:hlinkClick>
              </a:rPr>
              <a:t>src ↗</a:t>
            </a:r>
            <a:endParaRPr lang="en-US" sz="1200" dirty="0"/>
          </a:p>
        </p:txBody>
      </p:sp>
      <p:pic>
        <p:nvPicPr>
          <p:cNvPr id="16" name="Image 0"/>
          <p:cNvPicPr>
            <a:picLocks noChangeAspect="1"/>
          </p:cNvPicPr>
          <p:nvPr/>
        </p:nvPicPr>
        <p:blipFill>
          <a:blip r:embed="rId6"/>
          <a:srcRect/>
          <a:stretch/>
        </p:blipFill>
        <p:spPr>
          <a:xfrm>
            <a:off x="812800" y="2809240"/>
            <a:ext cx="2794000" cy="2194560"/>
          </a:xfrm>
          <a:prstGeom prst="rect">
            <a:avLst/>
          </a:prstGeom>
        </p:spPr>
      </p:pic>
      <p:sp>
        <p:nvSpPr>
          <p:cNvPr id="18" name="Shape 15"/>
          <p:cNvSpPr/>
          <p:nvPr/>
        </p:nvSpPr>
        <p:spPr>
          <a:xfrm>
            <a:off x="3762375" y="2543175"/>
            <a:ext cx="3727450" cy="2894965"/>
          </a:xfrm>
          <a:prstGeom prst="roundRect">
            <a:avLst>
              <a:gd name="adj" fmla="val 3400"/>
            </a:avLst>
          </a:prstGeom>
          <a:solidFill>
            <a:srgbClr val="FFFFFF"/>
          </a:solidFill>
          <a:ln w="6350">
            <a:solidFill>
              <a:srgbClr val="E2E8F0"/>
            </a:solidFill>
            <a:prstDash val="solid"/>
          </a:ln>
        </p:spPr>
      </p:sp>
      <p:sp>
        <p:nvSpPr>
          <p:cNvPr id="19" name="Text 16"/>
          <p:cNvSpPr/>
          <p:nvPr/>
        </p:nvSpPr>
        <p:spPr>
          <a:xfrm>
            <a:off x="3942080" y="2697480"/>
            <a:ext cx="3469081"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DC2626"/>
                </a:solidFill>
                <a:latin typeface="JetBrains Mono" pitchFamily="49" charset="0"/>
                <a:ea typeface="JetBrains Mono" pitchFamily="49" charset="-122"/>
                <a:cs typeface="JetBrains Mono" pitchFamily="49" charset="-120"/>
              </a:rPr>
              <a:t>INDIA · CHENNAI</a:t>
            </a:r>
            <a:endParaRPr lang="en-US" sz="1200" dirty="0"/>
          </a:p>
        </p:txBody>
      </p:sp>
      <p:sp>
        <p:nvSpPr>
          <p:cNvPr id="20" name="Text 17"/>
          <p:cNvSpPr/>
          <p:nvPr/>
        </p:nvSpPr>
        <p:spPr>
          <a:xfrm>
            <a:off x="3942080" y="2974341"/>
            <a:ext cx="3469081" cy="259080"/>
          </a:xfrm>
          <a:prstGeom prst="rect">
            <a:avLst/>
          </a:prstGeom>
          <a:noFill/>
          <a:ln/>
        </p:spPr>
        <p:txBody>
          <a:bodyPr wrap="square" lIns="0" tIns="0" rIns="0" bIns="0" rtlCol="0" anchor="t">
            <a:normAutofit/>
          </a:bodyPr>
          <a:lstStyle/>
          <a:p>
            <a:pPr marL="0" indent="0" algn="l">
              <a:lnSpc>
                <a:spcPts val="1840"/>
              </a:lnSpc>
              <a:buNone/>
            </a:pPr>
            <a:r>
              <a:rPr lang="en-US" sz="1600" b="1" dirty="0">
                <a:solidFill>
                  <a:srgbClr val="0F172A"/>
                </a:solidFill>
                <a:latin typeface="Space Grotesk" pitchFamily="34" charset="0"/>
                <a:ea typeface="Space Grotesk" pitchFamily="34" charset="-122"/>
                <a:cs typeface="Space Grotesk" pitchFamily="34" charset="-120"/>
              </a:rPr>
              <a:t>Baling-centre blaze</a:t>
            </a:r>
            <a:endParaRPr lang="en-US" sz="1600" dirty="0"/>
          </a:p>
        </p:txBody>
      </p:sp>
      <p:sp>
        <p:nvSpPr>
          <p:cNvPr id="21" name="Text 18"/>
          <p:cNvSpPr/>
          <p:nvPr/>
        </p:nvSpPr>
        <p:spPr>
          <a:xfrm>
            <a:off x="3942080" y="3271520"/>
            <a:ext cx="3469081" cy="84836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75569"/>
                </a:solidFill>
                <a:latin typeface="Space Grotesk" pitchFamily="34" charset="0"/>
                <a:ea typeface="Space Grotesk" pitchFamily="34" charset="-122"/>
                <a:cs typeface="Space Grotesk" pitchFamily="34" charset="-120"/>
              </a:rPr>
              <a:t>About 60 firefighters worked 2 hours. Around 100 tons of flammable refuse-derived fuel was stored on site. Heat was suspected as the cause.</a:t>
            </a:r>
            <a:endParaRPr lang="en-US" sz="1200" dirty="0"/>
          </a:p>
        </p:txBody>
      </p:sp>
      <p:sp>
        <p:nvSpPr>
          <p:cNvPr id="22" name="Text 19"/>
          <p:cNvSpPr/>
          <p:nvPr/>
        </p:nvSpPr>
        <p:spPr>
          <a:xfrm>
            <a:off x="3942080" y="4157980"/>
            <a:ext cx="3469081" cy="256540"/>
          </a:xfrm>
          <a:prstGeom prst="rect">
            <a:avLst/>
          </a:prstGeom>
          <a:noFill/>
          <a:ln/>
        </p:spPr>
        <p:txBody>
          <a:bodyPr wrap="square" lIns="0" tIns="0" rIns="0" bIns="0" rtlCol="0" anchor="t">
            <a:normAutofit/>
          </a:bodyPr>
          <a:lstStyle/>
          <a:p>
            <a:pPr marL="0" indent="0" algn="l">
              <a:lnSpc>
                <a:spcPts val="1820"/>
              </a:lnSpc>
              <a:buNone/>
            </a:pPr>
            <a:r>
              <a:rPr lang="en-US" sz="1300" b="1" u="sng" dirty="0">
                <a:solidFill>
                  <a:srgbClr val="DC2626"/>
                </a:solidFill>
                <a:latin typeface="Space Grotesk" pitchFamily="34" charset="0"/>
                <a:ea typeface="Space Grotesk" pitchFamily="34" charset="-122"/>
                <a:cs typeface="Space Grotesk" pitchFamily="34" charset="-120"/>
                <a:hlinkClick r:id="rId7">
                  <a:extLst>
                    <a:ext uri="{A12FA001-AC4F-418D-AE19-62706E023703}">
                      <ahyp:hlinkClr xmlns:ahyp="http://schemas.microsoft.com/office/drawing/2018/hyperlinkcolor" val="tx"/>
                    </a:ext>
                  </a:extLst>
                </a:hlinkClick>
              </a:rPr>
              <a:t>Read article ↗</a:t>
            </a:r>
            <a:endParaRPr lang="en-US" sz="1300" dirty="0"/>
          </a:p>
        </p:txBody>
      </p:sp>
      <p:sp>
        <p:nvSpPr>
          <p:cNvPr id="23" name="Shape 20"/>
          <p:cNvSpPr/>
          <p:nvPr/>
        </p:nvSpPr>
        <p:spPr>
          <a:xfrm>
            <a:off x="7648575" y="2543175"/>
            <a:ext cx="3727450" cy="2894965"/>
          </a:xfrm>
          <a:prstGeom prst="roundRect">
            <a:avLst>
              <a:gd name="adj" fmla="val 3400"/>
            </a:avLst>
          </a:prstGeom>
          <a:solidFill>
            <a:srgbClr val="FFFFFF"/>
          </a:solidFill>
          <a:ln w="6350">
            <a:solidFill>
              <a:srgbClr val="E2E8F0"/>
            </a:solidFill>
            <a:prstDash val="solid"/>
          </a:ln>
        </p:spPr>
      </p:sp>
      <p:sp>
        <p:nvSpPr>
          <p:cNvPr id="24" name="Text 21"/>
          <p:cNvSpPr/>
          <p:nvPr/>
        </p:nvSpPr>
        <p:spPr>
          <a:xfrm>
            <a:off x="7828280" y="2697480"/>
            <a:ext cx="3469081"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DC2626"/>
                </a:solidFill>
                <a:latin typeface="JetBrains Mono" pitchFamily="49" charset="0"/>
                <a:ea typeface="JetBrains Mono" pitchFamily="49" charset="-122"/>
                <a:cs typeface="JetBrains Mono" pitchFamily="49" charset="-120"/>
              </a:rPr>
              <a:t>UK · LONDON MRF</a:t>
            </a:r>
            <a:endParaRPr lang="en-US" sz="1200" dirty="0"/>
          </a:p>
        </p:txBody>
      </p:sp>
      <p:sp>
        <p:nvSpPr>
          <p:cNvPr id="25" name="Text 22"/>
          <p:cNvSpPr/>
          <p:nvPr/>
        </p:nvSpPr>
        <p:spPr>
          <a:xfrm>
            <a:off x="7828280" y="2974341"/>
            <a:ext cx="3469081" cy="259080"/>
          </a:xfrm>
          <a:prstGeom prst="rect">
            <a:avLst/>
          </a:prstGeom>
          <a:noFill/>
          <a:ln/>
        </p:spPr>
        <p:txBody>
          <a:bodyPr wrap="square" lIns="0" tIns="0" rIns="0" bIns="0" rtlCol="0" anchor="t">
            <a:normAutofit/>
          </a:bodyPr>
          <a:lstStyle/>
          <a:p>
            <a:pPr marL="0" indent="0" algn="l">
              <a:lnSpc>
                <a:spcPts val="1840"/>
              </a:lnSpc>
              <a:buNone/>
            </a:pPr>
            <a:r>
              <a:rPr lang="en-US" sz="1600" b="1" dirty="0">
                <a:solidFill>
                  <a:srgbClr val="0F172A"/>
                </a:solidFill>
                <a:latin typeface="Space Grotesk" pitchFamily="34" charset="0"/>
                <a:ea typeface="Space Grotesk" pitchFamily="34" charset="-122"/>
                <a:cs typeface="Space Grotesk" pitchFamily="34" charset="-120"/>
              </a:rPr>
              <a:t>Aerosols exploded in the baler</a:t>
            </a:r>
            <a:endParaRPr lang="en-US" sz="1600" dirty="0"/>
          </a:p>
        </p:txBody>
      </p:sp>
      <p:sp>
        <p:nvSpPr>
          <p:cNvPr id="26" name="Text 23"/>
          <p:cNvSpPr/>
          <p:nvPr/>
        </p:nvSpPr>
        <p:spPr>
          <a:xfrm>
            <a:off x="7828280" y="3271520"/>
            <a:ext cx="3469081" cy="84836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75569"/>
                </a:solidFill>
                <a:latin typeface="Space Grotesk" pitchFamily="34" charset="0"/>
                <a:ea typeface="Space Grotesk" pitchFamily="34" charset="-122"/>
                <a:cs typeface="Space Grotesk" pitchFamily="34" charset="-120"/>
              </a:rPr>
              <a:t>Two fires since 2016, then a baler explosion. The first fire closed the MRF for over two weeks. In the US and Canada: 448 fires and about $2.5B damage in 2025.</a:t>
            </a:r>
            <a:endParaRPr lang="en-US" sz="1200" dirty="0"/>
          </a:p>
        </p:txBody>
      </p:sp>
      <p:sp>
        <p:nvSpPr>
          <p:cNvPr id="27" name="Text 24"/>
          <p:cNvSpPr/>
          <p:nvPr/>
        </p:nvSpPr>
        <p:spPr>
          <a:xfrm>
            <a:off x="7828280" y="4157980"/>
            <a:ext cx="3469081" cy="256540"/>
          </a:xfrm>
          <a:prstGeom prst="rect">
            <a:avLst/>
          </a:prstGeom>
          <a:noFill/>
          <a:ln/>
        </p:spPr>
        <p:txBody>
          <a:bodyPr wrap="square" lIns="0" tIns="0" rIns="0" bIns="0" rtlCol="0" anchor="t">
            <a:normAutofit/>
          </a:bodyPr>
          <a:lstStyle/>
          <a:p>
            <a:pPr marL="0" indent="0" algn="l">
              <a:lnSpc>
                <a:spcPts val="1820"/>
              </a:lnSpc>
              <a:buNone/>
            </a:pPr>
            <a:r>
              <a:rPr lang="en-US" sz="1300" b="1" u="sng" dirty="0">
                <a:solidFill>
                  <a:srgbClr val="DC2626"/>
                </a:solidFill>
                <a:latin typeface="Space Grotesk" pitchFamily="34" charset="0"/>
                <a:ea typeface="Space Grotesk" pitchFamily="34" charset="-122"/>
                <a:cs typeface="Space Grotesk" pitchFamily="34" charset="-120"/>
                <a:hlinkClick r:id="rId8">
                  <a:extLst>
                    <a:ext uri="{A12FA001-AC4F-418D-AE19-62706E023703}">
                      <ahyp:hlinkClr xmlns:ahyp="http://schemas.microsoft.com/office/drawing/2018/hyperlinkcolor" val="tx"/>
                    </a:ext>
                  </a:extLst>
                </a:hlinkClick>
              </a:rPr>
              <a:t>Read council report ↗</a:t>
            </a:r>
            <a:endParaRPr lang="en-US" sz="1300" dirty="0"/>
          </a:p>
        </p:txBody>
      </p:sp>
      <p:sp>
        <p:nvSpPr>
          <p:cNvPr id="28" name="Shape 25"/>
          <p:cNvSpPr/>
          <p:nvPr/>
        </p:nvSpPr>
        <p:spPr>
          <a:xfrm>
            <a:off x="812800" y="5619116"/>
            <a:ext cx="10566400" cy="629285"/>
          </a:xfrm>
          <a:prstGeom prst="roundRect">
            <a:avLst>
              <a:gd name="adj" fmla="val 12109"/>
            </a:avLst>
          </a:prstGeom>
          <a:solidFill>
            <a:srgbClr val="059669"/>
          </a:solidFill>
          <a:ln/>
        </p:spPr>
      </p:sp>
      <p:sp>
        <p:nvSpPr>
          <p:cNvPr id="29" name="Text 26"/>
          <p:cNvSpPr/>
          <p:nvPr/>
        </p:nvSpPr>
        <p:spPr>
          <a:xfrm>
            <a:off x="990600" y="5708016"/>
            <a:ext cx="10517124"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FFFFF"/>
                </a:solidFill>
                <a:latin typeface="JetBrains Mono" pitchFamily="49" charset="0"/>
                <a:ea typeface="JetBrains Mono" pitchFamily="49" charset="-122"/>
                <a:cs typeface="JetBrains Mono" pitchFamily="49" charset="-120"/>
              </a:rPr>
              <a:t>SMART MRF RESPONSE</a:t>
            </a:r>
            <a:endParaRPr lang="en-US" sz="1200" dirty="0"/>
          </a:p>
        </p:txBody>
      </p:sp>
      <p:sp>
        <p:nvSpPr>
          <p:cNvPr id="30" name="Text 27"/>
          <p:cNvSpPr/>
          <p:nvPr/>
        </p:nvSpPr>
        <p:spPr>
          <a:xfrm>
            <a:off x="990600" y="5921375"/>
            <a:ext cx="10517124" cy="263525"/>
          </a:xfrm>
          <a:prstGeom prst="rect">
            <a:avLst/>
          </a:prstGeom>
          <a:noFill/>
          <a:ln/>
        </p:spPr>
        <p:txBody>
          <a:bodyPr wrap="square" lIns="0" tIns="0" rIns="0" bIns="0" rtlCol="0" anchor="t">
            <a:normAutofit/>
          </a:bodyPr>
          <a:lstStyle/>
          <a:p>
            <a:pPr marL="0" indent="0" algn="l">
              <a:lnSpc>
                <a:spcPts val="1875"/>
              </a:lnSpc>
              <a:buNone/>
            </a:pPr>
            <a:r>
              <a:rPr lang="en-US" sz="1500" b="1" dirty="0">
                <a:solidFill>
                  <a:srgbClr val="FFFFFF"/>
                </a:solidFill>
                <a:latin typeface="Space Grotesk" pitchFamily="34" charset="0"/>
                <a:ea typeface="Space Grotesk" pitchFamily="34" charset="-122"/>
                <a:cs typeface="Space Grotesk" pitchFamily="34" charset="-120"/>
              </a:rPr>
              <a:t>Spot battery and aerosol upstream of the baler and raise CRITICAL before they are crushed.</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59669"/>
                </a:solidFill>
                <a:latin typeface="JetBrains Mono" pitchFamily="49" charset="0"/>
                <a:ea typeface="JetBrains Mono" pitchFamily="49" charset="-122"/>
                <a:cs typeface="JetBrains Mono" pitchFamily="49" charset="-120"/>
              </a:rPr>
              <a:t>PROBLEM 2 · JAMS</a:t>
            </a:r>
            <a:endParaRPr lang="en-US" sz="1200" dirty="0"/>
          </a:p>
        </p:txBody>
      </p:sp>
      <p:sp>
        <p:nvSpPr>
          <p:cNvPr id="3" name="Text 1"/>
          <p:cNvSpPr>
            <a:spLocks noGrp="1"/>
          </p:cNvSpPr>
          <p:nvPr>
            <p:ph type="title"/>
          </p:nvPr>
        </p:nvSpPr>
        <p:spPr>
          <a:xfrm>
            <a:off x="812800" y="822961"/>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0F172A"/>
                </a:solidFill>
                <a:latin typeface="Space Grotesk" pitchFamily="34" charset="0"/>
                <a:ea typeface="Space Grotesk" pitchFamily="34" charset="-122"/>
                <a:cs typeface="Space Grotesk" pitchFamily="34" charset="-120"/>
              </a:rPr>
              <a:t>Plastic Film Wraps the Machinery</a:t>
            </a:r>
            <a:endParaRPr lang="en-US" sz="3000" dirty="0"/>
          </a:p>
        </p:txBody>
      </p:sp>
      <p:sp>
        <p:nvSpPr>
          <p:cNvPr id="4" name="Shape 2"/>
          <p:cNvSpPr/>
          <p:nvPr/>
        </p:nvSpPr>
        <p:spPr>
          <a:xfrm>
            <a:off x="812800" y="1419861"/>
            <a:ext cx="3420507" cy="942340"/>
          </a:xfrm>
          <a:prstGeom prst="roundRect">
            <a:avLst>
              <a:gd name="adj" fmla="val 8086"/>
            </a:avLst>
          </a:prstGeom>
          <a:solidFill>
            <a:srgbClr val="FFFFFF"/>
          </a:solidFill>
          <a:ln/>
        </p:spPr>
      </p:sp>
      <p:sp>
        <p:nvSpPr>
          <p:cNvPr id="5" name="Shape 3"/>
          <p:cNvSpPr/>
          <p:nvPr/>
        </p:nvSpPr>
        <p:spPr>
          <a:xfrm>
            <a:off x="812800" y="1419861"/>
            <a:ext cx="3420507" cy="942340"/>
          </a:xfrm>
          <a:custGeom>
            <a:avLst/>
            <a:gdLst/>
            <a:ahLst/>
            <a:cxnLst/>
            <a:rect l="l" t="t" r="r" b="b"/>
            <a:pathLst>
              <a:path w="3420507" h="942340">
                <a:moveTo>
                  <a:pt x="76200" y="942340"/>
                </a:moveTo>
                <a:lnTo>
                  <a:pt x="76200" y="942340"/>
                </a:lnTo>
                <a:arcTo wR="76200" hR="76200" stAng="5400000" swAng="5400000"/>
                <a:lnTo>
                  <a:pt x="0" y="76200"/>
                </a:lnTo>
                <a:arcTo wR="76200" hR="76200" stAng="10800000" swAng="5400000"/>
                <a:lnTo>
                  <a:pt x="76200" y="0"/>
                </a:lnTo>
                <a:arcTo wR="25400" hR="76200" stAng="16200000" swAng="-5400000"/>
                <a:lnTo>
                  <a:pt x="50800" y="866140"/>
                </a:lnTo>
                <a:arcTo wR="25400" hR="76200" stAng="10800000" swAng="-5400000"/>
                <a:close/>
              </a:path>
            </a:pathLst>
          </a:custGeom>
          <a:solidFill>
            <a:srgbClr val="EA580C"/>
          </a:solidFill>
          <a:ln/>
        </p:spPr>
      </p:sp>
      <p:sp>
        <p:nvSpPr>
          <p:cNvPr id="6" name="Text 4"/>
          <p:cNvSpPr/>
          <p:nvPr/>
        </p:nvSpPr>
        <p:spPr>
          <a:xfrm>
            <a:off x="1016000" y="1534161"/>
            <a:ext cx="603504" cy="332740"/>
          </a:xfrm>
          <a:prstGeom prst="rect">
            <a:avLst/>
          </a:prstGeom>
          <a:noFill/>
          <a:ln/>
        </p:spPr>
        <p:txBody>
          <a:bodyPr wrap="square" lIns="0" tIns="0" rIns="0" bIns="0" rtlCol="0" anchor="t">
            <a:normAutofit/>
          </a:bodyPr>
          <a:lstStyle/>
          <a:p>
            <a:pPr marL="0" indent="0" algn="l">
              <a:lnSpc>
                <a:spcPts val="2420"/>
              </a:lnSpc>
              <a:buNone/>
            </a:pPr>
            <a:r>
              <a:rPr lang="en-US" sz="2200" b="1" dirty="0">
                <a:solidFill>
                  <a:srgbClr val="EA580C"/>
                </a:solidFill>
                <a:latin typeface="JetBrains Mono" pitchFamily="49" charset="0"/>
                <a:ea typeface="JetBrains Mono" pitchFamily="49" charset="-122"/>
                <a:cs typeface="JetBrains Mono" pitchFamily="49" charset="-120"/>
              </a:rPr>
              <a:t>35%</a:t>
            </a:r>
            <a:endParaRPr lang="en-US" sz="2200" dirty="0"/>
          </a:p>
        </p:txBody>
      </p:sp>
      <p:sp>
        <p:nvSpPr>
          <p:cNvPr id="7" name="Text 5"/>
          <p:cNvSpPr/>
          <p:nvPr/>
        </p:nvSpPr>
        <p:spPr>
          <a:xfrm>
            <a:off x="1016000" y="1866900"/>
            <a:ext cx="3156854" cy="4064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475569"/>
                </a:solidFill>
                <a:latin typeface="Space Grotesk" pitchFamily="34" charset="0"/>
                <a:ea typeface="Space Grotesk" pitchFamily="34" charset="-122"/>
                <a:cs typeface="Space Grotesk" pitchFamily="34" charset="-120"/>
              </a:rPr>
              <a:t>of India’s plastic waste is multi-layered, hard to recycle (CSE) </a:t>
            </a:r>
            <a:r>
              <a:rPr lang="en-US" sz="1200" b="1" u="sng" dirty="0">
                <a:solidFill>
                  <a:srgbClr val="EA580C"/>
                </a:solidFill>
                <a:latin typeface="Space Grotesk" pitchFamily="34" charset="0"/>
                <a:ea typeface="Space Grotesk" pitchFamily="34" charset="-122"/>
                <a:cs typeface="Space Grotesk" pitchFamily="34" charset="-120"/>
                <a:hlinkClick r:id="rId3">
                  <a:extLst>
                    <a:ext uri="{A12FA001-AC4F-418D-AE19-62706E023703}">
                      <ahyp:hlinkClr xmlns:ahyp="http://schemas.microsoft.com/office/drawing/2018/hyperlinkcolor" val="tx"/>
                    </a:ext>
                  </a:extLst>
                </a:hlinkClick>
              </a:rPr>
              <a:t>src ↗</a:t>
            </a:r>
            <a:endParaRPr lang="en-US" sz="1200" dirty="0"/>
          </a:p>
        </p:txBody>
      </p:sp>
      <p:sp>
        <p:nvSpPr>
          <p:cNvPr id="8" name="Shape 6"/>
          <p:cNvSpPr/>
          <p:nvPr/>
        </p:nvSpPr>
        <p:spPr>
          <a:xfrm>
            <a:off x="4385707" y="1419861"/>
            <a:ext cx="3420586" cy="942340"/>
          </a:xfrm>
          <a:prstGeom prst="roundRect">
            <a:avLst>
              <a:gd name="adj" fmla="val 8086"/>
            </a:avLst>
          </a:prstGeom>
          <a:solidFill>
            <a:srgbClr val="FFFFFF"/>
          </a:solidFill>
          <a:ln/>
        </p:spPr>
      </p:sp>
      <p:sp>
        <p:nvSpPr>
          <p:cNvPr id="9" name="Shape 7"/>
          <p:cNvSpPr/>
          <p:nvPr/>
        </p:nvSpPr>
        <p:spPr>
          <a:xfrm>
            <a:off x="4385707" y="1419861"/>
            <a:ext cx="3420586" cy="942340"/>
          </a:xfrm>
          <a:custGeom>
            <a:avLst/>
            <a:gdLst/>
            <a:ahLst/>
            <a:cxnLst/>
            <a:rect l="l" t="t" r="r" b="b"/>
            <a:pathLst>
              <a:path w="3420586" h="942340">
                <a:moveTo>
                  <a:pt x="76200" y="942340"/>
                </a:moveTo>
                <a:lnTo>
                  <a:pt x="76200" y="942340"/>
                </a:lnTo>
                <a:arcTo wR="76200" hR="76200" stAng="5400000" swAng="5400000"/>
                <a:lnTo>
                  <a:pt x="0" y="76200"/>
                </a:lnTo>
                <a:arcTo wR="76200" hR="76200" stAng="10800000" swAng="5400000"/>
                <a:lnTo>
                  <a:pt x="76200" y="0"/>
                </a:lnTo>
                <a:arcTo wR="25400" hR="76200" stAng="16200000" swAng="-5400000"/>
                <a:lnTo>
                  <a:pt x="50800" y="866140"/>
                </a:lnTo>
                <a:arcTo wR="25400" hR="76200" stAng="10800000" swAng="-5400000"/>
                <a:close/>
              </a:path>
            </a:pathLst>
          </a:custGeom>
          <a:solidFill>
            <a:srgbClr val="EA580C"/>
          </a:solidFill>
          <a:ln/>
        </p:spPr>
      </p:sp>
      <p:sp>
        <p:nvSpPr>
          <p:cNvPr id="10" name="Text 8"/>
          <p:cNvSpPr/>
          <p:nvPr/>
        </p:nvSpPr>
        <p:spPr>
          <a:xfrm>
            <a:off x="4588907" y="1534161"/>
            <a:ext cx="1207008" cy="332740"/>
          </a:xfrm>
          <a:prstGeom prst="rect">
            <a:avLst/>
          </a:prstGeom>
          <a:noFill/>
          <a:ln/>
        </p:spPr>
        <p:txBody>
          <a:bodyPr wrap="square" lIns="0" tIns="0" rIns="0" bIns="0" rtlCol="0" anchor="t">
            <a:normAutofit/>
          </a:bodyPr>
          <a:lstStyle/>
          <a:p>
            <a:pPr marL="0" indent="0" algn="l">
              <a:lnSpc>
                <a:spcPts val="2420"/>
              </a:lnSpc>
              <a:buNone/>
            </a:pPr>
            <a:r>
              <a:rPr lang="en-US" sz="2200" b="1" dirty="0">
                <a:solidFill>
                  <a:srgbClr val="EA580C"/>
                </a:solidFill>
                <a:latin typeface="JetBrains Mono" pitchFamily="49" charset="0"/>
                <a:ea typeface="JetBrains Mono" pitchFamily="49" charset="-122"/>
                <a:cs typeface="JetBrains Mono" pitchFamily="49" charset="-120"/>
              </a:rPr>
              <a:t>3.8M</a:t>
            </a:r>
            <a:endParaRPr lang="en-US" sz="2200" dirty="0"/>
          </a:p>
        </p:txBody>
      </p:sp>
      <p:sp>
        <p:nvSpPr>
          <p:cNvPr id="11" name="Text 9"/>
          <p:cNvSpPr/>
          <p:nvPr/>
        </p:nvSpPr>
        <p:spPr>
          <a:xfrm>
            <a:off x="4588907" y="1866900"/>
            <a:ext cx="3156936" cy="4064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475569"/>
                </a:solidFill>
                <a:latin typeface="Space Grotesk" pitchFamily="34" charset="0"/>
                <a:ea typeface="Space Grotesk" pitchFamily="34" charset="-122"/>
                <a:cs typeface="Space Grotesk" pitchFamily="34" charset="-120"/>
              </a:rPr>
              <a:t>tons of multi-layered packaging waste a year (CSE) </a:t>
            </a:r>
            <a:r>
              <a:rPr lang="en-US" sz="1200" b="1" u="sng" dirty="0">
                <a:solidFill>
                  <a:srgbClr val="EA580C"/>
                </a:solidFill>
                <a:latin typeface="Space Grotesk" pitchFamily="34" charset="0"/>
                <a:ea typeface="Space Grotesk" pitchFamily="34" charset="-122"/>
                <a:cs typeface="Space Grotesk" pitchFamily="34" charset="-120"/>
                <a:hlinkClick r:id="rId3">
                  <a:extLst>
                    <a:ext uri="{A12FA001-AC4F-418D-AE19-62706E023703}">
                      <ahyp:hlinkClr xmlns:ahyp="http://schemas.microsoft.com/office/drawing/2018/hyperlinkcolor" val="tx"/>
                    </a:ext>
                  </a:extLst>
                </a:hlinkClick>
              </a:rPr>
              <a:t>src ↗</a:t>
            </a:r>
            <a:endParaRPr lang="en-US" sz="1200" dirty="0"/>
          </a:p>
        </p:txBody>
      </p:sp>
      <p:sp>
        <p:nvSpPr>
          <p:cNvPr id="12" name="Shape 10"/>
          <p:cNvSpPr/>
          <p:nvPr/>
        </p:nvSpPr>
        <p:spPr>
          <a:xfrm>
            <a:off x="7958693" y="1419861"/>
            <a:ext cx="3420507" cy="942340"/>
          </a:xfrm>
          <a:prstGeom prst="roundRect">
            <a:avLst>
              <a:gd name="adj" fmla="val 8086"/>
            </a:avLst>
          </a:prstGeom>
          <a:solidFill>
            <a:srgbClr val="FFFFFF"/>
          </a:solidFill>
          <a:ln/>
        </p:spPr>
      </p:sp>
      <p:sp>
        <p:nvSpPr>
          <p:cNvPr id="13" name="Shape 11"/>
          <p:cNvSpPr/>
          <p:nvPr/>
        </p:nvSpPr>
        <p:spPr>
          <a:xfrm>
            <a:off x="7958693" y="1419861"/>
            <a:ext cx="3420507" cy="942340"/>
          </a:xfrm>
          <a:custGeom>
            <a:avLst/>
            <a:gdLst/>
            <a:ahLst/>
            <a:cxnLst/>
            <a:rect l="l" t="t" r="r" b="b"/>
            <a:pathLst>
              <a:path w="3420507" h="942340">
                <a:moveTo>
                  <a:pt x="76200" y="942340"/>
                </a:moveTo>
                <a:lnTo>
                  <a:pt x="76200" y="942340"/>
                </a:lnTo>
                <a:arcTo wR="76200" hR="76200" stAng="5400000" swAng="5400000"/>
                <a:lnTo>
                  <a:pt x="0" y="76200"/>
                </a:lnTo>
                <a:arcTo wR="76200" hR="76200" stAng="10800000" swAng="5400000"/>
                <a:lnTo>
                  <a:pt x="76200" y="0"/>
                </a:lnTo>
                <a:arcTo wR="25400" hR="76200" stAng="16200000" swAng="-5400000"/>
                <a:lnTo>
                  <a:pt x="50800" y="866140"/>
                </a:lnTo>
                <a:arcTo wR="25400" hR="76200" stAng="10800000" swAng="-5400000"/>
                <a:close/>
              </a:path>
            </a:pathLst>
          </a:custGeom>
          <a:solidFill>
            <a:srgbClr val="EA580C"/>
          </a:solidFill>
          <a:ln/>
        </p:spPr>
      </p:sp>
      <p:sp>
        <p:nvSpPr>
          <p:cNvPr id="14" name="Text 12"/>
          <p:cNvSpPr/>
          <p:nvPr/>
        </p:nvSpPr>
        <p:spPr>
          <a:xfrm>
            <a:off x="8161893" y="1534161"/>
            <a:ext cx="603504" cy="332740"/>
          </a:xfrm>
          <a:prstGeom prst="rect">
            <a:avLst/>
          </a:prstGeom>
          <a:noFill/>
          <a:ln/>
        </p:spPr>
        <p:txBody>
          <a:bodyPr wrap="square" lIns="0" tIns="0" rIns="0" bIns="0" rtlCol="0" anchor="t">
            <a:normAutofit/>
          </a:bodyPr>
          <a:lstStyle/>
          <a:p>
            <a:pPr marL="0" indent="0" algn="l">
              <a:lnSpc>
                <a:spcPts val="2420"/>
              </a:lnSpc>
              <a:buNone/>
            </a:pPr>
            <a:r>
              <a:rPr lang="en-US" sz="2200" b="1" dirty="0">
                <a:solidFill>
                  <a:srgbClr val="EA580C"/>
                </a:solidFill>
                <a:latin typeface="JetBrains Mono" pitchFamily="49" charset="0"/>
                <a:ea typeface="JetBrains Mono" pitchFamily="49" charset="-122"/>
                <a:cs typeface="JetBrains Mono" pitchFamily="49" charset="-120"/>
              </a:rPr>
              <a:t>82%</a:t>
            </a:r>
            <a:endParaRPr lang="en-US" sz="2200" dirty="0"/>
          </a:p>
        </p:txBody>
      </p:sp>
      <p:sp>
        <p:nvSpPr>
          <p:cNvPr id="15" name="Text 13"/>
          <p:cNvSpPr/>
          <p:nvPr/>
        </p:nvSpPr>
        <p:spPr>
          <a:xfrm>
            <a:off x="8161893" y="1866900"/>
            <a:ext cx="3156854" cy="4064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475569"/>
                </a:solidFill>
                <a:latin typeface="Space Grotesk" pitchFamily="34" charset="0"/>
                <a:ea typeface="Space Grotesk" pitchFamily="34" charset="-122"/>
                <a:cs typeface="Space Grotesk" pitchFamily="34" charset="-120"/>
              </a:rPr>
              <a:t>low-value dry waste at Bengaluru dry waste centres </a:t>
            </a:r>
            <a:r>
              <a:rPr lang="en-US" sz="1200" b="1" u="sng" dirty="0">
                <a:solidFill>
                  <a:srgbClr val="EA580C"/>
                </a:solidFill>
                <a:latin typeface="Space Grotesk" pitchFamily="34" charset="0"/>
                <a:ea typeface="Space Grotesk" pitchFamily="34" charset="-122"/>
                <a:cs typeface="Space Grotesk" pitchFamily="34" charset="-120"/>
                <a:hlinkClick r:id="rId4">
                  <a:extLst>
                    <a:ext uri="{A12FA001-AC4F-418D-AE19-62706E023703}">
                      <ahyp:hlinkClr xmlns:ahyp="http://schemas.microsoft.com/office/drawing/2018/hyperlinkcolor" val="tx"/>
                    </a:ext>
                  </a:extLst>
                </a:hlinkClick>
              </a:rPr>
              <a:t>src ↗</a:t>
            </a:r>
            <a:endParaRPr lang="en-US" sz="1200" dirty="0"/>
          </a:p>
        </p:txBody>
      </p:sp>
      <p:pic>
        <p:nvPicPr>
          <p:cNvPr id="16" name="Image 0"/>
          <p:cNvPicPr>
            <a:picLocks noChangeAspect="1"/>
          </p:cNvPicPr>
          <p:nvPr/>
        </p:nvPicPr>
        <p:blipFill>
          <a:blip r:embed="rId5"/>
          <a:srcRect/>
          <a:stretch/>
        </p:blipFill>
        <p:spPr>
          <a:xfrm>
            <a:off x="812800" y="2649854"/>
            <a:ext cx="2794000" cy="2265045"/>
          </a:xfrm>
          <a:prstGeom prst="rect">
            <a:avLst/>
          </a:prstGeom>
        </p:spPr>
      </p:pic>
      <p:sp>
        <p:nvSpPr>
          <p:cNvPr id="18" name="Shape 15"/>
          <p:cNvSpPr/>
          <p:nvPr/>
        </p:nvSpPr>
        <p:spPr>
          <a:xfrm>
            <a:off x="3762375" y="2543175"/>
            <a:ext cx="3727450" cy="2894965"/>
          </a:xfrm>
          <a:prstGeom prst="roundRect">
            <a:avLst>
              <a:gd name="adj" fmla="val 3400"/>
            </a:avLst>
          </a:prstGeom>
          <a:solidFill>
            <a:srgbClr val="FFFFFF"/>
          </a:solidFill>
          <a:ln w="6350">
            <a:solidFill>
              <a:srgbClr val="E2E8F0"/>
            </a:solidFill>
            <a:prstDash val="solid"/>
          </a:ln>
        </p:spPr>
      </p:sp>
      <p:sp>
        <p:nvSpPr>
          <p:cNvPr id="19" name="Text 16"/>
          <p:cNvSpPr/>
          <p:nvPr/>
        </p:nvSpPr>
        <p:spPr>
          <a:xfrm>
            <a:off x="3942080" y="2697480"/>
            <a:ext cx="3469081"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EA580C"/>
                </a:solidFill>
                <a:latin typeface="JetBrains Mono" pitchFamily="49" charset="0"/>
                <a:ea typeface="JetBrains Mono" pitchFamily="49" charset="-122"/>
                <a:cs typeface="JetBrains Mono" pitchFamily="49" charset="-120"/>
              </a:rPr>
              <a:t>INDIA · WHY IT MATTERS</a:t>
            </a:r>
            <a:endParaRPr lang="en-US" sz="1200" dirty="0"/>
          </a:p>
        </p:txBody>
      </p:sp>
      <p:sp>
        <p:nvSpPr>
          <p:cNvPr id="20" name="Text 17"/>
          <p:cNvSpPr/>
          <p:nvPr/>
        </p:nvSpPr>
        <p:spPr>
          <a:xfrm>
            <a:off x="3942080" y="2974341"/>
            <a:ext cx="3469081" cy="259080"/>
          </a:xfrm>
          <a:prstGeom prst="rect">
            <a:avLst/>
          </a:prstGeom>
          <a:noFill/>
          <a:ln/>
        </p:spPr>
        <p:txBody>
          <a:bodyPr wrap="square" lIns="0" tIns="0" rIns="0" bIns="0" rtlCol="0" anchor="t">
            <a:normAutofit/>
          </a:bodyPr>
          <a:lstStyle/>
          <a:p>
            <a:pPr marL="0" indent="0" algn="l">
              <a:lnSpc>
                <a:spcPts val="1840"/>
              </a:lnSpc>
              <a:buNone/>
            </a:pPr>
            <a:r>
              <a:rPr lang="en-US" sz="1600" b="1" dirty="0">
                <a:solidFill>
                  <a:srgbClr val="0F172A"/>
                </a:solidFill>
                <a:latin typeface="Space Grotesk" pitchFamily="34" charset="0"/>
                <a:ea typeface="Space Grotesk" pitchFamily="34" charset="-122"/>
                <a:cs typeface="Space Grotesk" pitchFamily="34" charset="-120"/>
              </a:rPr>
              <a:t>Film has little resale value</a:t>
            </a:r>
            <a:endParaRPr lang="en-US" sz="1600" dirty="0"/>
          </a:p>
        </p:txBody>
      </p:sp>
      <p:sp>
        <p:nvSpPr>
          <p:cNvPr id="21" name="Text 18"/>
          <p:cNvSpPr/>
          <p:nvPr/>
        </p:nvSpPr>
        <p:spPr>
          <a:xfrm>
            <a:off x="3942080" y="3271520"/>
            <a:ext cx="3469081" cy="105410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75569"/>
                </a:solidFill>
                <a:latin typeface="Space Grotesk" pitchFamily="34" charset="0"/>
                <a:ea typeface="Space Grotesk" pitchFamily="34" charset="-122"/>
                <a:cs typeface="Space Grotesk" pitchFamily="34" charset="-120"/>
              </a:rPr>
              <a:t>Carry bags, multi-layer packs and films fetch low prices in India’s recycling market, and only about 46% of plastic waste was recycled in 2019-20. No Indian jam-time figures found.</a:t>
            </a:r>
            <a:endParaRPr lang="en-US" sz="1200" dirty="0"/>
          </a:p>
        </p:txBody>
      </p:sp>
      <p:sp>
        <p:nvSpPr>
          <p:cNvPr id="22" name="Text 19"/>
          <p:cNvSpPr/>
          <p:nvPr/>
        </p:nvSpPr>
        <p:spPr>
          <a:xfrm>
            <a:off x="3942080" y="4363720"/>
            <a:ext cx="3469081" cy="256540"/>
          </a:xfrm>
          <a:prstGeom prst="rect">
            <a:avLst/>
          </a:prstGeom>
          <a:noFill/>
          <a:ln/>
        </p:spPr>
        <p:txBody>
          <a:bodyPr wrap="square" lIns="0" tIns="0" rIns="0" bIns="0" rtlCol="0" anchor="t">
            <a:normAutofit/>
          </a:bodyPr>
          <a:lstStyle/>
          <a:p>
            <a:pPr marL="0" indent="0" algn="l">
              <a:lnSpc>
                <a:spcPts val="1820"/>
              </a:lnSpc>
              <a:buNone/>
            </a:pPr>
            <a:r>
              <a:rPr lang="en-US" sz="1300" b="1" u="sng" dirty="0">
                <a:solidFill>
                  <a:srgbClr val="EA580C"/>
                </a:solidFill>
                <a:latin typeface="Space Grotesk" pitchFamily="34" charset="0"/>
                <a:ea typeface="Space Grotesk" pitchFamily="34" charset="-122"/>
                <a:cs typeface="Space Grotesk" pitchFamily="34" charset="-120"/>
                <a:hlinkClick r:id="rId6">
                  <a:extLst>
                    <a:ext uri="{A12FA001-AC4F-418D-AE19-62706E023703}">
                      <ahyp:hlinkClr xmlns:ahyp="http://schemas.microsoft.com/office/drawing/2018/hyperlinkcolor" val="tx"/>
                    </a:ext>
                  </a:extLst>
                </a:hlinkClick>
              </a:rPr>
              <a:t>Read MoEFCC reply ↗</a:t>
            </a:r>
            <a:endParaRPr lang="en-US" sz="1300" dirty="0"/>
          </a:p>
        </p:txBody>
      </p:sp>
      <p:sp>
        <p:nvSpPr>
          <p:cNvPr id="23" name="Shape 20"/>
          <p:cNvSpPr/>
          <p:nvPr/>
        </p:nvSpPr>
        <p:spPr>
          <a:xfrm>
            <a:off x="7648575" y="2543175"/>
            <a:ext cx="3727450" cy="2894965"/>
          </a:xfrm>
          <a:prstGeom prst="roundRect">
            <a:avLst>
              <a:gd name="adj" fmla="val 3400"/>
            </a:avLst>
          </a:prstGeom>
          <a:solidFill>
            <a:srgbClr val="FFFFFF"/>
          </a:solidFill>
          <a:ln w="6350">
            <a:solidFill>
              <a:srgbClr val="E2E8F0"/>
            </a:solidFill>
            <a:prstDash val="solid"/>
          </a:ln>
        </p:spPr>
      </p:sp>
      <p:sp>
        <p:nvSpPr>
          <p:cNvPr id="24" name="Text 21"/>
          <p:cNvSpPr/>
          <p:nvPr/>
        </p:nvSpPr>
        <p:spPr>
          <a:xfrm>
            <a:off x="7828280" y="2697480"/>
            <a:ext cx="3469081"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EA580C"/>
                </a:solidFill>
                <a:latin typeface="JetBrains Mono" pitchFamily="49" charset="0"/>
                <a:ea typeface="JetBrains Mono" pitchFamily="49" charset="-122"/>
                <a:cs typeface="JetBrains Mono" pitchFamily="49" charset="-120"/>
              </a:rPr>
              <a:t>US · MINNESOTA</a:t>
            </a:r>
            <a:endParaRPr lang="en-US" sz="1200" dirty="0"/>
          </a:p>
        </p:txBody>
      </p:sp>
      <p:sp>
        <p:nvSpPr>
          <p:cNvPr id="25" name="Text 22"/>
          <p:cNvSpPr/>
          <p:nvPr/>
        </p:nvSpPr>
        <p:spPr>
          <a:xfrm>
            <a:off x="7828280" y="2974341"/>
            <a:ext cx="3469081" cy="259080"/>
          </a:xfrm>
          <a:prstGeom prst="rect">
            <a:avLst/>
          </a:prstGeom>
          <a:noFill/>
          <a:ln/>
        </p:spPr>
        <p:txBody>
          <a:bodyPr wrap="square" lIns="0" tIns="0" rIns="0" bIns="0" rtlCol="0" anchor="t">
            <a:normAutofit/>
          </a:bodyPr>
          <a:lstStyle/>
          <a:p>
            <a:pPr marL="0" indent="0" algn="l">
              <a:lnSpc>
                <a:spcPts val="1840"/>
              </a:lnSpc>
              <a:buNone/>
            </a:pPr>
            <a:r>
              <a:rPr lang="en-US" sz="1600" b="1" dirty="0">
                <a:solidFill>
                  <a:srgbClr val="0F172A"/>
                </a:solidFill>
                <a:latin typeface="Space Grotesk" pitchFamily="34" charset="0"/>
                <a:ea typeface="Space Grotesk" pitchFamily="34" charset="-122"/>
                <a:cs typeface="Space Grotesk" pitchFamily="34" charset="-120"/>
              </a:rPr>
              <a:t>Film wraps the screens</a:t>
            </a:r>
            <a:endParaRPr lang="en-US" sz="1600" dirty="0"/>
          </a:p>
        </p:txBody>
      </p:sp>
      <p:sp>
        <p:nvSpPr>
          <p:cNvPr id="26" name="Text 23"/>
          <p:cNvSpPr/>
          <p:nvPr/>
        </p:nvSpPr>
        <p:spPr>
          <a:xfrm>
            <a:off x="7828280" y="3271520"/>
            <a:ext cx="3469081" cy="84836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75569"/>
                </a:solidFill>
                <a:latin typeface="Space Grotesk" pitchFamily="34" charset="0"/>
                <a:ea typeface="Space Grotesk" pitchFamily="34" charset="-122"/>
                <a:cs typeface="Space Grotesk" pitchFamily="34" charset="-120"/>
              </a:rPr>
              <a:t>Eureka Recycling shuts down about 2 hours a day to cut bags out; film was 29–38% of screen contaminants. One Chicago MRF spends $9,500 a month on untangling labour.</a:t>
            </a:r>
            <a:endParaRPr lang="en-US" sz="1200" dirty="0"/>
          </a:p>
        </p:txBody>
      </p:sp>
      <p:sp>
        <p:nvSpPr>
          <p:cNvPr id="27" name="Text 24"/>
          <p:cNvSpPr/>
          <p:nvPr/>
        </p:nvSpPr>
        <p:spPr>
          <a:xfrm>
            <a:off x="7828280" y="4157980"/>
            <a:ext cx="3469081" cy="256540"/>
          </a:xfrm>
          <a:prstGeom prst="rect">
            <a:avLst/>
          </a:prstGeom>
          <a:noFill/>
          <a:ln/>
        </p:spPr>
        <p:txBody>
          <a:bodyPr wrap="square" lIns="0" tIns="0" rIns="0" bIns="0" rtlCol="0" anchor="t">
            <a:normAutofit/>
          </a:bodyPr>
          <a:lstStyle/>
          <a:p>
            <a:pPr marL="0" indent="0" algn="l">
              <a:lnSpc>
                <a:spcPts val="1820"/>
              </a:lnSpc>
              <a:buNone/>
            </a:pPr>
            <a:r>
              <a:rPr lang="en-US" sz="1300" b="1" u="sng" dirty="0">
                <a:solidFill>
                  <a:srgbClr val="EA580C"/>
                </a:solidFill>
                <a:latin typeface="Space Grotesk" pitchFamily="34" charset="0"/>
                <a:ea typeface="Space Grotesk" pitchFamily="34" charset="-122"/>
                <a:cs typeface="Space Grotesk" pitchFamily="34" charset="-120"/>
                <a:hlinkClick r:id="rId7">
                  <a:extLst>
                    <a:ext uri="{A12FA001-AC4F-418D-AE19-62706E023703}">
                      <ahyp:hlinkClr xmlns:ahyp="http://schemas.microsoft.com/office/drawing/2018/hyperlinkcolor" val="tx"/>
                    </a:ext>
                  </a:extLst>
                </a:hlinkClick>
              </a:rPr>
              <a:t>Read testimony ↗</a:t>
            </a:r>
            <a:endParaRPr lang="en-US" sz="1300" dirty="0"/>
          </a:p>
        </p:txBody>
      </p:sp>
      <p:sp>
        <p:nvSpPr>
          <p:cNvPr id="28" name="Shape 25"/>
          <p:cNvSpPr/>
          <p:nvPr/>
        </p:nvSpPr>
        <p:spPr>
          <a:xfrm>
            <a:off x="812800" y="5619114"/>
            <a:ext cx="10566400" cy="629285"/>
          </a:xfrm>
          <a:prstGeom prst="roundRect">
            <a:avLst>
              <a:gd name="adj" fmla="val 12109"/>
            </a:avLst>
          </a:prstGeom>
          <a:solidFill>
            <a:srgbClr val="059669"/>
          </a:solidFill>
          <a:ln/>
        </p:spPr>
      </p:sp>
      <p:sp>
        <p:nvSpPr>
          <p:cNvPr id="29" name="Text 26"/>
          <p:cNvSpPr/>
          <p:nvPr/>
        </p:nvSpPr>
        <p:spPr>
          <a:xfrm>
            <a:off x="990600" y="5708014"/>
            <a:ext cx="10517124"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FFFFF"/>
                </a:solidFill>
                <a:latin typeface="JetBrains Mono" pitchFamily="49" charset="0"/>
                <a:ea typeface="JetBrains Mono" pitchFamily="49" charset="-122"/>
                <a:cs typeface="JetBrains Mono" pitchFamily="49" charset="-120"/>
              </a:rPr>
              <a:t>SMART MRF RESPONSE</a:t>
            </a:r>
            <a:endParaRPr lang="en-US" sz="1200" dirty="0"/>
          </a:p>
        </p:txBody>
      </p:sp>
      <p:sp>
        <p:nvSpPr>
          <p:cNvPr id="30" name="Text 27"/>
          <p:cNvSpPr/>
          <p:nvPr/>
        </p:nvSpPr>
        <p:spPr>
          <a:xfrm>
            <a:off x="990600" y="5921375"/>
            <a:ext cx="10517124" cy="263525"/>
          </a:xfrm>
          <a:prstGeom prst="rect">
            <a:avLst/>
          </a:prstGeom>
          <a:noFill/>
          <a:ln/>
        </p:spPr>
        <p:txBody>
          <a:bodyPr wrap="square" lIns="0" tIns="0" rIns="0" bIns="0" rtlCol="0" anchor="t">
            <a:normAutofit/>
          </a:bodyPr>
          <a:lstStyle/>
          <a:p>
            <a:pPr marL="0" indent="0" algn="l">
              <a:lnSpc>
                <a:spcPts val="1875"/>
              </a:lnSpc>
              <a:buNone/>
            </a:pPr>
            <a:r>
              <a:rPr lang="en-US" sz="1500" b="1" dirty="0">
                <a:solidFill>
                  <a:srgbClr val="FFFFFF"/>
                </a:solidFill>
                <a:latin typeface="Space Grotesk" pitchFamily="34" charset="0"/>
                <a:ea typeface="Space Grotesk" pitchFamily="34" charset="-122"/>
                <a:cs typeface="Space Grotesk" pitchFamily="34" charset="-120"/>
              </a:rPr>
              <a:t>Track the plastic_bag share on the belt and warn operators before a surge reaches the screens.</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59669"/>
                </a:solidFill>
                <a:latin typeface="JetBrains Mono" pitchFamily="49" charset="0"/>
                <a:ea typeface="JetBrains Mono" pitchFamily="49" charset="-122"/>
                <a:cs typeface="JetBrains Mono" pitchFamily="49" charset="-120"/>
              </a:rPr>
              <a:t>PROBLEM 3 · PURITY</a:t>
            </a:r>
            <a:endParaRPr lang="en-US" sz="1200" dirty="0"/>
          </a:p>
        </p:txBody>
      </p:sp>
      <p:sp>
        <p:nvSpPr>
          <p:cNvPr id="3" name="Text 1"/>
          <p:cNvSpPr>
            <a:spLocks noGrp="1"/>
          </p:cNvSpPr>
          <p:nvPr>
            <p:ph type="title"/>
          </p:nvPr>
        </p:nvSpPr>
        <p:spPr>
          <a:xfrm>
            <a:off x="812800" y="822961"/>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0F172A"/>
                </a:solidFill>
                <a:latin typeface="Space Grotesk" pitchFamily="34" charset="0"/>
                <a:ea typeface="Space Grotesk" pitchFamily="34" charset="-122"/>
                <a:cs typeface="Space Grotesk" pitchFamily="34" charset="-120"/>
              </a:rPr>
              <a:t>Purity Is Measured Too Late</a:t>
            </a:r>
            <a:endParaRPr lang="en-US" sz="3000" dirty="0"/>
          </a:p>
        </p:txBody>
      </p:sp>
      <p:sp>
        <p:nvSpPr>
          <p:cNvPr id="4" name="Shape 2"/>
          <p:cNvSpPr/>
          <p:nvPr/>
        </p:nvSpPr>
        <p:spPr>
          <a:xfrm>
            <a:off x="812800" y="1422400"/>
            <a:ext cx="3420507" cy="946150"/>
          </a:xfrm>
          <a:prstGeom prst="roundRect">
            <a:avLst>
              <a:gd name="adj" fmla="val 8054"/>
            </a:avLst>
          </a:prstGeom>
          <a:solidFill>
            <a:srgbClr val="FFFFFF"/>
          </a:solidFill>
          <a:ln/>
        </p:spPr>
      </p:sp>
      <p:sp>
        <p:nvSpPr>
          <p:cNvPr id="5" name="Shape 3"/>
          <p:cNvSpPr/>
          <p:nvPr/>
        </p:nvSpPr>
        <p:spPr>
          <a:xfrm>
            <a:off x="812800" y="1422400"/>
            <a:ext cx="3420507" cy="946150"/>
          </a:xfrm>
          <a:custGeom>
            <a:avLst/>
            <a:gdLst/>
            <a:ahLst/>
            <a:cxnLst/>
            <a:rect l="l" t="t" r="r" b="b"/>
            <a:pathLst>
              <a:path w="3420507" h="946150">
                <a:moveTo>
                  <a:pt x="76200" y="946150"/>
                </a:moveTo>
                <a:lnTo>
                  <a:pt x="76200" y="946150"/>
                </a:lnTo>
                <a:arcTo wR="76200" hR="76200" stAng="5400000" swAng="5400000"/>
                <a:lnTo>
                  <a:pt x="0" y="76200"/>
                </a:lnTo>
                <a:arcTo wR="76200" hR="76200" stAng="10800000" swAng="5400000"/>
                <a:lnTo>
                  <a:pt x="76200" y="0"/>
                </a:lnTo>
                <a:arcTo wR="25400" hR="76200" stAng="16200000" swAng="-5400000"/>
                <a:lnTo>
                  <a:pt x="50800" y="869950"/>
                </a:lnTo>
                <a:arcTo wR="25400" hR="76200" stAng="10800000" swAng="-5400000"/>
                <a:close/>
              </a:path>
            </a:pathLst>
          </a:custGeom>
          <a:solidFill>
            <a:srgbClr val="059669"/>
          </a:solidFill>
          <a:ln/>
        </p:spPr>
      </p:sp>
      <p:sp>
        <p:nvSpPr>
          <p:cNvPr id="6" name="Text 4"/>
          <p:cNvSpPr/>
          <p:nvPr/>
        </p:nvSpPr>
        <p:spPr>
          <a:xfrm>
            <a:off x="1016000" y="1536700"/>
            <a:ext cx="1207008" cy="332740"/>
          </a:xfrm>
          <a:prstGeom prst="rect">
            <a:avLst/>
          </a:prstGeom>
          <a:noFill/>
          <a:ln/>
        </p:spPr>
        <p:txBody>
          <a:bodyPr wrap="square" lIns="0" tIns="0" rIns="0" bIns="0" rtlCol="0" anchor="t">
            <a:normAutofit/>
          </a:bodyPr>
          <a:lstStyle/>
          <a:p>
            <a:pPr marL="0" indent="0" algn="l">
              <a:lnSpc>
                <a:spcPts val="2420"/>
              </a:lnSpc>
              <a:buNone/>
            </a:pPr>
            <a:r>
              <a:rPr lang="en-US" sz="2200" b="1" dirty="0">
                <a:solidFill>
                  <a:srgbClr val="059669"/>
                </a:solidFill>
                <a:latin typeface="JetBrains Mono" pitchFamily="49" charset="0"/>
                <a:ea typeface="JetBrains Mono" pitchFamily="49" charset="-122"/>
                <a:cs typeface="JetBrains Mono" pitchFamily="49" charset="-120"/>
              </a:rPr>
              <a:t>30–35%</a:t>
            </a:r>
            <a:endParaRPr lang="en-US" sz="2200" dirty="0"/>
          </a:p>
        </p:txBody>
      </p:sp>
      <p:sp>
        <p:nvSpPr>
          <p:cNvPr id="7" name="Text 5"/>
          <p:cNvSpPr/>
          <p:nvPr/>
        </p:nvSpPr>
        <p:spPr>
          <a:xfrm>
            <a:off x="1016000" y="1869439"/>
            <a:ext cx="3156854" cy="4064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475569"/>
                </a:solidFill>
                <a:latin typeface="Space Grotesk" pitchFamily="34" charset="0"/>
                <a:ea typeface="Space Grotesk" pitchFamily="34" charset="-122"/>
                <a:cs typeface="Space Grotesk" pitchFamily="34" charset="-120"/>
              </a:rPr>
              <a:t>of India’s municipal waste is scientifically segregated (CPCB) </a:t>
            </a:r>
            <a:r>
              <a:rPr lang="en-US" sz="1200" b="1" u="sng" dirty="0">
                <a:solidFill>
                  <a:srgbClr val="059669"/>
                </a:solidFill>
                <a:latin typeface="Space Grotesk" pitchFamily="34" charset="0"/>
                <a:ea typeface="Space Grotesk" pitchFamily="34" charset="-122"/>
                <a:cs typeface="Space Grotesk" pitchFamily="34" charset="-120"/>
                <a:hlinkClick r:id="rId3">
                  <a:extLst>
                    <a:ext uri="{A12FA001-AC4F-418D-AE19-62706E023703}">
                      <ahyp:hlinkClr xmlns:ahyp="http://schemas.microsoft.com/office/drawing/2018/hyperlinkcolor" val="tx"/>
                    </a:ext>
                  </a:extLst>
                </a:hlinkClick>
              </a:rPr>
              <a:t>src ↗</a:t>
            </a:r>
            <a:endParaRPr lang="en-US" sz="1200" dirty="0"/>
          </a:p>
        </p:txBody>
      </p:sp>
      <p:sp>
        <p:nvSpPr>
          <p:cNvPr id="8" name="Shape 6"/>
          <p:cNvSpPr/>
          <p:nvPr/>
        </p:nvSpPr>
        <p:spPr>
          <a:xfrm>
            <a:off x="4385707" y="1422400"/>
            <a:ext cx="3420586" cy="946150"/>
          </a:xfrm>
          <a:prstGeom prst="roundRect">
            <a:avLst>
              <a:gd name="adj" fmla="val 8054"/>
            </a:avLst>
          </a:prstGeom>
          <a:solidFill>
            <a:srgbClr val="FFFFFF"/>
          </a:solidFill>
          <a:ln/>
        </p:spPr>
      </p:sp>
      <p:sp>
        <p:nvSpPr>
          <p:cNvPr id="9" name="Shape 7"/>
          <p:cNvSpPr/>
          <p:nvPr/>
        </p:nvSpPr>
        <p:spPr>
          <a:xfrm>
            <a:off x="4385707" y="1422400"/>
            <a:ext cx="3420586" cy="946150"/>
          </a:xfrm>
          <a:custGeom>
            <a:avLst/>
            <a:gdLst/>
            <a:ahLst/>
            <a:cxnLst/>
            <a:rect l="l" t="t" r="r" b="b"/>
            <a:pathLst>
              <a:path w="3420586" h="946150">
                <a:moveTo>
                  <a:pt x="76200" y="946150"/>
                </a:moveTo>
                <a:lnTo>
                  <a:pt x="76200" y="946150"/>
                </a:lnTo>
                <a:arcTo wR="76200" hR="76200" stAng="5400000" swAng="5400000"/>
                <a:lnTo>
                  <a:pt x="0" y="76200"/>
                </a:lnTo>
                <a:arcTo wR="76200" hR="76200" stAng="10800000" swAng="5400000"/>
                <a:lnTo>
                  <a:pt x="76200" y="0"/>
                </a:lnTo>
                <a:arcTo wR="25400" hR="76200" stAng="16200000" swAng="-5400000"/>
                <a:lnTo>
                  <a:pt x="50800" y="869950"/>
                </a:lnTo>
                <a:arcTo wR="25400" hR="76200" stAng="10800000" swAng="-5400000"/>
                <a:close/>
              </a:path>
            </a:pathLst>
          </a:custGeom>
          <a:solidFill>
            <a:srgbClr val="059669"/>
          </a:solidFill>
          <a:ln/>
        </p:spPr>
      </p:sp>
      <p:sp>
        <p:nvSpPr>
          <p:cNvPr id="10" name="Text 8"/>
          <p:cNvSpPr/>
          <p:nvPr/>
        </p:nvSpPr>
        <p:spPr>
          <a:xfrm>
            <a:off x="4588907" y="1536700"/>
            <a:ext cx="603504" cy="332740"/>
          </a:xfrm>
          <a:prstGeom prst="rect">
            <a:avLst/>
          </a:prstGeom>
          <a:noFill/>
          <a:ln/>
        </p:spPr>
        <p:txBody>
          <a:bodyPr wrap="square" lIns="0" tIns="0" rIns="0" bIns="0" rtlCol="0" anchor="t">
            <a:normAutofit/>
          </a:bodyPr>
          <a:lstStyle/>
          <a:p>
            <a:pPr marL="0" indent="0" algn="l">
              <a:lnSpc>
                <a:spcPts val="2420"/>
              </a:lnSpc>
              <a:buNone/>
            </a:pPr>
            <a:r>
              <a:rPr lang="en-US" sz="2200" b="1" dirty="0">
                <a:solidFill>
                  <a:srgbClr val="059669"/>
                </a:solidFill>
                <a:latin typeface="JetBrains Mono" pitchFamily="49" charset="0"/>
                <a:ea typeface="JetBrains Mono" pitchFamily="49" charset="-122"/>
                <a:cs typeface="JetBrains Mono" pitchFamily="49" charset="-120"/>
              </a:rPr>
              <a:t>57%</a:t>
            </a:r>
            <a:endParaRPr lang="en-US" sz="2200" dirty="0"/>
          </a:p>
        </p:txBody>
      </p:sp>
      <p:sp>
        <p:nvSpPr>
          <p:cNvPr id="11" name="Text 9"/>
          <p:cNvSpPr/>
          <p:nvPr/>
        </p:nvSpPr>
        <p:spPr>
          <a:xfrm>
            <a:off x="4588907" y="1869439"/>
            <a:ext cx="3156936" cy="4064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475569"/>
                </a:solidFill>
                <a:latin typeface="Space Grotesk" pitchFamily="34" charset="0"/>
                <a:ea typeface="Space Grotesk" pitchFamily="34" charset="-122"/>
                <a:cs typeface="Space Grotesk" pitchFamily="34" charset="-120"/>
              </a:rPr>
              <a:t>average source segregation in Delhi’s MCD areas (2023) </a:t>
            </a:r>
            <a:r>
              <a:rPr lang="en-US" sz="1200" b="1" u="sng" dirty="0">
                <a:solidFill>
                  <a:srgbClr val="059669"/>
                </a:solidFill>
                <a:latin typeface="Space Grotesk" pitchFamily="34" charset="0"/>
                <a:ea typeface="Space Grotesk" pitchFamily="34" charset="-122"/>
                <a:cs typeface="Space Grotesk" pitchFamily="34" charset="-120"/>
                <a:hlinkClick r:id="rId4">
                  <a:extLst>
                    <a:ext uri="{A12FA001-AC4F-418D-AE19-62706E023703}">
                      <ahyp:hlinkClr xmlns:ahyp="http://schemas.microsoft.com/office/drawing/2018/hyperlinkcolor" val="tx"/>
                    </a:ext>
                  </a:extLst>
                </a:hlinkClick>
              </a:rPr>
              <a:t>src ↗</a:t>
            </a:r>
            <a:endParaRPr lang="en-US" sz="1200" dirty="0"/>
          </a:p>
        </p:txBody>
      </p:sp>
      <p:sp>
        <p:nvSpPr>
          <p:cNvPr id="12" name="Shape 10"/>
          <p:cNvSpPr/>
          <p:nvPr/>
        </p:nvSpPr>
        <p:spPr>
          <a:xfrm>
            <a:off x="7958693" y="1422400"/>
            <a:ext cx="3420507" cy="946150"/>
          </a:xfrm>
          <a:prstGeom prst="roundRect">
            <a:avLst>
              <a:gd name="adj" fmla="val 8054"/>
            </a:avLst>
          </a:prstGeom>
          <a:solidFill>
            <a:srgbClr val="FFFFFF"/>
          </a:solidFill>
          <a:ln/>
        </p:spPr>
      </p:sp>
      <p:sp>
        <p:nvSpPr>
          <p:cNvPr id="13" name="Shape 11"/>
          <p:cNvSpPr/>
          <p:nvPr/>
        </p:nvSpPr>
        <p:spPr>
          <a:xfrm>
            <a:off x="7958693" y="1422400"/>
            <a:ext cx="3420507" cy="946150"/>
          </a:xfrm>
          <a:custGeom>
            <a:avLst/>
            <a:gdLst/>
            <a:ahLst/>
            <a:cxnLst/>
            <a:rect l="l" t="t" r="r" b="b"/>
            <a:pathLst>
              <a:path w="3420507" h="946150">
                <a:moveTo>
                  <a:pt x="76200" y="946150"/>
                </a:moveTo>
                <a:lnTo>
                  <a:pt x="76200" y="946150"/>
                </a:lnTo>
                <a:arcTo wR="76200" hR="76200" stAng="5400000" swAng="5400000"/>
                <a:lnTo>
                  <a:pt x="0" y="76200"/>
                </a:lnTo>
                <a:arcTo wR="76200" hR="76200" stAng="10800000" swAng="5400000"/>
                <a:lnTo>
                  <a:pt x="76200" y="0"/>
                </a:lnTo>
                <a:arcTo wR="25400" hR="76200" stAng="16200000" swAng="-5400000"/>
                <a:lnTo>
                  <a:pt x="50800" y="869950"/>
                </a:lnTo>
                <a:arcTo wR="25400" hR="76200" stAng="10800000" swAng="-5400000"/>
                <a:close/>
              </a:path>
            </a:pathLst>
          </a:custGeom>
          <a:solidFill>
            <a:srgbClr val="059669"/>
          </a:solidFill>
          <a:ln/>
        </p:spPr>
      </p:sp>
      <p:sp>
        <p:nvSpPr>
          <p:cNvPr id="14" name="Text 12"/>
          <p:cNvSpPr/>
          <p:nvPr/>
        </p:nvSpPr>
        <p:spPr>
          <a:xfrm>
            <a:off x="8161893" y="1536700"/>
            <a:ext cx="804672" cy="332740"/>
          </a:xfrm>
          <a:prstGeom prst="rect">
            <a:avLst/>
          </a:prstGeom>
          <a:noFill/>
          <a:ln/>
        </p:spPr>
        <p:txBody>
          <a:bodyPr wrap="square" lIns="0" tIns="0" rIns="0" bIns="0" rtlCol="0" anchor="t">
            <a:normAutofit/>
          </a:bodyPr>
          <a:lstStyle/>
          <a:p>
            <a:pPr marL="0" indent="0" algn="l">
              <a:lnSpc>
                <a:spcPts val="2420"/>
              </a:lnSpc>
              <a:buNone/>
            </a:pPr>
            <a:r>
              <a:rPr lang="en-US" sz="2200" b="1" dirty="0">
                <a:solidFill>
                  <a:srgbClr val="059669"/>
                </a:solidFill>
                <a:latin typeface="JetBrains Mono" pitchFamily="49" charset="0"/>
                <a:ea typeface="JetBrains Mono" pitchFamily="49" charset="-122"/>
                <a:cs typeface="JetBrains Mono" pitchFamily="49" charset="-120"/>
              </a:rPr>
              <a:t>~50%</a:t>
            </a:r>
            <a:endParaRPr lang="en-US" sz="2200" dirty="0"/>
          </a:p>
        </p:txBody>
      </p:sp>
      <p:sp>
        <p:nvSpPr>
          <p:cNvPr id="15" name="Text 13"/>
          <p:cNvSpPr/>
          <p:nvPr/>
        </p:nvSpPr>
        <p:spPr>
          <a:xfrm>
            <a:off x="8161893" y="1869439"/>
            <a:ext cx="3156854" cy="4064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475569"/>
                </a:solidFill>
                <a:latin typeface="Space Grotesk" pitchFamily="34" charset="0"/>
                <a:ea typeface="Space Grotesk" pitchFamily="34" charset="-122"/>
                <a:cs typeface="Space Grotesk" pitchFamily="34" charset="-120"/>
              </a:rPr>
              <a:t>of municipal waste processed: 79,956 of 160,039 tons a day (CPCB 2022) </a:t>
            </a:r>
            <a:r>
              <a:rPr lang="en-US" sz="1200" b="1" u="sng" dirty="0">
                <a:solidFill>
                  <a:srgbClr val="059669"/>
                </a:solidFill>
                <a:latin typeface="Space Grotesk" pitchFamily="34" charset="0"/>
                <a:ea typeface="Space Grotesk" pitchFamily="34" charset="-122"/>
                <a:cs typeface="Space Grotesk" pitchFamily="34" charset="-120"/>
                <a:hlinkClick r:id="rId5">
                  <a:extLst>
                    <a:ext uri="{A12FA001-AC4F-418D-AE19-62706E023703}">
                      <ahyp:hlinkClr xmlns:ahyp="http://schemas.microsoft.com/office/drawing/2018/hyperlinkcolor" val="tx"/>
                    </a:ext>
                  </a:extLst>
                </a:hlinkClick>
              </a:rPr>
              <a:t>src ↗</a:t>
            </a:r>
            <a:endParaRPr lang="en-US" sz="1200" dirty="0"/>
          </a:p>
        </p:txBody>
      </p:sp>
      <p:pic>
        <p:nvPicPr>
          <p:cNvPr id="16" name="Image 0"/>
          <p:cNvPicPr>
            <a:picLocks noChangeAspect="1"/>
          </p:cNvPicPr>
          <p:nvPr/>
        </p:nvPicPr>
        <p:blipFill>
          <a:blip r:embed="rId6"/>
          <a:srcRect/>
          <a:stretch/>
        </p:blipFill>
        <p:spPr>
          <a:xfrm>
            <a:off x="812800" y="2638425"/>
            <a:ext cx="2794000" cy="2682875"/>
          </a:xfrm>
          <a:prstGeom prst="rect">
            <a:avLst/>
          </a:prstGeom>
        </p:spPr>
      </p:pic>
      <p:sp>
        <p:nvSpPr>
          <p:cNvPr id="17" name="Text 14"/>
          <p:cNvSpPr/>
          <p:nvPr/>
        </p:nvSpPr>
        <p:spPr>
          <a:xfrm>
            <a:off x="812800" y="5003800"/>
            <a:ext cx="287782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75569"/>
                </a:solidFill>
                <a:latin typeface="Space Grotesk" pitchFamily="34" charset="0"/>
                <a:ea typeface="Space Grotesk" pitchFamily="34" charset="-122"/>
                <a:cs typeface="Space Grotesk" pitchFamily="34" charset="-120"/>
              </a:rPr>
              <a:t>Illustration of the failure mode</a:t>
            </a:r>
            <a:endParaRPr lang="en-US" sz="1200" dirty="0"/>
          </a:p>
        </p:txBody>
      </p:sp>
      <p:sp>
        <p:nvSpPr>
          <p:cNvPr id="18" name="Shape 15"/>
          <p:cNvSpPr/>
          <p:nvPr/>
        </p:nvSpPr>
        <p:spPr>
          <a:xfrm>
            <a:off x="3762375" y="2543175"/>
            <a:ext cx="3727450" cy="2895600"/>
          </a:xfrm>
          <a:prstGeom prst="roundRect">
            <a:avLst>
              <a:gd name="adj" fmla="val 3399"/>
            </a:avLst>
          </a:prstGeom>
          <a:solidFill>
            <a:srgbClr val="FFFFFF"/>
          </a:solidFill>
          <a:ln w="6350">
            <a:solidFill>
              <a:srgbClr val="E2E8F0"/>
            </a:solidFill>
            <a:prstDash val="solid"/>
          </a:ln>
        </p:spPr>
      </p:sp>
      <p:sp>
        <p:nvSpPr>
          <p:cNvPr id="19" name="Text 16"/>
          <p:cNvSpPr/>
          <p:nvPr/>
        </p:nvSpPr>
        <p:spPr>
          <a:xfrm>
            <a:off x="3942080" y="2697482"/>
            <a:ext cx="3469081"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59669"/>
                </a:solidFill>
                <a:latin typeface="JetBrains Mono" pitchFamily="49" charset="0"/>
                <a:ea typeface="JetBrains Mono" pitchFamily="49" charset="-122"/>
                <a:cs typeface="JetBrains Mono" pitchFamily="49" charset="-120"/>
              </a:rPr>
              <a:t>INDIA · CONTEXT</a:t>
            </a:r>
            <a:endParaRPr lang="en-US" sz="1200" dirty="0"/>
          </a:p>
        </p:txBody>
      </p:sp>
      <p:sp>
        <p:nvSpPr>
          <p:cNvPr id="20" name="Text 17"/>
          <p:cNvSpPr/>
          <p:nvPr/>
        </p:nvSpPr>
        <p:spPr>
          <a:xfrm>
            <a:off x="3942080" y="2974339"/>
            <a:ext cx="3469081" cy="259080"/>
          </a:xfrm>
          <a:prstGeom prst="rect">
            <a:avLst/>
          </a:prstGeom>
          <a:noFill/>
          <a:ln/>
        </p:spPr>
        <p:txBody>
          <a:bodyPr wrap="square" lIns="0" tIns="0" rIns="0" bIns="0" rtlCol="0" anchor="t">
            <a:normAutofit/>
          </a:bodyPr>
          <a:lstStyle/>
          <a:p>
            <a:pPr marL="0" indent="0" algn="l">
              <a:lnSpc>
                <a:spcPts val="1840"/>
              </a:lnSpc>
              <a:buNone/>
            </a:pPr>
            <a:r>
              <a:rPr lang="en-US" sz="1600" b="1" dirty="0">
                <a:solidFill>
                  <a:srgbClr val="0F172A"/>
                </a:solidFill>
                <a:latin typeface="Space Grotesk" pitchFamily="34" charset="0"/>
                <a:ea typeface="Space Grotesk" pitchFamily="34" charset="-122"/>
                <a:cs typeface="Space Grotesk" pitchFamily="34" charset="-120"/>
              </a:rPr>
              <a:t>Contamination, little digitisation</a:t>
            </a:r>
            <a:endParaRPr lang="en-US" sz="1600" dirty="0"/>
          </a:p>
        </p:txBody>
      </p:sp>
      <p:sp>
        <p:nvSpPr>
          <p:cNvPr id="21" name="Text 18"/>
          <p:cNvSpPr/>
          <p:nvPr/>
        </p:nvSpPr>
        <p:spPr>
          <a:xfrm>
            <a:off x="3942080" y="3271521"/>
            <a:ext cx="3469081" cy="64262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75569"/>
                </a:solidFill>
                <a:latin typeface="Space Grotesk" pitchFamily="34" charset="0"/>
                <a:ea typeface="Space Grotesk" pitchFamily="34" charset="-122"/>
                <a:cs typeface="Space Grotesk" pitchFamily="34" charset="-120"/>
              </a:rPr>
              <a:t>Contamination, uneven flow and lack of digitisation are listed as core MRF challenges. No Indian bale-rejection data found.</a:t>
            </a:r>
            <a:endParaRPr lang="en-US" sz="1200" dirty="0"/>
          </a:p>
        </p:txBody>
      </p:sp>
      <p:sp>
        <p:nvSpPr>
          <p:cNvPr id="22" name="Text 19"/>
          <p:cNvSpPr/>
          <p:nvPr/>
        </p:nvSpPr>
        <p:spPr>
          <a:xfrm>
            <a:off x="3942080" y="3952239"/>
            <a:ext cx="3469081" cy="256540"/>
          </a:xfrm>
          <a:prstGeom prst="rect">
            <a:avLst/>
          </a:prstGeom>
          <a:noFill/>
          <a:ln/>
        </p:spPr>
        <p:txBody>
          <a:bodyPr wrap="square" lIns="0" tIns="0" rIns="0" bIns="0" rtlCol="0" anchor="t">
            <a:normAutofit/>
          </a:bodyPr>
          <a:lstStyle/>
          <a:p>
            <a:pPr marL="0" indent="0" algn="l">
              <a:lnSpc>
                <a:spcPts val="1820"/>
              </a:lnSpc>
              <a:buNone/>
            </a:pPr>
            <a:r>
              <a:rPr lang="en-US" sz="1300" b="1" u="sng" dirty="0">
                <a:solidFill>
                  <a:srgbClr val="059669"/>
                </a:solidFill>
                <a:latin typeface="Space Grotesk" pitchFamily="34" charset="0"/>
                <a:ea typeface="Space Grotesk" pitchFamily="34" charset="-122"/>
                <a:cs typeface="Space Grotesk" pitchFamily="34" charset="-120"/>
                <a:hlinkClick r:id="rId7">
                  <a:extLst>
                    <a:ext uri="{A12FA001-AC4F-418D-AE19-62706E023703}">
                      <ahyp:hlinkClr xmlns:ahyp="http://schemas.microsoft.com/office/drawing/2018/hyperlinkcolor" val="tx"/>
                    </a:ext>
                  </a:extLst>
                </a:hlinkClick>
              </a:rPr>
              <a:t>Read article ↗</a:t>
            </a:r>
            <a:endParaRPr lang="en-US" sz="1300" dirty="0"/>
          </a:p>
        </p:txBody>
      </p:sp>
      <p:sp>
        <p:nvSpPr>
          <p:cNvPr id="23" name="Shape 20"/>
          <p:cNvSpPr/>
          <p:nvPr/>
        </p:nvSpPr>
        <p:spPr>
          <a:xfrm>
            <a:off x="7648575" y="2543175"/>
            <a:ext cx="3727450" cy="2895600"/>
          </a:xfrm>
          <a:prstGeom prst="roundRect">
            <a:avLst>
              <a:gd name="adj" fmla="val 3399"/>
            </a:avLst>
          </a:prstGeom>
          <a:solidFill>
            <a:srgbClr val="FFFFFF"/>
          </a:solidFill>
          <a:ln w="6350">
            <a:solidFill>
              <a:srgbClr val="E2E8F0"/>
            </a:solidFill>
            <a:prstDash val="solid"/>
          </a:ln>
        </p:spPr>
      </p:sp>
      <p:sp>
        <p:nvSpPr>
          <p:cNvPr id="24" name="Text 21"/>
          <p:cNvSpPr/>
          <p:nvPr/>
        </p:nvSpPr>
        <p:spPr>
          <a:xfrm>
            <a:off x="7828280" y="2697482"/>
            <a:ext cx="3469081"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59669"/>
                </a:solidFill>
                <a:latin typeface="JetBrains Mono" pitchFamily="49" charset="0"/>
                <a:ea typeface="JetBrains Mono" pitchFamily="49" charset="-122"/>
                <a:cs typeface="JetBrains Mono" pitchFamily="49" charset="-120"/>
              </a:rPr>
              <a:t>US · HOUSTON</a:t>
            </a:r>
            <a:endParaRPr lang="en-US" sz="1200" dirty="0"/>
          </a:p>
        </p:txBody>
      </p:sp>
      <p:sp>
        <p:nvSpPr>
          <p:cNvPr id="25" name="Text 22"/>
          <p:cNvSpPr/>
          <p:nvPr/>
        </p:nvSpPr>
        <p:spPr>
          <a:xfrm>
            <a:off x="7828280" y="2974339"/>
            <a:ext cx="3469081" cy="259080"/>
          </a:xfrm>
          <a:prstGeom prst="rect">
            <a:avLst/>
          </a:prstGeom>
          <a:noFill/>
          <a:ln/>
        </p:spPr>
        <p:txBody>
          <a:bodyPr wrap="square" lIns="0" tIns="0" rIns="0" bIns="0" rtlCol="0" anchor="t">
            <a:normAutofit/>
          </a:bodyPr>
          <a:lstStyle/>
          <a:p>
            <a:pPr marL="0" indent="0" algn="l">
              <a:lnSpc>
                <a:spcPts val="1840"/>
              </a:lnSpc>
              <a:buNone/>
            </a:pPr>
            <a:r>
              <a:rPr lang="en-US" sz="1600" b="1" dirty="0">
                <a:solidFill>
                  <a:srgbClr val="0F172A"/>
                </a:solidFill>
                <a:latin typeface="Space Grotesk" pitchFamily="34" charset="0"/>
                <a:ea typeface="Space Grotesk" pitchFamily="34" charset="-122"/>
                <a:cs typeface="Space Grotesk" pitchFamily="34" charset="-120"/>
              </a:rPr>
              <a:t>Contamination above 42%</a:t>
            </a:r>
            <a:endParaRPr lang="en-US" sz="1600" dirty="0"/>
          </a:p>
        </p:txBody>
      </p:sp>
      <p:sp>
        <p:nvSpPr>
          <p:cNvPr id="26" name="Text 23"/>
          <p:cNvSpPr/>
          <p:nvPr/>
        </p:nvSpPr>
        <p:spPr>
          <a:xfrm>
            <a:off x="7828280" y="3271521"/>
            <a:ext cx="3469081" cy="84836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75569"/>
                </a:solidFill>
                <a:latin typeface="Space Grotesk" pitchFamily="34" charset="0"/>
                <a:ea typeface="Space Grotesk" pitchFamily="34" charset="-122"/>
                <a:cs typeface="Space Grotesk" pitchFamily="34" charset="-120"/>
              </a:rPr>
              <a:t>A 2026 city presentation puts Houston above 42%, against 15–25% nationally. In Wigan, UK, 14 rejected loads cost about £25,000 in two months (2015).</a:t>
            </a:r>
            <a:endParaRPr lang="en-US" sz="1200" dirty="0"/>
          </a:p>
        </p:txBody>
      </p:sp>
      <p:sp>
        <p:nvSpPr>
          <p:cNvPr id="27" name="Text 24"/>
          <p:cNvSpPr/>
          <p:nvPr/>
        </p:nvSpPr>
        <p:spPr>
          <a:xfrm>
            <a:off x="7828280" y="4157982"/>
            <a:ext cx="3469081" cy="256540"/>
          </a:xfrm>
          <a:prstGeom prst="rect">
            <a:avLst/>
          </a:prstGeom>
          <a:noFill/>
          <a:ln/>
        </p:spPr>
        <p:txBody>
          <a:bodyPr wrap="square" lIns="0" tIns="0" rIns="0" bIns="0" rtlCol="0" anchor="t">
            <a:normAutofit/>
          </a:bodyPr>
          <a:lstStyle/>
          <a:p>
            <a:pPr marL="0" indent="0" algn="l">
              <a:lnSpc>
                <a:spcPts val="1820"/>
              </a:lnSpc>
              <a:buNone/>
            </a:pPr>
            <a:r>
              <a:rPr lang="en-US" sz="1300" b="1" u="sng" dirty="0">
                <a:solidFill>
                  <a:srgbClr val="059669"/>
                </a:solidFill>
                <a:latin typeface="Space Grotesk" pitchFamily="34" charset="0"/>
                <a:ea typeface="Space Grotesk" pitchFamily="34" charset="-122"/>
                <a:cs typeface="Space Grotesk" pitchFamily="34" charset="-120"/>
                <a:hlinkClick r:id="rId8">
                  <a:extLst>
                    <a:ext uri="{A12FA001-AC4F-418D-AE19-62706E023703}">
                      <ahyp:hlinkClr xmlns:ahyp="http://schemas.microsoft.com/office/drawing/2018/hyperlinkcolor" val="tx"/>
                    </a:ext>
                  </a:extLst>
                </a:hlinkClick>
              </a:rPr>
              <a:t>Read report ↗</a:t>
            </a:r>
            <a:endParaRPr lang="en-US" sz="1300" dirty="0"/>
          </a:p>
        </p:txBody>
      </p:sp>
      <p:sp>
        <p:nvSpPr>
          <p:cNvPr id="28" name="Shape 25"/>
          <p:cNvSpPr/>
          <p:nvPr/>
        </p:nvSpPr>
        <p:spPr>
          <a:xfrm>
            <a:off x="812800" y="5619750"/>
            <a:ext cx="10566400" cy="635000"/>
          </a:xfrm>
          <a:prstGeom prst="roundRect">
            <a:avLst>
              <a:gd name="adj" fmla="val 12000"/>
            </a:avLst>
          </a:prstGeom>
          <a:solidFill>
            <a:srgbClr val="059669"/>
          </a:solidFill>
          <a:ln/>
        </p:spPr>
      </p:sp>
      <p:sp>
        <p:nvSpPr>
          <p:cNvPr id="29" name="Text 26"/>
          <p:cNvSpPr/>
          <p:nvPr/>
        </p:nvSpPr>
        <p:spPr>
          <a:xfrm>
            <a:off x="990600" y="5708650"/>
            <a:ext cx="10517124"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FFFFF"/>
                </a:solidFill>
                <a:latin typeface="JetBrains Mono" pitchFamily="49" charset="0"/>
                <a:ea typeface="JetBrains Mono" pitchFamily="49" charset="-122"/>
                <a:cs typeface="JetBrains Mono" pitchFamily="49" charset="-120"/>
              </a:rPr>
              <a:t>SMART MRF RESPONSE</a:t>
            </a:r>
            <a:endParaRPr lang="en-US" sz="1200" dirty="0"/>
          </a:p>
        </p:txBody>
      </p:sp>
      <p:sp>
        <p:nvSpPr>
          <p:cNvPr id="30" name="Text 27"/>
          <p:cNvSpPr/>
          <p:nvPr/>
        </p:nvSpPr>
        <p:spPr>
          <a:xfrm>
            <a:off x="990600" y="5922011"/>
            <a:ext cx="10517124" cy="263525"/>
          </a:xfrm>
          <a:prstGeom prst="rect">
            <a:avLst/>
          </a:prstGeom>
          <a:noFill/>
          <a:ln/>
        </p:spPr>
        <p:txBody>
          <a:bodyPr wrap="square" lIns="0" tIns="0" rIns="0" bIns="0" rtlCol="0" anchor="t">
            <a:normAutofit/>
          </a:bodyPr>
          <a:lstStyle/>
          <a:p>
            <a:pPr marL="0" indent="0" algn="l">
              <a:lnSpc>
                <a:spcPts val="1875"/>
              </a:lnSpc>
              <a:buNone/>
            </a:pPr>
            <a:r>
              <a:rPr lang="en-US" sz="1500" b="1" dirty="0">
                <a:solidFill>
                  <a:srgbClr val="FFFFFF"/>
                </a:solidFill>
                <a:latin typeface="Space Grotesk" pitchFamily="34" charset="0"/>
                <a:ea typeface="Space Grotesk" pitchFamily="34" charset="-122"/>
                <a:cs typeface="Space Grotesk" pitchFamily="34" charset="-120"/>
              </a:rPr>
              <a:t>Show live per-class counts and bin totals while the material is still on the belt.</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59669"/>
                </a:solidFill>
                <a:latin typeface="JetBrains Mono" pitchFamily="49" charset="0"/>
                <a:ea typeface="JetBrains Mono" pitchFamily="49" charset="-122"/>
                <a:cs typeface="JetBrains Mono" pitchFamily="49" charset="-120"/>
              </a:rPr>
              <a:t>THE PARADIGM</a:t>
            </a:r>
            <a:endParaRPr lang="en-US" sz="1200" dirty="0"/>
          </a:p>
        </p:txBody>
      </p:sp>
      <p:sp>
        <p:nvSpPr>
          <p:cNvPr id="3" name="Text 1"/>
          <p:cNvSpPr>
            <a:spLocks noGrp="1"/>
          </p:cNvSpPr>
          <p:nvPr>
            <p:ph type="title"/>
          </p:nvPr>
        </p:nvSpPr>
        <p:spPr>
          <a:xfrm>
            <a:off x="812800" y="822961"/>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0F172A"/>
                </a:solidFill>
                <a:latin typeface="Space Grotesk" pitchFamily="34" charset="0"/>
                <a:ea typeface="Space Grotesk" pitchFamily="34" charset="-122"/>
                <a:cs typeface="Space Grotesk" pitchFamily="34" charset="-120"/>
              </a:rPr>
              <a:t>Augmenting Facilities, Not Replacing Workers</a:t>
            </a:r>
            <a:endParaRPr lang="en-US" sz="3000" dirty="0"/>
          </a:p>
        </p:txBody>
      </p:sp>
      <p:sp>
        <p:nvSpPr>
          <p:cNvPr id="4" name="Shape 2"/>
          <p:cNvSpPr/>
          <p:nvPr/>
        </p:nvSpPr>
        <p:spPr>
          <a:xfrm>
            <a:off x="812800" y="1422400"/>
            <a:ext cx="3420507" cy="946150"/>
          </a:xfrm>
          <a:prstGeom prst="roundRect">
            <a:avLst>
              <a:gd name="adj" fmla="val 8054"/>
            </a:avLst>
          </a:prstGeom>
          <a:solidFill>
            <a:srgbClr val="FFFFFF"/>
          </a:solidFill>
          <a:ln/>
        </p:spPr>
      </p:sp>
      <p:sp>
        <p:nvSpPr>
          <p:cNvPr id="5" name="Shape 3"/>
          <p:cNvSpPr/>
          <p:nvPr/>
        </p:nvSpPr>
        <p:spPr>
          <a:xfrm>
            <a:off x="812800" y="1422400"/>
            <a:ext cx="3420507" cy="946150"/>
          </a:xfrm>
          <a:custGeom>
            <a:avLst/>
            <a:gdLst/>
            <a:ahLst/>
            <a:cxnLst/>
            <a:rect l="l" t="t" r="r" b="b"/>
            <a:pathLst>
              <a:path w="3420507" h="946150">
                <a:moveTo>
                  <a:pt x="76200" y="946150"/>
                </a:moveTo>
                <a:lnTo>
                  <a:pt x="76200" y="946150"/>
                </a:lnTo>
                <a:arcTo wR="76200" hR="76200" stAng="5400000" swAng="5400000"/>
                <a:lnTo>
                  <a:pt x="0" y="76200"/>
                </a:lnTo>
                <a:arcTo wR="76200" hR="76200" stAng="10800000" swAng="5400000"/>
                <a:lnTo>
                  <a:pt x="76200" y="0"/>
                </a:lnTo>
                <a:arcTo wR="25400" hR="76200" stAng="16200000" swAng="-5400000"/>
                <a:lnTo>
                  <a:pt x="50800" y="869950"/>
                </a:lnTo>
                <a:arcTo wR="25400" hR="76200" stAng="10800000" swAng="-5400000"/>
                <a:close/>
              </a:path>
            </a:pathLst>
          </a:custGeom>
          <a:solidFill>
            <a:srgbClr val="475569"/>
          </a:solidFill>
          <a:ln/>
        </p:spPr>
      </p:sp>
      <p:sp>
        <p:nvSpPr>
          <p:cNvPr id="6" name="Text 4"/>
          <p:cNvSpPr/>
          <p:nvPr/>
        </p:nvSpPr>
        <p:spPr>
          <a:xfrm>
            <a:off x="1016000" y="1536700"/>
            <a:ext cx="603504" cy="332740"/>
          </a:xfrm>
          <a:prstGeom prst="rect">
            <a:avLst/>
          </a:prstGeom>
          <a:noFill/>
          <a:ln/>
        </p:spPr>
        <p:txBody>
          <a:bodyPr wrap="square" lIns="0" tIns="0" rIns="0" bIns="0" rtlCol="0" anchor="t">
            <a:normAutofit/>
          </a:bodyPr>
          <a:lstStyle/>
          <a:p>
            <a:pPr marL="0" indent="0" algn="l">
              <a:lnSpc>
                <a:spcPts val="2420"/>
              </a:lnSpc>
              <a:buNone/>
            </a:pPr>
            <a:r>
              <a:rPr lang="en-US" sz="2200" b="1" dirty="0">
                <a:solidFill>
                  <a:srgbClr val="475569"/>
                </a:solidFill>
                <a:latin typeface="JetBrains Mono" pitchFamily="49" charset="0"/>
                <a:ea typeface="JetBrains Mono" pitchFamily="49" charset="-122"/>
                <a:cs typeface="JetBrains Mono" pitchFamily="49" charset="-120"/>
              </a:rPr>
              <a:t>166</a:t>
            </a:r>
            <a:endParaRPr lang="en-US" sz="2200" dirty="0"/>
          </a:p>
        </p:txBody>
      </p:sp>
      <p:sp>
        <p:nvSpPr>
          <p:cNvPr id="7" name="Text 5"/>
          <p:cNvSpPr/>
          <p:nvPr/>
        </p:nvSpPr>
        <p:spPr>
          <a:xfrm>
            <a:off x="1016000" y="1869439"/>
            <a:ext cx="3156854" cy="4064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475569"/>
                </a:solidFill>
                <a:latin typeface="Space Grotesk" pitchFamily="34" charset="0"/>
                <a:ea typeface="Space Grotesk" pitchFamily="34" charset="-122"/>
                <a:cs typeface="Space Grotesk" pitchFamily="34" charset="-120"/>
              </a:rPr>
              <a:t>functional dry waste centres in Bengaluru (198 sanctioned) </a:t>
            </a:r>
            <a:r>
              <a:rPr lang="en-US" sz="1200" b="1" u="sng" dirty="0">
                <a:solidFill>
                  <a:srgbClr val="475569"/>
                </a:solidFill>
                <a:latin typeface="Space Grotesk" pitchFamily="34" charset="0"/>
                <a:ea typeface="Space Grotesk" pitchFamily="34" charset="-122"/>
                <a:cs typeface="Space Grotesk" pitchFamily="34" charset="-120"/>
                <a:hlinkClick r:id="rId3">
                  <a:extLst>
                    <a:ext uri="{A12FA001-AC4F-418D-AE19-62706E023703}">
                      <ahyp:hlinkClr xmlns:ahyp="http://schemas.microsoft.com/office/drawing/2018/hyperlinkcolor" val="tx"/>
                    </a:ext>
                  </a:extLst>
                </a:hlinkClick>
              </a:rPr>
              <a:t>src ↗</a:t>
            </a:r>
            <a:endParaRPr lang="en-US" sz="1200" dirty="0"/>
          </a:p>
        </p:txBody>
      </p:sp>
      <p:sp>
        <p:nvSpPr>
          <p:cNvPr id="8" name="Shape 6"/>
          <p:cNvSpPr/>
          <p:nvPr/>
        </p:nvSpPr>
        <p:spPr>
          <a:xfrm>
            <a:off x="4385707" y="1422400"/>
            <a:ext cx="3420586" cy="946150"/>
          </a:xfrm>
          <a:prstGeom prst="roundRect">
            <a:avLst>
              <a:gd name="adj" fmla="val 8054"/>
            </a:avLst>
          </a:prstGeom>
          <a:solidFill>
            <a:srgbClr val="FFFFFF"/>
          </a:solidFill>
          <a:ln/>
        </p:spPr>
      </p:sp>
      <p:sp>
        <p:nvSpPr>
          <p:cNvPr id="9" name="Shape 7"/>
          <p:cNvSpPr/>
          <p:nvPr/>
        </p:nvSpPr>
        <p:spPr>
          <a:xfrm>
            <a:off x="4385707" y="1422400"/>
            <a:ext cx="3420586" cy="946150"/>
          </a:xfrm>
          <a:custGeom>
            <a:avLst/>
            <a:gdLst/>
            <a:ahLst/>
            <a:cxnLst/>
            <a:rect l="l" t="t" r="r" b="b"/>
            <a:pathLst>
              <a:path w="3420586" h="946150">
                <a:moveTo>
                  <a:pt x="76200" y="946150"/>
                </a:moveTo>
                <a:lnTo>
                  <a:pt x="76200" y="946150"/>
                </a:lnTo>
                <a:arcTo wR="76200" hR="76200" stAng="5400000" swAng="5400000"/>
                <a:lnTo>
                  <a:pt x="0" y="76200"/>
                </a:lnTo>
                <a:arcTo wR="76200" hR="76200" stAng="10800000" swAng="5400000"/>
                <a:lnTo>
                  <a:pt x="76200" y="0"/>
                </a:lnTo>
                <a:arcTo wR="25400" hR="76200" stAng="16200000" swAng="-5400000"/>
                <a:lnTo>
                  <a:pt x="50800" y="869950"/>
                </a:lnTo>
                <a:arcTo wR="25400" hR="76200" stAng="10800000" swAng="-5400000"/>
                <a:close/>
              </a:path>
            </a:pathLst>
          </a:custGeom>
          <a:solidFill>
            <a:srgbClr val="475569"/>
          </a:solidFill>
          <a:ln/>
        </p:spPr>
      </p:sp>
      <p:sp>
        <p:nvSpPr>
          <p:cNvPr id="10" name="Text 8"/>
          <p:cNvSpPr/>
          <p:nvPr/>
        </p:nvSpPr>
        <p:spPr>
          <a:xfrm>
            <a:off x="4588907" y="1536700"/>
            <a:ext cx="1810512" cy="332740"/>
          </a:xfrm>
          <a:prstGeom prst="rect">
            <a:avLst/>
          </a:prstGeom>
          <a:noFill/>
          <a:ln/>
        </p:spPr>
        <p:txBody>
          <a:bodyPr wrap="square" lIns="0" tIns="0" rIns="0" bIns="0" rtlCol="0" anchor="t">
            <a:normAutofit/>
          </a:bodyPr>
          <a:lstStyle/>
          <a:p>
            <a:pPr marL="0" indent="0" algn="l">
              <a:lnSpc>
                <a:spcPts val="2420"/>
              </a:lnSpc>
              <a:buNone/>
            </a:pPr>
            <a:r>
              <a:rPr lang="en-US" sz="2200" b="1" dirty="0">
                <a:solidFill>
                  <a:srgbClr val="475569"/>
                </a:solidFill>
                <a:latin typeface="JetBrains Mono" pitchFamily="49" charset="0"/>
                <a:ea typeface="JetBrains Mono" pitchFamily="49" charset="-122"/>
                <a:cs typeface="JetBrains Mono" pitchFamily="49" charset="-120"/>
              </a:rPr>
              <a:t>0.5–4.5</a:t>
            </a:r>
            <a:endParaRPr lang="en-US" sz="2200" dirty="0"/>
          </a:p>
        </p:txBody>
      </p:sp>
      <p:sp>
        <p:nvSpPr>
          <p:cNvPr id="11" name="Text 9"/>
          <p:cNvSpPr/>
          <p:nvPr/>
        </p:nvSpPr>
        <p:spPr>
          <a:xfrm>
            <a:off x="4588907" y="1869439"/>
            <a:ext cx="3156936" cy="4064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475569"/>
                </a:solidFill>
                <a:latin typeface="Space Grotesk" pitchFamily="34" charset="0"/>
                <a:ea typeface="Space Grotesk" pitchFamily="34" charset="-122"/>
                <a:cs typeface="Space Grotesk" pitchFamily="34" charset="-120"/>
              </a:rPr>
              <a:t>tons a day: capacity of each Bengaluru centre </a:t>
            </a:r>
            <a:r>
              <a:rPr lang="en-US" sz="1200" b="1" u="sng" dirty="0">
                <a:solidFill>
                  <a:srgbClr val="475569"/>
                </a:solidFill>
                <a:latin typeface="Space Grotesk" pitchFamily="34" charset="0"/>
                <a:ea typeface="Space Grotesk" pitchFamily="34" charset="-122"/>
                <a:cs typeface="Space Grotesk" pitchFamily="34" charset="-120"/>
                <a:hlinkClick r:id="rId3">
                  <a:extLst>
                    <a:ext uri="{A12FA001-AC4F-418D-AE19-62706E023703}">
                      <ahyp:hlinkClr xmlns:ahyp="http://schemas.microsoft.com/office/drawing/2018/hyperlinkcolor" val="tx"/>
                    </a:ext>
                  </a:extLst>
                </a:hlinkClick>
              </a:rPr>
              <a:t>src ↗</a:t>
            </a:r>
            <a:endParaRPr lang="en-US" sz="1200" dirty="0"/>
          </a:p>
        </p:txBody>
      </p:sp>
      <p:sp>
        <p:nvSpPr>
          <p:cNvPr id="12" name="Shape 10"/>
          <p:cNvSpPr/>
          <p:nvPr/>
        </p:nvSpPr>
        <p:spPr>
          <a:xfrm>
            <a:off x="7958693" y="1422400"/>
            <a:ext cx="3420507" cy="946150"/>
          </a:xfrm>
          <a:prstGeom prst="roundRect">
            <a:avLst>
              <a:gd name="adj" fmla="val 8054"/>
            </a:avLst>
          </a:prstGeom>
          <a:solidFill>
            <a:srgbClr val="FFFFFF"/>
          </a:solidFill>
          <a:ln/>
        </p:spPr>
      </p:sp>
      <p:sp>
        <p:nvSpPr>
          <p:cNvPr id="13" name="Shape 11"/>
          <p:cNvSpPr/>
          <p:nvPr/>
        </p:nvSpPr>
        <p:spPr>
          <a:xfrm>
            <a:off x="7958693" y="1422400"/>
            <a:ext cx="3420507" cy="946150"/>
          </a:xfrm>
          <a:custGeom>
            <a:avLst/>
            <a:gdLst/>
            <a:ahLst/>
            <a:cxnLst/>
            <a:rect l="l" t="t" r="r" b="b"/>
            <a:pathLst>
              <a:path w="3420507" h="946150">
                <a:moveTo>
                  <a:pt x="76200" y="946150"/>
                </a:moveTo>
                <a:lnTo>
                  <a:pt x="76200" y="946150"/>
                </a:lnTo>
                <a:arcTo wR="76200" hR="76200" stAng="5400000" swAng="5400000"/>
                <a:lnTo>
                  <a:pt x="0" y="76200"/>
                </a:lnTo>
                <a:arcTo wR="76200" hR="76200" stAng="10800000" swAng="5400000"/>
                <a:lnTo>
                  <a:pt x="76200" y="0"/>
                </a:lnTo>
                <a:arcTo wR="25400" hR="76200" stAng="16200000" swAng="-5400000"/>
                <a:lnTo>
                  <a:pt x="50800" y="869950"/>
                </a:lnTo>
                <a:arcTo wR="25400" hR="76200" stAng="10800000" swAng="-5400000"/>
                <a:close/>
              </a:path>
            </a:pathLst>
          </a:custGeom>
          <a:solidFill>
            <a:srgbClr val="475569"/>
          </a:solidFill>
          <a:ln/>
        </p:spPr>
      </p:sp>
      <p:sp>
        <p:nvSpPr>
          <p:cNvPr id="14" name="Text 12"/>
          <p:cNvSpPr/>
          <p:nvPr/>
        </p:nvSpPr>
        <p:spPr>
          <a:xfrm>
            <a:off x="8161893" y="1536700"/>
            <a:ext cx="1408176" cy="332740"/>
          </a:xfrm>
          <a:prstGeom prst="rect">
            <a:avLst/>
          </a:prstGeom>
          <a:noFill/>
          <a:ln/>
        </p:spPr>
        <p:txBody>
          <a:bodyPr wrap="square" lIns="0" tIns="0" rIns="0" bIns="0" rtlCol="0" anchor="t">
            <a:normAutofit/>
          </a:bodyPr>
          <a:lstStyle/>
          <a:p>
            <a:pPr marL="0" indent="0" algn="l">
              <a:lnSpc>
                <a:spcPts val="2420"/>
              </a:lnSpc>
              <a:buNone/>
            </a:pPr>
            <a:r>
              <a:rPr lang="en-US" sz="2200" b="1" dirty="0">
                <a:solidFill>
                  <a:srgbClr val="475569"/>
                </a:solidFill>
                <a:latin typeface="JetBrains Mono" pitchFamily="49" charset="0"/>
                <a:ea typeface="JetBrains Mono" pitchFamily="49" charset="-122"/>
                <a:cs typeface="JetBrains Mono" pitchFamily="49" charset="-120"/>
              </a:rPr>
              <a:t>15 lakh</a:t>
            </a:r>
            <a:endParaRPr lang="en-US" sz="2200" dirty="0"/>
          </a:p>
        </p:txBody>
      </p:sp>
      <p:sp>
        <p:nvSpPr>
          <p:cNvPr id="15" name="Text 13"/>
          <p:cNvSpPr/>
          <p:nvPr/>
        </p:nvSpPr>
        <p:spPr>
          <a:xfrm>
            <a:off x="8161893" y="1869439"/>
            <a:ext cx="3156854" cy="4064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475569"/>
                </a:solidFill>
                <a:latin typeface="Space Grotesk" pitchFamily="34" charset="0"/>
                <a:ea typeface="Space Grotesk" pitchFamily="34" charset="-122"/>
                <a:cs typeface="Space Grotesk" pitchFamily="34" charset="-120"/>
              </a:rPr>
              <a:t>waste pickers in India (older estimate) </a:t>
            </a:r>
            <a:r>
              <a:rPr lang="en-US" sz="1200" b="1" u="sng" dirty="0">
                <a:solidFill>
                  <a:srgbClr val="475569"/>
                </a:solidFill>
                <a:latin typeface="Space Grotesk" pitchFamily="34" charset="0"/>
                <a:ea typeface="Space Grotesk" pitchFamily="34" charset="-122"/>
                <a:cs typeface="Space Grotesk" pitchFamily="34" charset="-120"/>
                <a:hlinkClick r:id="rId4">
                  <a:extLst>
                    <a:ext uri="{A12FA001-AC4F-418D-AE19-62706E023703}">
                      <ahyp:hlinkClr xmlns:ahyp="http://schemas.microsoft.com/office/drawing/2018/hyperlinkcolor" val="tx"/>
                    </a:ext>
                  </a:extLst>
                </a:hlinkClick>
              </a:rPr>
              <a:t>src ↗</a:t>
            </a:r>
            <a:endParaRPr lang="en-US" sz="1200" dirty="0"/>
          </a:p>
        </p:txBody>
      </p:sp>
      <p:sp>
        <p:nvSpPr>
          <p:cNvPr id="16" name="Shape 14"/>
          <p:cNvSpPr/>
          <p:nvPr/>
        </p:nvSpPr>
        <p:spPr>
          <a:xfrm>
            <a:off x="815975" y="2543175"/>
            <a:ext cx="5175250" cy="3314700"/>
          </a:xfrm>
          <a:prstGeom prst="roundRect">
            <a:avLst>
              <a:gd name="adj" fmla="val 2969"/>
            </a:avLst>
          </a:prstGeom>
          <a:solidFill>
            <a:srgbClr val="FFFFFF"/>
          </a:solidFill>
          <a:ln w="6350">
            <a:solidFill>
              <a:srgbClr val="E2E8F0"/>
            </a:solidFill>
            <a:prstDash val="solid"/>
          </a:ln>
        </p:spPr>
      </p:sp>
      <p:sp>
        <p:nvSpPr>
          <p:cNvPr id="17" name="Text 15"/>
          <p:cNvSpPr/>
          <p:nvPr/>
        </p:nvSpPr>
        <p:spPr>
          <a:xfrm>
            <a:off x="995680" y="2697482"/>
            <a:ext cx="4960315"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475569"/>
                </a:solidFill>
                <a:latin typeface="JetBrains Mono" pitchFamily="49" charset="0"/>
                <a:ea typeface="JetBrains Mono" pitchFamily="49" charset="-122"/>
                <a:cs typeface="JetBrains Mono" pitchFamily="49" charset="-120"/>
              </a:rPr>
              <a:t>ROBOTIC SORTING ARMS</a:t>
            </a:r>
            <a:endParaRPr lang="en-US" sz="1200" dirty="0"/>
          </a:p>
        </p:txBody>
      </p:sp>
      <p:sp>
        <p:nvSpPr>
          <p:cNvPr id="18" name="Text 16"/>
          <p:cNvSpPr/>
          <p:nvPr/>
        </p:nvSpPr>
        <p:spPr>
          <a:xfrm>
            <a:off x="995680" y="2974339"/>
            <a:ext cx="4960315"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F172A"/>
                </a:solidFill>
                <a:latin typeface="Space Grotesk" pitchFamily="34" charset="0"/>
                <a:ea typeface="Space Grotesk" pitchFamily="34" charset="-122"/>
                <a:cs typeface="Space Grotesk" pitchFamily="34" charset="-120"/>
              </a:rPr>
              <a:t>Capital-heavy, per station</a:t>
            </a:r>
            <a:endParaRPr lang="en-US" sz="1800" dirty="0"/>
          </a:p>
        </p:txBody>
      </p:sp>
      <p:sp>
        <p:nvSpPr>
          <p:cNvPr id="19" name="Text 17"/>
          <p:cNvSpPr/>
          <p:nvPr/>
        </p:nvSpPr>
        <p:spPr>
          <a:xfrm>
            <a:off x="995680" y="3321050"/>
            <a:ext cx="1384300" cy="452120"/>
          </a:xfrm>
          <a:prstGeom prst="rect">
            <a:avLst/>
          </a:prstGeom>
          <a:noFill/>
          <a:ln/>
        </p:spPr>
        <p:txBody>
          <a:bodyPr wrap="square" lIns="0" tIns="0" rIns="0" bIns="0" rtlCol="0" anchor="t">
            <a:normAutofit/>
          </a:bodyPr>
          <a:lstStyle/>
          <a:p>
            <a:pPr marL="0" indent="0" algn="l">
              <a:lnSpc>
                <a:spcPts val="3360"/>
              </a:lnSpc>
              <a:buNone/>
            </a:pPr>
            <a:r>
              <a:rPr lang="en-US" sz="2400" b="1" dirty="0">
                <a:solidFill>
                  <a:srgbClr val="475569"/>
                </a:solidFill>
                <a:latin typeface="JetBrains Mono" pitchFamily="49" charset="0"/>
                <a:ea typeface="JetBrains Mono" pitchFamily="49" charset="-122"/>
                <a:cs typeface="JetBrains Mono" pitchFamily="49" charset="-120"/>
              </a:rPr>
              <a:t>$200K</a:t>
            </a:r>
            <a:endParaRPr lang="en-US" sz="2400" dirty="0"/>
          </a:p>
        </p:txBody>
      </p:sp>
      <p:sp>
        <p:nvSpPr>
          <p:cNvPr id="20" name="Text 18"/>
          <p:cNvSpPr/>
          <p:nvPr/>
        </p:nvSpPr>
        <p:spPr>
          <a:xfrm>
            <a:off x="2456180" y="3312161"/>
            <a:ext cx="3456000" cy="469900"/>
          </a:xfrm>
          <a:prstGeom prst="rect">
            <a:avLst/>
          </a:prstGeom>
          <a:noFill/>
          <a:ln/>
        </p:spPr>
        <p:txBody>
          <a:bodyPr wrap="square" lIns="0" tIns="0" rIns="0" bIns="0" rtlCol="0" anchor="t">
            <a:normAutofit/>
          </a:bodyPr>
          <a:lstStyle/>
          <a:p>
            <a:pPr marL="0" indent="0" algn="l">
              <a:lnSpc>
                <a:spcPts val="1750"/>
              </a:lnSpc>
              <a:buNone/>
            </a:pPr>
            <a:r>
              <a:rPr lang="en-US" sz="1400" dirty="0">
                <a:solidFill>
                  <a:srgbClr val="0F172A"/>
                </a:solidFill>
                <a:latin typeface="Space Grotesk" pitchFamily="34" charset="0"/>
                <a:ea typeface="Space Grotesk" pitchFamily="34" charset="-122"/>
                <a:cs typeface="Space Grotesk" pitchFamily="34" charset="-120"/>
              </a:rPr>
              <a:t>per robot unit before install (BHS MAX-AI)</a:t>
            </a:r>
            <a:endParaRPr lang="en-US" sz="1400" dirty="0"/>
          </a:p>
        </p:txBody>
      </p:sp>
      <p:sp>
        <p:nvSpPr>
          <p:cNvPr id="21" name="Text 19"/>
          <p:cNvSpPr/>
          <p:nvPr/>
        </p:nvSpPr>
        <p:spPr>
          <a:xfrm>
            <a:off x="995680" y="3820161"/>
            <a:ext cx="1384300" cy="452120"/>
          </a:xfrm>
          <a:prstGeom prst="rect">
            <a:avLst/>
          </a:prstGeom>
          <a:noFill/>
          <a:ln/>
        </p:spPr>
        <p:txBody>
          <a:bodyPr wrap="square" lIns="0" tIns="0" rIns="0" bIns="0" rtlCol="0" anchor="t">
            <a:normAutofit/>
          </a:bodyPr>
          <a:lstStyle/>
          <a:p>
            <a:pPr marL="0" indent="0" algn="l">
              <a:lnSpc>
                <a:spcPts val="3360"/>
              </a:lnSpc>
              <a:buNone/>
            </a:pPr>
            <a:r>
              <a:rPr lang="en-US" sz="2400" b="1" dirty="0">
                <a:solidFill>
                  <a:srgbClr val="475569"/>
                </a:solidFill>
                <a:latin typeface="JetBrains Mono" pitchFamily="49" charset="0"/>
                <a:ea typeface="JetBrains Mono" pitchFamily="49" charset="-122"/>
                <a:cs typeface="JetBrains Mono" pitchFamily="49" charset="-120"/>
              </a:rPr>
              <a:t>+$169K</a:t>
            </a:r>
            <a:endParaRPr lang="en-US" sz="2400" dirty="0"/>
          </a:p>
        </p:txBody>
      </p:sp>
      <p:sp>
        <p:nvSpPr>
          <p:cNvPr id="22" name="Text 20"/>
          <p:cNvSpPr/>
          <p:nvPr/>
        </p:nvSpPr>
        <p:spPr>
          <a:xfrm>
            <a:off x="2456180" y="3922396"/>
            <a:ext cx="3531870" cy="247650"/>
          </a:xfrm>
          <a:prstGeom prst="rect">
            <a:avLst/>
          </a:prstGeom>
          <a:noFill/>
          <a:ln/>
        </p:spPr>
        <p:txBody>
          <a:bodyPr wrap="square" lIns="0" tIns="0" rIns="0" bIns="0" rtlCol="0" anchor="t">
            <a:normAutofit/>
          </a:bodyPr>
          <a:lstStyle/>
          <a:p>
            <a:pPr marL="0" indent="0" algn="l">
              <a:lnSpc>
                <a:spcPts val="1750"/>
              </a:lnSpc>
              <a:buNone/>
            </a:pPr>
            <a:r>
              <a:rPr lang="en-US" sz="1400" dirty="0">
                <a:solidFill>
                  <a:srgbClr val="0F172A"/>
                </a:solidFill>
                <a:latin typeface="Space Grotesk" pitchFamily="34" charset="0"/>
                <a:ea typeface="Space Grotesk" pitchFamily="34" charset="-122"/>
                <a:cs typeface="Space Grotesk" pitchFamily="34" charset="-120"/>
              </a:rPr>
              <a:t>install, freight, electrical at one US site</a:t>
            </a:r>
            <a:endParaRPr lang="en-US" sz="1400" dirty="0"/>
          </a:p>
        </p:txBody>
      </p:sp>
      <p:sp>
        <p:nvSpPr>
          <p:cNvPr id="23" name="Text 21"/>
          <p:cNvSpPr/>
          <p:nvPr/>
        </p:nvSpPr>
        <p:spPr>
          <a:xfrm>
            <a:off x="995680" y="4310382"/>
            <a:ext cx="1384300" cy="452120"/>
          </a:xfrm>
          <a:prstGeom prst="rect">
            <a:avLst/>
          </a:prstGeom>
          <a:noFill/>
          <a:ln/>
        </p:spPr>
        <p:txBody>
          <a:bodyPr wrap="square" lIns="0" tIns="0" rIns="0" bIns="0" rtlCol="0" anchor="t">
            <a:normAutofit/>
          </a:bodyPr>
          <a:lstStyle/>
          <a:p>
            <a:pPr marL="0" indent="0" algn="l">
              <a:lnSpc>
                <a:spcPts val="3360"/>
              </a:lnSpc>
              <a:buNone/>
            </a:pPr>
            <a:r>
              <a:rPr lang="en-US" sz="2400" b="1" dirty="0">
                <a:solidFill>
                  <a:srgbClr val="475569"/>
                </a:solidFill>
                <a:latin typeface="JetBrains Mono" pitchFamily="49" charset="0"/>
                <a:ea typeface="JetBrains Mono" pitchFamily="49" charset="-122"/>
                <a:cs typeface="JetBrains Mono" pitchFamily="49" charset="-120"/>
              </a:rPr>
              <a:t>40–60</a:t>
            </a:r>
            <a:endParaRPr lang="en-US" sz="2400" dirty="0"/>
          </a:p>
        </p:txBody>
      </p:sp>
      <p:sp>
        <p:nvSpPr>
          <p:cNvPr id="24" name="Text 22"/>
          <p:cNvSpPr/>
          <p:nvPr/>
        </p:nvSpPr>
        <p:spPr>
          <a:xfrm>
            <a:off x="2456180" y="4412614"/>
            <a:ext cx="3531870" cy="247650"/>
          </a:xfrm>
          <a:prstGeom prst="rect">
            <a:avLst/>
          </a:prstGeom>
          <a:noFill/>
          <a:ln/>
        </p:spPr>
        <p:txBody>
          <a:bodyPr wrap="square" lIns="0" tIns="0" rIns="0" bIns="0" rtlCol="0" anchor="t">
            <a:normAutofit/>
          </a:bodyPr>
          <a:lstStyle/>
          <a:p>
            <a:pPr marL="0" indent="0" algn="l">
              <a:lnSpc>
                <a:spcPts val="1750"/>
              </a:lnSpc>
              <a:buNone/>
            </a:pPr>
            <a:r>
              <a:rPr lang="en-US" sz="1400" dirty="0">
                <a:solidFill>
                  <a:srgbClr val="0F172A"/>
                </a:solidFill>
                <a:latin typeface="Space Grotesk" pitchFamily="34" charset="0"/>
                <a:ea typeface="Space Grotesk" pitchFamily="34" charset="-122"/>
                <a:cs typeface="Space Grotesk" pitchFamily="34" charset="-120"/>
              </a:rPr>
              <a:t>picks a minute per arm (Dallas MRF)</a:t>
            </a:r>
            <a:endParaRPr lang="en-US" sz="1400" dirty="0"/>
          </a:p>
        </p:txBody>
      </p:sp>
      <p:sp>
        <p:nvSpPr>
          <p:cNvPr id="25" name="Shape 23"/>
          <p:cNvSpPr/>
          <p:nvPr/>
        </p:nvSpPr>
        <p:spPr>
          <a:xfrm>
            <a:off x="6200775" y="2543175"/>
            <a:ext cx="5175250" cy="3314700"/>
          </a:xfrm>
          <a:prstGeom prst="roundRect">
            <a:avLst>
              <a:gd name="adj" fmla="val 2969"/>
            </a:avLst>
          </a:prstGeom>
          <a:solidFill>
            <a:srgbClr val="FFFFFF"/>
          </a:solidFill>
          <a:ln w="6350">
            <a:solidFill>
              <a:srgbClr val="E2E8F0"/>
            </a:solidFill>
            <a:prstDash val="solid"/>
          </a:ln>
        </p:spPr>
      </p:sp>
      <p:sp>
        <p:nvSpPr>
          <p:cNvPr id="26" name="Text 24"/>
          <p:cNvSpPr/>
          <p:nvPr/>
        </p:nvSpPr>
        <p:spPr>
          <a:xfrm>
            <a:off x="6380480" y="2697482"/>
            <a:ext cx="4960315"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59669"/>
                </a:solidFill>
                <a:latin typeface="JetBrains Mono" pitchFamily="49" charset="0"/>
                <a:ea typeface="JetBrains Mono" pitchFamily="49" charset="-122"/>
                <a:cs typeface="JetBrains Mono" pitchFamily="49" charset="-120"/>
              </a:rPr>
              <a:t>SMART MRF SOFTWARE LAYER</a:t>
            </a:r>
            <a:endParaRPr lang="en-US" sz="1200" dirty="0"/>
          </a:p>
        </p:txBody>
      </p:sp>
      <p:sp>
        <p:nvSpPr>
          <p:cNvPr id="27" name="Text 25"/>
          <p:cNvSpPr/>
          <p:nvPr/>
        </p:nvSpPr>
        <p:spPr>
          <a:xfrm>
            <a:off x="6380480" y="2974339"/>
            <a:ext cx="4960315"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F172A"/>
                </a:solidFill>
                <a:latin typeface="Space Grotesk" pitchFamily="34" charset="0"/>
                <a:ea typeface="Space Grotesk" pitchFamily="34" charset="-122"/>
                <a:cs typeface="Space Grotesk" pitchFamily="34" charset="-120"/>
              </a:rPr>
              <a:t>Watches the whole belt</a:t>
            </a:r>
            <a:endParaRPr lang="en-US" sz="1800" dirty="0"/>
          </a:p>
        </p:txBody>
      </p:sp>
      <p:sp>
        <p:nvSpPr>
          <p:cNvPr id="28" name="Text 26"/>
          <p:cNvSpPr/>
          <p:nvPr/>
        </p:nvSpPr>
        <p:spPr>
          <a:xfrm>
            <a:off x="6380480" y="3312161"/>
            <a:ext cx="1384300" cy="452120"/>
          </a:xfrm>
          <a:prstGeom prst="rect">
            <a:avLst/>
          </a:prstGeom>
          <a:noFill/>
          <a:ln/>
        </p:spPr>
        <p:txBody>
          <a:bodyPr wrap="square" lIns="0" tIns="0" rIns="0" bIns="0" rtlCol="0" anchor="t">
            <a:normAutofit/>
          </a:bodyPr>
          <a:lstStyle/>
          <a:p>
            <a:pPr marL="0" indent="0" algn="l">
              <a:lnSpc>
                <a:spcPts val="3360"/>
              </a:lnSpc>
              <a:buNone/>
            </a:pPr>
            <a:r>
              <a:rPr lang="en-US" sz="2400" b="1" dirty="0">
                <a:solidFill>
                  <a:srgbClr val="059669"/>
                </a:solidFill>
                <a:latin typeface="JetBrains Mono" pitchFamily="49" charset="0"/>
                <a:ea typeface="JetBrains Mono" pitchFamily="49" charset="-122"/>
                <a:cs typeface="JetBrains Mono" pitchFamily="49" charset="-120"/>
              </a:rPr>
              <a:t>1</a:t>
            </a:r>
            <a:endParaRPr lang="en-US" sz="2400" dirty="0"/>
          </a:p>
        </p:txBody>
      </p:sp>
      <p:sp>
        <p:nvSpPr>
          <p:cNvPr id="29" name="Text 27"/>
          <p:cNvSpPr/>
          <p:nvPr/>
        </p:nvSpPr>
        <p:spPr>
          <a:xfrm>
            <a:off x="7840980" y="3414396"/>
            <a:ext cx="3531870" cy="247650"/>
          </a:xfrm>
          <a:prstGeom prst="rect">
            <a:avLst/>
          </a:prstGeom>
          <a:noFill/>
          <a:ln/>
        </p:spPr>
        <p:txBody>
          <a:bodyPr wrap="square" lIns="0" tIns="0" rIns="0" bIns="0" rtlCol="0" anchor="t">
            <a:normAutofit/>
          </a:bodyPr>
          <a:lstStyle/>
          <a:p>
            <a:pPr marL="0" indent="0" algn="l">
              <a:lnSpc>
                <a:spcPts val="1750"/>
              </a:lnSpc>
              <a:buNone/>
            </a:pPr>
            <a:r>
              <a:rPr lang="en-US" sz="1400" dirty="0">
                <a:solidFill>
                  <a:srgbClr val="0F172A"/>
                </a:solidFill>
                <a:latin typeface="Space Grotesk" pitchFamily="34" charset="0"/>
                <a:ea typeface="Space Grotesk" pitchFamily="34" charset="-122"/>
                <a:cs typeface="Space Grotesk" pitchFamily="34" charset="-120"/>
              </a:rPr>
              <a:t>camera over the existing conveyor</a:t>
            </a:r>
            <a:endParaRPr lang="en-US" sz="1400" dirty="0"/>
          </a:p>
        </p:txBody>
      </p:sp>
      <p:sp>
        <p:nvSpPr>
          <p:cNvPr id="30" name="Text 28"/>
          <p:cNvSpPr/>
          <p:nvPr/>
        </p:nvSpPr>
        <p:spPr>
          <a:xfrm>
            <a:off x="6380480" y="3802382"/>
            <a:ext cx="1384300" cy="452120"/>
          </a:xfrm>
          <a:prstGeom prst="rect">
            <a:avLst/>
          </a:prstGeom>
          <a:noFill/>
          <a:ln/>
        </p:spPr>
        <p:txBody>
          <a:bodyPr wrap="square" lIns="0" tIns="0" rIns="0" bIns="0" rtlCol="0" anchor="t">
            <a:normAutofit/>
          </a:bodyPr>
          <a:lstStyle/>
          <a:p>
            <a:pPr marL="0" indent="0" algn="l">
              <a:lnSpc>
                <a:spcPts val="3360"/>
              </a:lnSpc>
              <a:buNone/>
            </a:pPr>
            <a:r>
              <a:rPr lang="en-US" sz="2400" b="1" dirty="0">
                <a:solidFill>
                  <a:srgbClr val="059669"/>
                </a:solidFill>
                <a:latin typeface="JetBrains Mono" pitchFamily="49" charset="0"/>
                <a:ea typeface="JetBrains Mono" pitchFamily="49" charset="-122"/>
                <a:cs typeface="JetBrains Mono" pitchFamily="49" charset="-120"/>
              </a:rPr>
              <a:t>0</a:t>
            </a:r>
            <a:endParaRPr lang="en-US" sz="2400" dirty="0"/>
          </a:p>
        </p:txBody>
      </p:sp>
      <p:sp>
        <p:nvSpPr>
          <p:cNvPr id="31" name="Text 29"/>
          <p:cNvSpPr/>
          <p:nvPr/>
        </p:nvSpPr>
        <p:spPr>
          <a:xfrm>
            <a:off x="7840980" y="3904614"/>
            <a:ext cx="3157633" cy="247650"/>
          </a:xfrm>
          <a:prstGeom prst="rect">
            <a:avLst/>
          </a:prstGeom>
          <a:noFill/>
          <a:ln/>
        </p:spPr>
        <p:txBody>
          <a:bodyPr wrap="square" lIns="0" tIns="0" rIns="0" bIns="0" rtlCol="0" anchor="t">
            <a:normAutofit/>
          </a:bodyPr>
          <a:lstStyle/>
          <a:p>
            <a:pPr marL="0" indent="0" algn="l">
              <a:lnSpc>
                <a:spcPts val="1750"/>
              </a:lnSpc>
              <a:buNone/>
            </a:pPr>
            <a:r>
              <a:rPr lang="en-US" sz="1400" dirty="0">
                <a:solidFill>
                  <a:srgbClr val="0F172A"/>
                </a:solidFill>
                <a:latin typeface="Space Grotesk" pitchFamily="34" charset="0"/>
                <a:ea typeface="Space Grotesk" pitchFamily="34" charset="-122"/>
                <a:cs typeface="Space Grotesk" pitchFamily="34" charset="-120"/>
              </a:rPr>
              <a:t>conveyor rebuilds or teardown</a:t>
            </a:r>
            <a:endParaRPr lang="en-US" sz="1400" dirty="0"/>
          </a:p>
        </p:txBody>
      </p:sp>
      <p:sp>
        <p:nvSpPr>
          <p:cNvPr id="32" name="Text 30"/>
          <p:cNvSpPr/>
          <p:nvPr/>
        </p:nvSpPr>
        <p:spPr>
          <a:xfrm>
            <a:off x="6380480" y="4292600"/>
            <a:ext cx="1384300" cy="452120"/>
          </a:xfrm>
          <a:prstGeom prst="rect">
            <a:avLst/>
          </a:prstGeom>
          <a:noFill/>
          <a:ln/>
        </p:spPr>
        <p:txBody>
          <a:bodyPr wrap="square" lIns="0" tIns="0" rIns="0" bIns="0" rtlCol="0" anchor="t">
            <a:normAutofit/>
          </a:bodyPr>
          <a:lstStyle/>
          <a:p>
            <a:pPr marL="0" indent="0" algn="l">
              <a:lnSpc>
                <a:spcPts val="3360"/>
              </a:lnSpc>
              <a:buNone/>
            </a:pPr>
            <a:r>
              <a:rPr lang="en-US" sz="2400" b="1" dirty="0">
                <a:solidFill>
                  <a:srgbClr val="059669"/>
                </a:solidFill>
                <a:latin typeface="JetBrains Mono" pitchFamily="49" charset="0"/>
                <a:ea typeface="JetBrains Mono" pitchFamily="49" charset="-122"/>
                <a:cs typeface="JetBrains Mono" pitchFamily="49" charset="-120"/>
              </a:rPr>
              <a:t>2</a:t>
            </a:r>
            <a:endParaRPr lang="en-US" sz="2400" dirty="0"/>
          </a:p>
        </p:txBody>
      </p:sp>
      <p:sp>
        <p:nvSpPr>
          <p:cNvPr id="33" name="Text 31"/>
          <p:cNvSpPr/>
          <p:nvPr/>
        </p:nvSpPr>
        <p:spPr>
          <a:xfrm>
            <a:off x="7840980" y="4394836"/>
            <a:ext cx="2873502" cy="247650"/>
          </a:xfrm>
          <a:prstGeom prst="rect">
            <a:avLst/>
          </a:prstGeom>
          <a:noFill/>
          <a:ln/>
        </p:spPr>
        <p:txBody>
          <a:bodyPr wrap="square" lIns="0" tIns="0" rIns="0" bIns="0" rtlCol="0" anchor="t">
            <a:normAutofit/>
          </a:bodyPr>
          <a:lstStyle/>
          <a:p>
            <a:pPr marL="0" indent="0" algn="l">
              <a:lnSpc>
                <a:spcPts val="1750"/>
              </a:lnSpc>
              <a:buNone/>
            </a:pPr>
            <a:r>
              <a:rPr lang="en-US" sz="1400" dirty="0">
                <a:solidFill>
                  <a:srgbClr val="0F172A"/>
                </a:solidFill>
                <a:latin typeface="Space Grotesk" pitchFamily="34" charset="0"/>
                <a:ea typeface="Space Grotesk" pitchFamily="34" charset="-122"/>
                <a:cs typeface="Space Grotesk" pitchFamily="34" charset="-120"/>
              </a:rPr>
              <a:t>hazard classes watched live</a:t>
            </a:r>
            <a:endParaRPr lang="en-US" sz="1400" dirty="0"/>
          </a:p>
        </p:txBody>
      </p:sp>
      <p:sp>
        <p:nvSpPr>
          <p:cNvPr id="34" name="Text 32"/>
          <p:cNvSpPr/>
          <p:nvPr/>
        </p:nvSpPr>
        <p:spPr>
          <a:xfrm>
            <a:off x="812800" y="60325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75569"/>
                </a:solidFill>
                <a:latin typeface="Space Grotesk" pitchFamily="34" charset="0"/>
                <a:ea typeface="Space Grotesk" pitchFamily="34" charset="-122"/>
                <a:cs typeface="Space Grotesk" pitchFamily="34" charset="-120"/>
              </a:rPr>
              <a:t>Robot figures: Resource Recycling (</a:t>
            </a:r>
            <a:r>
              <a:rPr lang="en-US" sz="1200" b="1" u="sng" dirty="0">
                <a:solidFill>
                  <a:srgbClr val="059669"/>
                </a:solidFill>
                <a:latin typeface="Space Grotesk" pitchFamily="34" charset="0"/>
                <a:ea typeface="Space Grotesk" pitchFamily="34" charset="-122"/>
                <a:cs typeface="Space Grotesk" pitchFamily="34" charset="-120"/>
                <a:hlinkClick r:id="rId5">
                  <a:extLst>
                    <a:ext uri="{A12FA001-AC4F-418D-AE19-62706E023703}">
                      <ahyp:hlinkClr xmlns:ahyp="http://schemas.microsoft.com/office/drawing/2018/hyperlinkcolor" val="tx"/>
                    </a:ext>
                  </a:extLst>
                </a:hlinkClick>
              </a:rPr>
              <a:t>robot costs</a:t>
            </a:r>
            <a:r>
              <a:rPr lang="en-US" sz="1200" dirty="0">
                <a:solidFill>
                  <a:srgbClr val="475569"/>
                </a:solidFill>
                <a:latin typeface="Space Grotesk" pitchFamily="34" charset="0"/>
                <a:ea typeface="Space Grotesk" pitchFamily="34" charset="-122"/>
                <a:cs typeface="Space Grotesk" pitchFamily="34" charset="-120"/>
              </a:rPr>
              <a:t>, </a:t>
            </a:r>
            <a:r>
              <a:rPr lang="en-US" sz="1200" b="1" u="sng" dirty="0">
                <a:solidFill>
                  <a:srgbClr val="059669"/>
                </a:solidFill>
                <a:latin typeface="Space Grotesk" pitchFamily="34" charset="0"/>
                <a:ea typeface="Space Grotesk" pitchFamily="34" charset="-122"/>
                <a:cs typeface="Space Grotesk" pitchFamily="34" charset="-120"/>
                <a:hlinkClick r:id="rId6">
                  <a:extLst>
                    <a:ext uri="{A12FA001-AC4F-418D-AE19-62706E023703}">
                      <ahyp:hlinkClr xmlns:ahyp="http://schemas.microsoft.com/office/drawing/2018/hyperlinkcolor" val="tx"/>
                    </a:ext>
                  </a:extLst>
                </a:hlinkClick>
              </a:rPr>
              <a:t>Dallas MRF</a:t>
            </a:r>
            <a:r>
              <a:rPr lang="en-US" sz="1200" dirty="0">
                <a:solidFill>
                  <a:srgbClr val="475569"/>
                </a:solidFill>
                <a:latin typeface="Space Grotesk" pitchFamily="34" charset="0"/>
                <a:ea typeface="Space Grotesk" pitchFamily="34" charset="-122"/>
                <a:cs typeface="Space Grotesk" pitchFamily="34" charset="-120"/>
              </a:rPr>
              <a:t>). Smart MRF hardware cost: [to be added].</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59669"/>
                </a:solidFill>
                <a:latin typeface="JetBrains Mono" pitchFamily="49" charset="0"/>
                <a:ea typeface="JetBrains Mono" pitchFamily="49" charset="-122"/>
                <a:cs typeface="JetBrains Mono" pitchFamily="49" charset="-120"/>
              </a:rPr>
              <a:t>ARCHITECTURE</a:t>
            </a:r>
            <a:endParaRPr lang="en-US" sz="1200" dirty="0"/>
          </a:p>
        </p:txBody>
      </p:sp>
      <p:sp>
        <p:nvSpPr>
          <p:cNvPr id="3" name="Text 1"/>
          <p:cNvSpPr>
            <a:spLocks noGrp="1"/>
          </p:cNvSpPr>
          <p:nvPr>
            <p:ph type="title"/>
          </p:nvPr>
        </p:nvSpPr>
        <p:spPr>
          <a:xfrm>
            <a:off x="812800" y="822961"/>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0F172A"/>
                </a:solidFill>
                <a:latin typeface="Space Grotesk" pitchFamily="34" charset="0"/>
                <a:ea typeface="Space Grotesk" pitchFamily="34" charset="-122"/>
                <a:cs typeface="Space Grotesk" pitchFamily="34" charset="-120"/>
              </a:rPr>
              <a:t>From Belt Video to Operator Advice</a:t>
            </a:r>
            <a:endParaRPr lang="en-US" sz="3000" dirty="0"/>
          </a:p>
        </p:txBody>
      </p:sp>
      <p:pic>
        <p:nvPicPr>
          <p:cNvPr id="4" name="Image 0" descr="Flowchart from belt video through detection, tracking, event log, digital twin, dashboard and Gemini report to the operator"/>
          <p:cNvPicPr>
            <a:picLocks noChangeAspect="1"/>
          </p:cNvPicPr>
          <p:nvPr/>
        </p:nvPicPr>
        <p:blipFill>
          <a:blip r:embed="rId3"/>
          <a:srcRect t="-9" b="-9"/>
          <a:stretch/>
        </p:blipFill>
        <p:spPr>
          <a:xfrm>
            <a:off x="812800" y="1419861"/>
            <a:ext cx="10566400" cy="2286000"/>
          </a:xfrm>
          <a:prstGeom prst="rect">
            <a:avLst/>
          </a:prstGeom>
        </p:spPr>
      </p:pic>
      <p:sp>
        <p:nvSpPr>
          <p:cNvPr id="5" name="Text 2"/>
          <p:cNvSpPr/>
          <p:nvPr/>
        </p:nvSpPr>
        <p:spPr>
          <a:xfrm>
            <a:off x="819150" y="3890011"/>
            <a:ext cx="3035300" cy="416560"/>
          </a:xfrm>
          <a:prstGeom prst="roundRect">
            <a:avLst>
              <a:gd name="adj" fmla="val 13720"/>
            </a:avLst>
          </a:prstGeom>
          <a:solidFill>
            <a:srgbClr val="FFFFFF"/>
          </a:solidFill>
          <a:ln w="12700">
            <a:solidFill>
              <a:srgbClr val="059669"/>
            </a:solidFill>
            <a:prstDash val="solid"/>
          </a:ln>
        </p:spPr>
        <p:txBody>
          <a:bodyPr wrap="none" lIns="0" tIns="0" rIns="0" bIns="0" rtlCol="0" anchor="ctr">
            <a:normAutofit/>
          </a:bodyPr>
          <a:lstStyle/>
          <a:p>
            <a:pPr marL="0" indent="0" algn="ctr">
              <a:lnSpc>
                <a:spcPts val="1820"/>
              </a:lnSpc>
              <a:buNone/>
            </a:pPr>
            <a:r>
              <a:rPr lang="en-US" sz="1300" b="1" dirty="0">
                <a:solidFill>
                  <a:srgbClr val="059669"/>
                </a:solidFill>
                <a:latin typeface="JetBrains Mono" pitchFamily="49" charset="0"/>
                <a:ea typeface="JetBrains Mono" pitchFamily="49" charset="-122"/>
                <a:cs typeface="JetBrains Mono" pitchFamily="49" charset="-120"/>
              </a:rPr>
              <a:t>YOLO11s · 640 px · 94 epochs</a:t>
            </a:r>
            <a:endParaRPr lang="en-US" sz="1300" dirty="0"/>
          </a:p>
        </p:txBody>
      </p:sp>
      <p:sp>
        <p:nvSpPr>
          <p:cNvPr id="6" name="Text 3"/>
          <p:cNvSpPr/>
          <p:nvPr/>
        </p:nvSpPr>
        <p:spPr>
          <a:xfrm>
            <a:off x="3994150" y="3890011"/>
            <a:ext cx="2738120" cy="416560"/>
          </a:xfrm>
          <a:prstGeom prst="roundRect">
            <a:avLst>
              <a:gd name="adj" fmla="val 13720"/>
            </a:avLst>
          </a:prstGeom>
          <a:solidFill>
            <a:srgbClr val="FFFFFF"/>
          </a:solidFill>
          <a:ln w="12700">
            <a:solidFill>
              <a:srgbClr val="059669"/>
            </a:solidFill>
            <a:prstDash val="solid"/>
          </a:ln>
        </p:spPr>
        <p:txBody>
          <a:bodyPr wrap="none" lIns="0" tIns="0" rIns="0" bIns="0" rtlCol="0" anchor="ctr">
            <a:normAutofit/>
          </a:bodyPr>
          <a:lstStyle/>
          <a:p>
            <a:pPr marL="0" indent="0" algn="ctr">
              <a:lnSpc>
                <a:spcPts val="1820"/>
              </a:lnSpc>
              <a:buNone/>
            </a:pPr>
            <a:r>
              <a:rPr lang="en-US" sz="1300" b="1" dirty="0">
                <a:solidFill>
                  <a:srgbClr val="059669"/>
                </a:solidFill>
                <a:latin typeface="JetBrains Mono" pitchFamily="49" charset="0"/>
                <a:ea typeface="JetBrains Mono" pitchFamily="49" charset="-122"/>
                <a:cs typeface="JetBrains Mono" pitchFamily="49" charset="-120"/>
              </a:rPr>
              <a:t>Frame tracker: persistent IDs</a:t>
            </a:r>
            <a:endParaRPr lang="en-US" sz="1300" dirty="0"/>
          </a:p>
        </p:txBody>
      </p:sp>
      <p:sp>
        <p:nvSpPr>
          <p:cNvPr id="7" name="Text 4"/>
          <p:cNvSpPr/>
          <p:nvPr/>
        </p:nvSpPr>
        <p:spPr>
          <a:xfrm>
            <a:off x="819150" y="4446271"/>
            <a:ext cx="4909185" cy="416560"/>
          </a:xfrm>
          <a:prstGeom prst="roundRect">
            <a:avLst>
              <a:gd name="adj" fmla="val 13720"/>
            </a:avLst>
          </a:prstGeom>
          <a:solidFill>
            <a:srgbClr val="FFFFFF"/>
          </a:solidFill>
          <a:ln w="12700">
            <a:solidFill>
              <a:srgbClr val="DC2626"/>
            </a:solidFill>
            <a:prstDash val="solid"/>
          </a:ln>
        </p:spPr>
        <p:txBody>
          <a:bodyPr wrap="none" lIns="0" tIns="0" rIns="0" bIns="0" rtlCol="0" anchor="ctr">
            <a:normAutofit/>
          </a:bodyPr>
          <a:lstStyle/>
          <a:p>
            <a:pPr marL="0" indent="0" algn="ctr">
              <a:lnSpc>
                <a:spcPts val="1820"/>
              </a:lnSpc>
              <a:buNone/>
            </a:pPr>
            <a:r>
              <a:rPr lang="en-US" sz="1300" b="1" dirty="0">
                <a:solidFill>
                  <a:srgbClr val="DC2626"/>
                </a:solidFill>
                <a:latin typeface="JetBrains Mono" pitchFamily="49" charset="0"/>
                <a:ea typeface="JetBrains Mono" pitchFamily="49" charset="-122"/>
                <a:cs typeface="JetBrains Mono" pitchFamily="49" charset="-120"/>
              </a:rPr>
              <a:t>battery · aerosol → CRITICAL</a:t>
            </a:r>
            <a:endParaRPr lang="en-US" sz="1300" dirty="0"/>
          </a:p>
        </p:txBody>
      </p:sp>
      <p:sp>
        <p:nvSpPr>
          <p:cNvPr id="8" name="Text 5"/>
          <p:cNvSpPr/>
          <p:nvPr/>
        </p:nvSpPr>
        <p:spPr>
          <a:xfrm>
            <a:off x="5868035" y="4446271"/>
            <a:ext cx="3827780" cy="416560"/>
          </a:xfrm>
          <a:prstGeom prst="roundRect">
            <a:avLst>
              <a:gd name="adj" fmla="val 13720"/>
            </a:avLst>
          </a:prstGeom>
          <a:solidFill>
            <a:srgbClr val="FFFFFF"/>
          </a:solidFill>
          <a:ln w="12700">
            <a:solidFill>
              <a:srgbClr val="475569"/>
            </a:solidFill>
            <a:prstDash val="solid"/>
          </a:ln>
        </p:spPr>
        <p:txBody>
          <a:bodyPr wrap="none" lIns="0" tIns="0" rIns="0" bIns="0" rtlCol="0" anchor="ctr">
            <a:normAutofit/>
          </a:bodyPr>
          <a:lstStyle/>
          <a:p>
            <a:pPr marL="0" indent="0" algn="ctr">
              <a:lnSpc>
                <a:spcPts val="1820"/>
              </a:lnSpc>
              <a:buNone/>
            </a:pPr>
            <a:r>
              <a:rPr lang="en-US" sz="1300" b="1" dirty="0">
                <a:solidFill>
                  <a:srgbClr val="475569"/>
                </a:solidFill>
                <a:latin typeface="JetBrains Mono" pitchFamily="49" charset="0"/>
                <a:ea typeface="JetBrains Mono" pitchFamily="49" charset="-122"/>
                <a:cs typeface="JetBrains Mono" pitchFamily="49" charset="-120"/>
              </a:rPr>
              <a:t>offline summary if no Gemini key</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59669"/>
                </a:solidFill>
                <a:latin typeface="JetBrains Mono" pitchFamily="49" charset="0"/>
                <a:ea typeface="JetBrains Mono" pitchFamily="49" charset="-122"/>
                <a:cs typeface="JetBrains Mono" pitchFamily="49" charset="-120"/>
              </a:rPr>
              <a:t>DEEP DIVE · THE EYE</a:t>
            </a:r>
            <a:endParaRPr lang="en-US" sz="1200" dirty="0"/>
          </a:p>
        </p:txBody>
      </p:sp>
      <p:sp>
        <p:nvSpPr>
          <p:cNvPr id="3" name="Text 1"/>
          <p:cNvSpPr>
            <a:spLocks noGrp="1"/>
          </p:cNvSpPr>
          <p:nvPr>
            <p:ph type="title"/>
          </p:nvPr>
        </p:nvSpPr>
        <p:spPr>
          <a:xfrm>
            <a:off x="812800" y="822961"/>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0F172A"/>
                </a:solidFill>
                <a:latin typeface="Space Grotesk" pitchFamily="34" charset="0"/>
                <a:ea typeface="Space Grotesk" pitchFamily="34" charset="-122"/>
                <a:cs typeface="Space Grotesk" pitchFamily="34" charset="-120"/>
              </a:rPr>
              <a:t>8-Class Computer Vision on the Belt</a:t>
            </a:r>
            <a:endParaRPr lang="en-US" sz="3000" dirty="0"/>
          </a:p>
        </p:txBody>
      </p:sp>
      <p:sp>
        <p:nvSpPr>
          <p:cNvPr id="4" name="Shape 2"/>
          <p:cNvSpPr/>
          <p:nvPr/>
        </p:nvSpPr>
        <p:spPr>
          <a:xfrm>
            <a:off x="815975" y="1423036"/>
            <a:ext cx="3431064" cy="1518444"/>
          </a:xfrm>
          <a:prstGeom prst="roundRect">
            <a:avLst>
              <a:gd name="adj" fmla="val 6482"/>
            </a:avLst>
          </a:prstGeom>
          <a:solidFill>
            <a:srgbClr val="FFFFFF"/>
          </a:solidFill>
          <a:ln w="6350">
            <a:solidFill>
              <a:srgbClr val="E2E8F0"/>
            </a:solidFill>
            <a:prstDash val="solid"/>
          </a:ln>
        </p:spPr>
      </p:sp>
      <p:pic>
        <p:nvPicPr>
          <p:cNvPr id="5" name="Image 0" descr="paper"/>
          <p:cNvPicPr>
            <a:picLocks noChangeAspect="1"/>
          </p:cNvPicPr>
          <p:nvPr/>
        </p:nvPicPr>
        <p:blipFill>
          <a:blip r:embed="rId3"/>
          <a:srcRect/>
          <a:stretch/>
        </p:blipFill>
        <p:spPr>
          <a:xfrm>
            <a:off x="995680" y="1852057"/>
            <a:ext cx="660400" cy="660400"/>
          </a:xfrm>
          <a:prstGeom prst="rect">
            <a:avLst/>
          </a:prstGeom>
        </p:spPr>
      </p:pic>
      <p:sp>
        <p:nvSpPr>
          <p:cNvPr id="6" name="Text 3"/>
          <p:cNvSpPr/>
          <p:nvPr/>
        </p:nvSpPr>
        <p:spPr>
          <a:xfrm>
            <a:off x="1808480" y="1933336"/>
            <a:ext cx="1422400"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0F172A"/>
                </a:solidFill>
                <a:latin typeface="JetBrains Mono" pitchFamily="49" charset="0"/>
                <a:ea typeface="JetBrains Mono" pitchFamily="49" charset="-122"/>
                <a:cs typeface="JetBrains Mono" pitchFamily="49" charset="-120"/>
              </a:rPr>
              <a:t>paper</a:t>
            </a:r>
            <a:endParaRPr lang="en-US" sz="1600" dirty="0"/>
          </a:p>
        </p:txBody>
      </p:sp>
      <p:sp>
        <p:nvSpPr>
          <p:cNvPr id="7" name="Text 4"/>
          <p:cNvSpPr/>
          <p:nvPr/>
        </p:nvSpPr>
        <p:spPr>
          <a:xfrm>
            <a:off x="1808480" y="2217818"/>
            <a:ext cx="164592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59669"/>
                </a:solidFill>
                <a:latin typeface="JetBrains Mono" pitchFamily="49" charset="0"/>
                <a:ea typeface="JetBrains Mono" pitchFamily="49" charset="-122"/>
                <a:cs typeface="JetBrains Mono" pitchFamily="49" charset="-120"/>
              </a:rPr>
              <a:t>[SAFE: RECYCLE]</a:t>
            </a:r>
            <a:endParaRPr lang="en-US" sz="1200" dirty="0"/>
          </a:p>
        </p:txBody>
      </p:sp>
      <p:sp>
        <p:nvSpPr>
          <p:cNvPr id="8" name="Shape 5"/>
          <p:cNvSpPr/>
          <p:nvPr/>
        </p:nvSpPr>
        <p:spPr>
          <a:xfrm>
            <a:off x="4380389" y="1423036"/>
            <a:ext cx="3431143" cy="1518444"/>
          </a:xfrm>
          <a:prstGeom prst="roundRect">
            <a:avLst>
              <a:gd name="adj" fmla="val 6482"/>
            </a:avLst>
          </a:prstGeom>
          <a:solidFill>
            <a:srgbClr val="FFFFFF"/>
          </a:solidFill>
          <a:ln w="6350">
            <a:solidFill>
              <a:srgbClr val="E2E8F0"/>
            </a:solidFill>
            <a:prstDash val="solid"/>
          </a:ln>
        </p:spPr>
      </p:sp>
      <p:pic>
        <p:nvPicPr>
          <p:cNvPr id="9" name="Image 1" descr="cardboard"/>
          <p:cNvPicPr>
            <a:picLocks noChangeAspect="1"/>
          </p:cNvPicPr>
          <p:nvPr/>
        </p:nvPicPr>
        <p:blipFill>
          <a:blip r:embed="rId4"/>
          <a:srcRect/>
          <a:stretch/>
        </p:blipFill>
        <p:spPr>
          <a:xfrm>
            <a:off x="4560094" y="1852057"/>
            <a:ext cx="660400" cy="660400"/>
          </a:xfrm>
          <a:prstGeom prst="rect">
            <a:avLst/>
          </a:prstGeom>
        </p:spPr>
      </p:pic>
      <p:sp>
        <p:nvSpPr>
          <p:cNvPr id="10" name="Text 6"/>
          <p:cNvSpPr/>
          <p:nvPr/>
        </p:nvSpPr>
        <p:spPr>
          <a:xfrm>
            <a:off x="5372894" y="1933336"/>
            <a:ext cx="1422400"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0F172A"/>
                </a:solidFill>
                <a:latin typeface="JetBrains Mono" pitchFamily="49" charset="0"/>
                <a:ea typeface="JetBrains Mono" pitchFamily="49" charset="-122"/>
                <a:cs typeface="JetBrains Mono" pitchFamily="49" charset="-120"/>
              </a:rPr>
              <a:t>cardboard</a:t>
            </a:r>
            <a:endParaRPr lang="en-US" sz="1600" dirty="0"/>
          </a:p>
        </p:txBody>
      </p:sp>
      <p:sp>
        <p:nvSpPr>
          <p:cNvPr id="11" name="Text 7"/>
          <p:cNvSpPr/>
          <p:nvPr/>
        </p:nvSpPr>
        <p:spPr>
          <a:xfrm>
            <a:off x="5372894" y="2217818"/>
            <a:ext cx="164592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59669"/>
                </a:solidFill>
                <a:latin typeface="JetBrains Mono" pitchFamily="49" charset="0"/>
                <a:ea typeface="JetBrains Mono" pitchFamily="49" charset="-122"/>
                <a:cs typeface="JetBrains Mono" pitchFamily="49" charset="-120"/>
              </a:rPr>
              <a:t>[SAFE: RECYCLE]</a:t>
            </a:r>
            <a:endParaRPr lang="en-US" sz="1200" dirty="0"/>
          </a:p>
        </p:txBody>
      </p:sp>
      <p:sp>
        <p:nvSpPr>
          <p:cNvPr id="12" name="Shape 8"/>
          <p:cNvSpPr/>
          <p:nvPr/>
        </p:nvSpPr>
        <p:spPr>
          <a:xfrm>
            <a:off x="7944882" y="1423036"/>
            <a:ext cx="3431143" cy="1518444"/>
          </a:xfrm>
          <a:prstGeom prst="roundRect">
            <a:avLst>
              <a:gd name="adj" fmla="val 6482"/>
            </a:avLst>
          </a:prstGeom>
          <a:solidFill>
            <a:srgbClr val="FFFFFF"/>
          </a:solidFill>
          <a:ln w="6350">
            <a:solidFill>
              <a:srgbClr val="E2E8F0"/>
            </a:solidFill>
            <a:prstDash val="solid"/>
          </a:ln>
        </p:spPr>
      </p:sp>
      <p:pic>
        <p:nvPicPr>
          <p:cNvPr id="13" name="Image 2" descr="plastic"/>
          <p:cNvPicPr>
            <a:picLocks noChangeAspect="1"/>
          </p:cNvPicPr>
          <p:nvPr/>
        </p:nvPicPr>
        <p:blipFill>
          <a:blip r:embed="rId5"/>
          <a:srcRect/>
          <a:stretch/>
        </p:blipFill>
        <p:spPr>
          <a:xfrm>
            <a:off x="8124587" y="1852057"/>
            <a:ext cx="660400" cy="660400"/>
          </a:xfrm>
          <a:prstGeom prst="rect">
            <a:avLst/>
          </a:prstGeom>
        </p:spPr>
      </p:pic>
      <p:sp>
        <p:nvSpPr>
          <p:cNvPr id="14" name="Text 9"/>
          <p:cNvSpPr/>
          <p:nvPr/>
        </p:nvSpPr>
        <p:spPr>
          <a:xfrm>
            <a:off x="8937387" y="1933336"/>
            <a:ext cx="1422400"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0F172A"/>
                </a:solidFill>
                <a:latin typeface="JetBrains Mono" pitchFamily="49" charset="0"/>
                <a:ea typeface="JetBrains Mono" pitchFamily="49" charset="-122"/>
                <a:cs typeface="JetBrains Mono" pitchFamily="49" charset="-120"/>
              </a:rPr>
              <a:t>plastic</a:t>
            </a:r>
            <a:endParaRPr lang="en-US" sz="1600" dirty="0"/>
          </a:p>
        </p:txBody>
      </p:sp>
      <p:sp>
        <p:nvSpPr>
          <p:cNvPr id="15" name="Text 10"/>
          <p:cNvSpPr/>
          <p:nvPr/>
        </p:nvSpPr>
        <p:spPr>
          <a:xfrm>
            <a:off x="8937387" y="2217818"/>
            <a:ext cx="164592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59669"/>
                </a:solidFill>
                <a:latin typeface="JetBrains Mono" pitchFamily="49" charset="0"/>
                <a:ea typeface="JetBrains Mono" pitchFamily="49" charset="-122"/>
                <a:cs typeface="JetBrains Mono" pitchFamily="49" charset="-120"/>
              </a:rPr>
              <a:t>[SAFE: RECYCLE]</a:t>
            </a:r>
            <a:endParaRPr lang="en-US" sz="1200" dirty="0"/>
          </a:p>
        </p:txBody>
      </p:sp>
      <p:sp>
        <p:nvSpPr>
          <p:cNvPr id="16" name="Shape 11"/>
          <p:cNvSpPr/>
          <p:nvPr/>
        </p:nvSpPr>
        <p:spPr>
          <a:xfrm>
            <a:off x="815975" y="3074829"/>
            <a:ext cx="3431064" cy="1518523"/>
          </a:xfrm>
          <a:prstGeom prst="roundRect">
            <a:avLst>
              <a:gd name="adj" fmla="val 6482"/>
            </a:avLst>
          </a:prstGeom>
          <a:solidFill>
            <a:srgbClr val="FFFFFF"/>
          </a:solidFill>
          <a:ln w="6350">
            <a:solidFill>
              <a:srgbClr val="E2E8F0"/>
            </a:solidFill>
            <a:prstDash val="solid"/>
          </a:ln>
        </p:spPr>
      </p:sp>
      <p:pic>
        <p:nvPicPr>
          <p:cNvPr id="17" name="Image 3" descr="glass"/>
          <p:cNvPicPr>
            <a:picLocks noChangeAspect="1"/>
          </p:cNvPicPr>
          <p:nvPr/>
        </p:nvPicPr>
        <p:blipFill>
          <a:blip r:embed="rId6"/>
          <a:srcRect/>
          <a:stretch/>
        </p:blipFill>
        <p:spPr>
          <a:xfrm>
            <a:off x="995680" y="3503851"/>
            <a:ext cx="660400" cy="660400"/>
          </a:xfrm>
          <a:prstGeom prst="rect">
            <a:avLst/>
          </a:prstGeom>
        </p:spPr>
      </p:pic>
      <p:sp>
        <p:nvSpPr>
          <p:cNvPr id="18" name="Text 12"/>
          <p:cNvSpPr/>
          <p:nvPr/>
        </p:nvSpPr>
        <p:spPr>
          <a:xfrm>
            <a:off x="1808480" y="3585130"/>
            <a:ext cx="1422400"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0F172A"/>
                </a:solidFill>
                <a:latin typeface="JetBrains Mono" pitchFamily="49" charset="0"/>
                <a:ea typeface="JetBrains Mono" pitchFamily="49" charset="-122"/>
                <a:cs typeface="JetBrains Mono" pitchFamily="49" charset="-120"/>
              </a:rPr>
              <a:t>glass</a:t>
            </a:r>
            <a:endParaRPr lang="en-US" sz="1600" dirty="0"/>
          </a:p>
        </p:txBody>
      </p:sp>
      <p:sp>
        <p:nvSpPr>
          <p:cNvPr id="19" name="Text 13"/>
          <p:cNvSpPr/>
          <p:nvPr/>
        </p:nvSpPr>
        <p:spPr>
          <a:xfrm>
            <a:off x="1808480" y="3869612"/>
            <a:ext cx="164592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59669"/>
                </a:solidFill>
                <a:latin typeface="JetBrains Mono" pitchFamily="49" charset="0"/>
                <a:ea typeface="JetBrains Mono" pitchFamily="49" charset="-122"/>
                <a:cs typeface="JetBrains Mono" pitchFamily="49" charset="-120"/>
              </a:rPr>
              <a:t>[SAFE: RECYCLE]</a:t>
            </a:r>
            <a:endParaRPr lang="en-US" sz="1200" dirty="0"/>
          </a:p>
        </p:txBody>
      </p:sp>
      <p:sp>
        <p:nvSpPr>
          <p:cNvPr id="20" name="Shape 14"/>
          <p:cNvSpPr/>
          <p:nvPr/>
        </p:nvSpPr>
        <p:spPr>
          <a:xfrm>
            <a:off x="4380389" y="3074829"/>
            <a:ext cx="3431143" cy="1518523"/>
          </a:xfrm>
          <a:prstGeom prst="roundRect">
            <a:avLst>
              <a:gd name="adj" fmla="val 6482"/>
            </a:avLst>
          </a:prstGeom>
          <a:solidFill>
            <a:srgbClr val="FFFFFF"/>
          </a:solidFill>
          <a:ln w="6350">
            <a:solidFill>
              <a:srgbClr val="E2E8F0"/>
            </a:solidFill>
            <a:prstDash val="solid"/>
          </a:ln>
        </p:spPr>
      </p:sp>
      <p:pic>
        <p:nvPicPr>
          <p:cNvPr id="21" name="Image 4" descr="metal"/>
          <p:cNvPicPr>
            <a:picLocks noChangeAspect="1"/>
          </p:cNvPicPr>
          <p:nvPr/>
        </p:nvPicPr>
        <p:blipFill>
          <a:blip r:embed="rId7"/>
          <a:srcRect/>
          <a:stretch/>
        </p:blipFill>
        <p:spPr>
          <a:xfrm>
            <a:off x="4560094" y="3503851"/>
            <a:ext cx="660400" cy="660400"/>
          </a:xfrm>
          <a:prstGeom prst="rect">
            <a:avLst/>
          </a:prstGeom>
        </p:spPr>
      </p:pic>
      <p:sp>
        <p:nvSpPr>
          <p:cNvPr id="22" name="Text 15"/>
          <p:cNvSpPr/>
          <p:nvPr/>
        </p:nvSpPr>
        <p:spPr>
          <a:xfrm>
            <a:off x="5372894" y="3585130"/>
            <a:ext cx="1422400"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0F172A"/>
                </a:solidFill>
                <a:latin typeface="JetBrains Mono" pitchFamily="49" charset="0"/>
                <a:ea typeface="JetBrains Mono" pitchFamily="49" charset="-122"/>
                <a:cs typeface="JetBrains Mono" pitchFamily="49" charset="-120"/>
              </a:rPr>
              <a:t>metal</a:t>
            </a:r>
            <a:endParaRPr lang="en-US" sz="1600" dirty="0"/>
          </a:p>
        </p:txBody>
      </p:sp>
      <p:sp>
        <p:nvSpPr>
          <p:cNvPr id="23" name="Text 16"/>
          <p:cNvSpPr/>
          <p:nvPr/>
        </p:nvSpPr>
        <p:spPr>
          <a:xfrm>
            <a:off x="5372894" y="3869612"/>
            <a:ext cx="164592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59669"/>
                </a:solidFill>
                <a:latin typeface="JetBrains Mono" pitchFamily="49" charset="0"/>
                <a:ea typeface="JetBrains Mono" pitchFamily="49" charset="-122"/>
                <a:cs typeface="JetBrains Mono" pitchFamily="49" charset="-120"/>
              </a:rPr>
              <a:t>[SAFE: RECYCLE]</a:t>
            </a:r>
            <a:endParaRPr lang="en-US" sz="1200" dirty="0"/>
          </a:p>
        </p:txBody>
      </p:sp>
      <p:sp>
        <p:nvSpPr>
          <p:cNvPr id="24" name="Shape 17"/>
          <p:cNvSpPr/>
          <p:nvPr/>
        </p:nvSpPr>
        <p:spPr>
          <a:xfrm>
            <a:off x="7944882" y="3074829"/>
            <a:ext cx="3431143" cy="1518523"/>
          </a:xfrm>
          <a:prstGeom prst="roundRect">
            <a:avLst>
              <a:gd name="adj" fmla="val 6482"/>
            </a:avLst>
          </a:prstGeom>
          <a:solidFill>
            <a:srgbClr val="FFFFFF"/>
          </a:solidFill>
          <a:ln w="6350">
            <a:solidFill>
              <a:srgbClr val="E2E8F0"/>
            </a:solidFill>
            <a:prstDash val="solid"/>
          </a:ln>
        </p:spPr>
      </p:sp>
      <p:pic>
        <p:nvPicPr>
          <p:cNvPr id="25" name="Image 5" descr="plastic_bag"/>
          <p:cNvPicPr>
            <a:picLocks noChangeAspect="1"/>
          </p:cNvPicPr>
          <p:nvPr/>
        </p:nvPicPr>
        <p:blipFill>
          <a:blip r:embed="rId8"/>
          <a:srcRect/>
          <a:stretch/>
        </p:blipFill>
        <p:spPr>
          <a:xfrm>
            <a:off x="8124587" y="3503851"/>
            <a:ext cx="660400" cy="660400"/>
          </a:xfrm>
          <a:prstGeom prst="rect">
            <a:avLst/>
          </a:prstGeom>
        </p:spPr>
      </p:pic>
      <p:sp>
        <p:nvSpPr>
          <p:cNvPr id="26" name="Text 18"/>
          <p:cNvSpPr/>
          <p:nvPr/>
        </p:nvSpPr>
        <p:spPr>
          <a:xfrm>
            <a:off x="8937387" y="3585130"/>
            <a:ext cx="1513840"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0F172A"/>
                </a:solidFill>
                <a:latin typeface="JetBrains Mono" pitchFamily="49" charset="0"/>
                <a:ea typeface="JetBrains Mono" pitchFamily="49" charset="-122"/>
                <a:cs typeface="JetBrains Mono" pitchFamily="49" charset="-120"/>
              </a:rPr>
              <a:t>plastic_bag</a:t>
            </a:r>
            <a:endParaRPr lang="en-US" sz="1600" dirty="0"/>
          </a:p>
        </p:txBody>
      </p:sp>
      <p:sp>
        <p:nvSpPr>
          <p:cNvPr id="27" name="Text 19"/>
          <p:cNvSpPr/>
          <p:nvPr/>
        </p:nvSpPr>
        <p:spPr>
          <a:xfrm>
            <a:off x="8937387" y="3869612"/>
            <a:ext cx="1755648"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EA580C"/>
                </a:solidFill>
                <a:latin typeface="JetBrains Mono" pitchFamily="49" charset="0"/>
                <a:ea typeface="JetBrains Mono" pitchFamily="49" charset="-122"/>
                <a:cs typeface="JetBrains Mono" pitchFamily="49" charset="-120"/>
              </a:rPr>
              <a:t>[WARN: FILM JAM]</a:t>
            </a:r>
            <a:endParaRPr lang="en-US" sz="1200" dirty="0"/>
          </a:p>
        </p:txBody>
      </p:sp>
      <p:sp>
        <p:nvSpPr>
          <p:cNvPr id="28" name="Shape 20"/>
          <p:cNvSpPr/>
          <p:nvPr/>
        </p:nvSpPr>
        <p:spPr>
          <a:xfrm>
            <a:off x="2598261" y="4726701"/>
            <a:ext cx="3431064" cy="1518523"/>
          </a:xfrm>
          <a:prstGeom prst="roundRect">
            <a:avLst>
              <a:gd name="adj" fmla="val 6482"/>
            </a:avLst>
          </a:prstGeom>
          <a:solidFill>
            <a:srgbClr val="FFFFFF"/>
          </a:solidFill>
          <a:ln w="6350">
            <a:solidFill>
              <a:srgbClr val="E2E8F0"/>
            </a:solidFill>
            <a:prstDash val="solid"/>
          </a:ln>
        </p:spPr>
      </p:sp>
      <p:pic>
        <p:nvPicPr>
          <p:cNvPr id="29" name="Image 6" descr="aerosol"/>
          <p:cNvPicPr>
            <a:picLocks noChangeAspect="1"/>
          </p:cNvPicPr>
          <p:nvPr/>
        </p:nvPicPr>
        <p:blipFill>
          <a:blip r:embed="rId9"/>
          <a:srcRect/>
          <a:stretch/>
        </p:blipFill>
        <p:spPr>
          <a:xfrm>
            <a:off x="2777966" y="5155723"/>
            <a:ext cx="660400" cy="660400"/>
          </a:xfrm>
          <a:prstGeom prst="rect">
            <a:avLst/>
          </a:prstGeom>
        </p:spPr>
      </p:pic>
      <p:sp>
        <p:nvSpPr>
          <p:cNvPr id="30" name="Text 21"/>
          <p:cNvSpPr/>
          <p:nvPr/>
        </p:nvSpPr>
        <p:spPr>
          <a:xfrm>
            <a:off x="3590766" y="5237007"/>
            <a:ext cx="1696720"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0F172A"/>
                </a:solidFill>
                <a:latin typeface="JetBrains Mono" pitchFamily="49" charset="0"/>
                <a:ea typeface="JetBrains Mono" pitchFamily="49" charset="-122"/>
                <a:cs typeface="JetBrains Mono" pitchFamily="49" charset="-120"/>
              </a:rPr>
              <a:t>aerosol</a:t>
            </a:r>
            <a:endParaRPr lang="en-US" sz="1600" dirty="0"/>
          </a:p>
        </p:txBody>
      </p:sp>
      <p:sp>
        <p:nvSpPr>
          <p:cNvPr id="31" name="Text 22"/>
          <p:cNvSpPr/>
          <p:nvPr/>
        </p:nvSpPr>
        <p:spPr>
          <a:xfrm>
            <a:off x="3590766" y="5521486"/>
            <a:ext cx="1975104"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DC2626"/>
                </a:solidFill>
                <a:latin typeface="JetBrains Mono" pitchFamily="49" charset="0"/>
                <a:ea typeface="JetBrains Mono" pitchFamily="49" charset="-122"/>
                <a:cs typeface="JetBrains Mono" pitchFamily="49" charset="-120"/>
              </a:rPr>
              <a:t>[CRITICAL: HAZARD]</a:t>
            </a:r>
            <a:endParaRPr lang="en-US" sz="1200" dirty="0"/>
          </a:p>
        </p:txBody>
      </p:sp>
      <p:sp>
        <p:nvSpPr>
          <p:cNvPr id="36" name="Shape 26"/>
          <p:cNvSpPr/>
          <p:nvPr/>
        </p:nvSpPr>
        <p:spPr>
          <a:xfrm>
            <a:off x="6162675" y="4726701"/>
            <a:ext cx="3431143" cy="1518523"/>
          </a:xfrm>
          <a:prstGeom prst="roundRect">
            <a:avLst>
              <a:gd name="adj" fmla="val 6482"/>
            </a:avLst>
          </a:prstGeom>
          <a:solidFill>
            <a:srgbClr val="FFFFFF"/>
          </a:solidFill>
          <a:ln w="6350">
            <a:solidFill>
              <a:srgbClr val="E2E8F0"/>
            </a:solidFill>
            <a:prstDash val="solid"/>
          </a:ln>
        </p:spPr>
      </p:sp>
      <p:pic>
        <p:nvPicPr>
          <p:cNvPr id="37" name="Image 8" descr="battery"/>
          <p:cNvPicPr>
            <a:picLocks noChangeAspect="1"/>
          </p:cNvPicPr>
          <p:nvPr/>
        </p:nvPicPr>
        <p:blipFill>
          <a:blip r:embed="rId11"/>
          <a:srcRect/>
          <a:stretch/>
        </p:blipFill>
        <p:spPr>
          <a:xfrm>
            <a:off x="6342380" y="5155723"/>
            <a:ext cx="660400" cy="660400"/>
          </a:xfrm>
          <a:prstGeom prst="rect">
            <a:avLst/>
          </a:prstGeom>
        </p:spPr>
      </p:pic>
      <p:sp>
        <p:nvSpPr>
          <p:cNvPr id="38" name="Text 27"/>
          <p:cNvSpPr/>
          <p:nvPr/>
        </p:nvSpPr>
        <p:spPr>
          <a:xfrm>
            <a:off x="7155180" y="5237007"/>
            <a:ext cx="1696720"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0F172A"/>
                </a:solidFill>
                <a:latin typeface="JetBrains Mono" pitchFamily="49" charset="0"/>
                <a:ea typeface="JetBrains Mono" pitchFamily="49" charset="-122"/>
                <a:cs typeface="JetBrains Mono" pitchFamily="49" charset="-120"/>
              </a:rPr>
              <a:t>battery</a:t>
            </a:r>
            <a:endParaRPr lang="en-US" sz="1600" dirty="0"/>
          </a:p>
        </p:txBody>
      </p:sp>
      <p:sp>
        <p:nvSpPr>
          <p:cNvPr id="39" name="Text 28"/>
          <p:cNvSpPr/>
          <p:nvPr/>
        </p:nvSpPr>
        <p:spPr>
          <a:xfrm>
            <a:off x="7155180" y="5521486"/>
            <a:ext cx="1975104"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DC2626"/>
                </a:solidFill>
                <a:latin typeface="JetBrains Mono" pitchFamily="49" charset="0"/>
                <a:ea typeface="JetBrains Mono" pitchFamily="49" charset="-122"/>
                <a:cs typeface="JetBrains Mono" pitchFamily="49" charset="-120"/>
              </a:rPr>
              <a:t>[CRITICAL: HAZARD]</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59669"/>
                </a:solidFill>
                <a:latin typeface="JetBrains Mono" pitchFamily="49" charset="0"/>
                <a:ea typeface="JetBrains Mono" pitchFamily="49" charset="-122"/>
                <a:cs typeface="JetBrains Mono" pitchFamily="49" charset="-120"/>
              </a:rPr>
              <a:t>DEEP DIVE · THE BRAIN</a:t>
            </a:r>
            <a:endParaRPr lang="en-US" sz="1200" dirty="0"/>
          </a:p>
        </p:txBody>
      </p:sp>
      <p:sp>
        <p:nvSpPr>
          <p:cNvPr id="3" name="Text 1"/>
          <p:cNvSpPr>
            <a:spLocks noGrp="1"/>
          </p:cNvSpPr>
          <p:nvPr>
            <p:ph type="title"/>
          </p:nvPr>
        </p:nvSpPr>
        <p:spPr>
          <a:xfrm>
            <a:off x="812800" y="822964"/>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0F172A"/>
                </a:solidFill>
                <a:latin typeface="Space Grotesk" pitchFamily="34" charset="0"/>
                <a:ea typeface="Space Grotesk" pitchFamily="34" charset="-122"/>
                <a:cs typeface="Space Grotesk" pitchFamily="34" charset="-120"/>
              </a:rPr>
              <a:t>A Gemini Report on Demand</a:t>
            </a:r>
            <a:endParaRPr lang="en-US" sz="3000" dirty="0"/>
          </a:p>
        </p:txBody>
      </p:sp>
      <p:sp>
        <p:nvSpPr>
          <p:cNvPr id="4" name="Shape 2"/>
          <p:cNvSpPr/>
          <p:nvPr/>
        </p:nvSpPr>
        <p:spPr>
          <a:xfrm>
            <a:off x="819150" y="1426214"/>
            <a:ext cx="2388870" cy="1089660"/>
          </a:xfrm>
          <a:prstGeom prst="roundRect">
            <a:avLst>
              <a:gd name="adj" fmla="val 8741"/>
            </a:avLst>
          </a:prstGeom>
          <a:solidFill>
            <a:srgbClr val="FFFFFF"/>
          </a:solidFill>
          <a:ln w="12700">
            <a:solidFill>
              <a:srgbClr val="059669"/>
            </a:solidFill>
            <a:prstDash val="solid"/>
          </a:ln>
        </p:spPr>
      </p:sp>
      <p:sp>
        <p:nvSpPr>
          <p:cNvPr id="5" name="Text 3"/>
          <p:cNvSpPr/>
          <p:nvPr/>
        </p:nvSpPr>
        <p:spPr>
          <a:xfrm>
            <a:off x="975360" y="1557021"/>
            <a:ext cx="2138744"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59669"/>
                </a:solidFill>
                <a:latin typeface="JetBrains Mono" pitchFamily="49" charset="0"/>
                <a:ea typeface="JetBrains Mono" pitchFamily="49" charset="-122"/>
                <a:cs typeface="JetBrains Mono" pitchFamily="49" charset="-120"/>
              </a:rPr>
              <a:t>1</a:t>
            </a:r>
            <a:endParaRPr lang="en-US" sz="1200" dirty="0"/>
          </a:p>
        </p:txBody>
      </p:sp>
      <p:sp>
        <p:nvSpPr>
          <p:cNvPr id="6" name="Text 4"/>
          <p:cNvSpPr/>
          <p:nvPr/>
        </p:nvSpPr>
        <p:spPr>
          <a:xfrm>
            <a:off x="975360" y="1770379"/>
            <a:ext cx="2138744" cy="259080"/>
          </a:xfrm>
          <a:prstGeom prst="rect">
            <a:avLst/>
          </a:prstGeom>
          <a:noFill/>
          <a:ln/>
        </p:spPr>
        <p:txBody>
          <a:bodyPr wrap="square" lIns="0" tIns="0" rIns="0" bIns="0" rtlCol="0" anchor="t">
            <a:normAutofit/>
          </a:bodyPr>
          <a:lstStyle/>
          <a:p>
            <a:pPr marL="0" indent="0" algn="l">
              <a:lnSpc>
                <a:spcPts val="1840"/>
              </a:lnSpc>
              <a:buNone/>
            </a:pPr>
            <a:r>
              <a:rPr lang="en-US" sz="1600" b="1" dirty="0">
                <a:solidFill>
                  <a:srgbClr val="0F172A"/>
                </a:solidFill>
                <a:latin typeface="Space Grotesk" pitchFamily="34" charset="0"/>
                <a:ea typeface="Space Grotesk" pitchFamily="34" charset="-122"/>
                <a:cs typeface="Space Grotesk" pitchFamily="34" charset="-120"/>
              </a:rPr>
              <a:t>Scans run</a:t>
            </a:r>
            <a:endParaRPr lang="en-US" sz="1600" dirty="0"/>
          </a:p>
        </p:txBody>
      </p:sp>
      <p:sp>
        <p:nvSpPr>
          <p:cNvPr id="7" name="Text 5"/>
          <p:cNvSpPr/>
          <p:nvPr/>
        </p:nvSpPr>
        <p:spPr>
          <a:xfrm>
            <a:off x="975360" y="2004064"/>
            <a:ext cx="2138744" cy="4064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475569"/>
                </a:solidFill>
                <a:latin typeface="Space Grotesk" pitchFamily="34" charset="0"/>
                <a:ea typeface="Space Grotesk" pitchFamily="34" charset="-122"/>
                <a:cs typeface="Space Grotesk" pitchFamily="34" charset="-120"/>
              </a:rPr>
              <a:t>Material moves along the belt</a:t>
            </a:r>
            <a:endParaRPr lang="en-US" sz="1200" dirty="0"/>
          </a:p>
        </p:txBody>
      </p:sp>
      <p:sp>
        <p:nvSpPr>
          <p:cNvPr id="8" name="Text 6"/>
          <p:cNvSpPr/>
          <p:nvPr/>
        </p:nvSpPr>
        <p:spPr>
          <a:xfrm>
            <a:off x="3290570" y="1673864"/>
            <a:ext cx="218440" cy="873760"/>
          </a:xfrm>
          <a:prstGeom prst="rect">
            <a:avLst/>
          </a:prstGeom>
          <a:noFill/>
          <a:ln/>
        </p:spPr>
        <p:txBody>
          <a:bodyPr wrap="square" lIns="0" tIns="0" rIns="0" bIns="0" rtlCol="0" anchor="t">
            <a:normAutofit/>
          </a:bodyPr>
          <a:lstStyle/>
          <a:p>
            <a:pPr marL="0" indent="0" algn="l">
              <a:lnSpc>
                <a:spcPts val="3360"/>
              </a:lnSpc>
              <a:buNone/>
            </a:pPr>
            <a:r>
              <a:rPr lang="en-US" sz="2400" b="1" dirty="0">
                <a:solidFill>
                  <a:srgbClr val="059669"/>
                </a:solidFill>
                <a:latin typeface="JetBrains Mono" pitchFamily="49" charset="0"/>
                <a:ea typeface="JetBrains Mono" pitchFamily="49" charset="-122"/>
                <a:cs typeface="JetBrains Mono" pitchFamily="49" charset="-120"/>
              </a:rPr>
              <a:t>→</a:t>
            </a:r>
            <a:endParaRPr lang="en-US" sz="2400" dirty="0"/>
          </a:p>
        </p:txBody>
      </p:sp>
      <p:sp>
        <p:nvSpPr>
          <p:cNvPr id="9" name="Shape 7"/>
          <p:cNvSpPr/>
          <p:nvPr/>
        </p:nvSpPr>
        <p:spPr>
          <a:xfrm>
            <a:off x="3540760" y="1426214"/>
            <a:ext cx="2388870" cy="1089660"/>
          </a:xfrm>
          <a:prstGeom prst="roundRect">
            <a:avLst>
              <a:gd name="adj" fmla="val 8741"/>
            </a:avLst>
          </a:prstGeom>
          <a:solidFill>
            <a:srgbClr val="FFFFFF"/>
          </a:solidFill>
          <a:ln w="12700">
            <a:solidFill>
              <a:srgbClr val="059669"/>
            </a:solidFill>
            <a:prstDash val="solid"/>
          </a:ln>
        </p:spPr>
      </p:sp>
      <p:sp>
        <p:nvSpPr>
          <p:cNvPr id="10" name="Text 8"/>
          <p:cNvSpPr/>
          <p:nvPr/>
        </p:nvSpPr>
        <p:spPr>
          <a:xfrm>
            <a:off x="3696970" y="1557021"/>
            <a:ext cx="2138744"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59669"/>
                </a:solidFill>
                <a:latin typeface="JetBrains Mono" pitchFamily="49" charset="0"/>
                <a:ea typeface="JetBrains Mono" pitchFamily="49" charset="-122"/>
                <a:cs typeface="JetBrains Mono" pitchFamily="49" charset="-120"/>
              </a:rPr>
              <a:t>2</a:t>
            </a:r>
            <a:endParaRPr lang="en-US" sz="1200" dirty="0"/>
          </a:p>
        </p:txBody>
      </p:sp>
      <p:sp>
        <p:nvSpPr>
          <p:cNvPr id="11" name="Text 9"/>
          <p:cNvSpPr/>
          <p:nvPr/>
        </p:nvSpPr>
        <p:spPr>
          <a:xfrm>
            <a:off x="3696970" y="1770379"/>
            <a:ext cx="2138744" cy="259080"/>
          </a:xfrm>
          <a:prstGeom prst="rect">
            <a:avLst/>
          </a:prstGeom>
          <a:noFill/>
          <a:ln/>
        </p:spPr>
        <p:txBody>
          <a:bodyPr wrap="square" lIns="0" tIns="0" rIns="0" bIns="0" rtlCol="0" anchor="t">
            <a:normAutofit/>
          </a:bodyPr>
          <a:lstStyle/>
          <a:p>
            <a:pPr marL="0" indent="0" algn="l">
              <a:lnSpc>
                <a:spcPts val="1840"/>
              </a:lnSpc>
              <a:buNone/>
            </a:pPr>
            <a:r>
              <a:rPr lang="en-US" sz="1600" b="1" dirty="0">
                <a:solidFill>
                  <a:srgbClr val="0F172A"/>
                </a:solidFill>
                <a:latin typeface="Space Grotesk" pitchFamily="34" charset="0"/>
                <a:ea typeface="Space Grotesk" pitchFamily="34" charset="-122"/>
                <a:cs typeface="Space Grotesk" pitchFamily="34" charset="-120"/>
              </a:rPr>
              <a:t>Every item scanned</a:t>
            </a:r>
            <a:endParaRPr lang="en-US" sz="1600" dirty="0"/>
          </a:p>
        </p:txBody>
      </p:sp>
      <p:sp>
        <p:nvSpPr>
          <p:cNvPr id="12" name="Text 10"/>
          <p:cNvSpPr/>
          <p:nvPr/>
        </p:nvSpPr>
        <p:spPr>
          <a:xfrm>
            <a:off x="3696970" y="2004064"/>
            <a:ext cx="2138744" cy="4064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475569"/>
                </a:solidFill>
                <a:latin typeface="Space Grotesk" pitchFamily="34" charset="0"/>
                <a:ea typeface="Space Grotesk" pitchFamily="34" charset="-122"/>
                <a:cs typeface="Space Grotesk" pitchFamily="34" charset="-120"/>
              </a:rPr>
              <a:t>The model sees what passes the machinery</a:t>
            </a:r>
            <a:endParaRPr lang="en-US" sz="1200" dirty="0"/>
          </a:p>
        </p:txBody>
      </p:sp>
      <p:sp>
        <p:nvSpPr>
          <p:cNvPr id="13" name="Text 11"/>
          <p:cNvSpPr/>
          <p:nvPr/>
        </p:nvSpPr>
        <p:spPr>
          <a:xfrm>
            <a:off x="6012180" y="1673864"/>
            <a:ext cx="218440" cy="873760"/>
          </a:xfrm>
          <a:prstGeom prst="rect">
            <a:avLst/>
          </a:prstGeom>
          <a:noFill/>
          <a:ln/>
        </p:spPr>
        <p:txBody>
          <a:bodyPr wrap="square" lIns="0" tIns="0" rIns="0" bIns="0" rtlCol="0" anchor="t">
            <a:normAutofit/>
          </a:bodyPr>
          <a:lstStyle/>
          <a:p>
            <a:pPr marL="0" indent="0" algn="l">
              <a:lnSpc>
                <a:spcPts val="3360"/>
              </a:lnSpc>
              <a:buNone/>
            </a:pPr>
            <a:r>
              <a:rPr lang="en-US" sz="2400" b="1" dirty="0">
                <a:solidFill>
                  <a:srgbClr val="059669"/>
                </a:solidFill>
                <a:latin typeface="JetBrains Mono" pitchFamily="49" charset="0"/>
                <a:ea typeface="JetBrains Mono" pitchFamily="49" charset="-122"/>
                <a:cs typeface="JetBrains Mono" pitchFamily="49" charset="-120"/>
              </a:rPr>
              <a:t>→</a:t>
            </a:r>
            <a:endParaRPr lang="en-US" sz="2400" dirty="0"/>
          </a:p>
        </p:txBody>
      </p:sp>
      <p:sp>
        <p:nvSpPr>
          <p:cNvPr id="14" name="Shape 12"/>
          <p:cNvSpPr/>
          <p:nvPr/>
        </p:nvSpPr>
        <p:spPr>
          <a:xfrm>
            <a:off x="6262370" y="1426214"/>
            <a:ext cx="2388870" cy="1089660"/>
          </a:xfrm>
          <a:prstGeom prst="roundRect">
            <a:avLst>
              <a:gd name="adj" fmla="val 8741"/>
            </a:avLst>
          </a:prstGeom>
          <a:solidFill>
            <a:srgbClr val="FFFFFF"/>
          </a:solidFill>
          <a:ln w="12700">
            <a:solidFill>
              <a:srgbClr val="059669"/>
            </a:solidFill>
            <a:prstDash val="solid"/>
          </a:ln>
        </p:spPr>
      </p:sp>
      <p:sp>
        <p:nvSpPr>
          <p:cNvPr id="15" name="Text 13"/>
          <p:cNvSpPr/>
          <p:nvPr/>
        </p:nvSpPr>
        <p:spPr>
          <a:xfrm>
            <a:off x="6418580" y="1557021"/>
            <a:ext cx="2138744"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59669"/>
                </a:solidFill>
                <a:latin typeface="JetBrains Mono" pitchFamily="49" charset="0"/>
                <a:ea typeface="JetBrains Mono" pitchFamily="49" charset="-122"/>
                <a:cs typeface="JetBrains Mono" pitchFamily="49" charset="-120"/>
              </a:rPr>
              <a:t>3</a:t>
            </a:r>
            <a:endParaRPr lang="en-US" sz="1200" dirty="0"/>
          </a:p>
        </p:txBody>
      </p:sp>
      <p:sp>
        <p:nvSpPr>
          <p:cNvPr id="16" name="Text 14"/>
          <p:cNvSpPr/>
          <p:nvPr/>
        </p:nvSpPr>
        <p:spPr>
          <a:xfrm>
            <a:off x="6418580" y="1770379"/>
            <a:ext cx="2138744" cy="259080"/>
          </a:xfrm>
          <a:prstGeom prst="rect">
            <a:avLst/>
          </a:prstGeom>
          <a:noFill/>
          <a:ln/>
        </p:spPr>
        <p:txBody>
          <a:bodyPr wrap="square" lIns="0" tIns="0" rIns="0" bIns="0" rtlCol="0" anchor="t">
            <a:normAutofit/>
          </a:bodyPr>
          <a:lstStyle/>
          <a:p>
            <a:pPr marL="0" indent="0" algn="l">
              <a:lnSpc>
                <a:spcPts val="1840"/>
              </a:lnSpc>
              <a:buNone/>
            </a:pPr>
            <a:r>
              <a:rPr lang="en-US" sz="1600" b="1" dirty="0">
                <a:solidFill>
                  <a:srgbClr val="0F172A"/>
                </a:solidFill>
                <a:latin typeface="Space Grotesk" pitchFamily="34" charset="0"/>
                <a:ea typeface="Space Grotesk" pitchFamily="34" charset="-122"/>
                <a:cs typeface="Space Grotesk" pitchFamily="34" charset="-120"/>
              </a:rPr>
              <a:t>Twin logs it</a:t>
            </a:r>
            <a:endParaRPr lang="en-US" sz="1600" dirty="0"/>
          </a:p>
        </p:txBody>
      </p:sp>
      <p:sp>
        <p:nvSpPr>
          <p:cNvPr id="17" name="Text 15"/>
          <p:cNvSpPr/>
          <p:nvPr/>
        </p:nvSpPr>
        <p:spPr>
          <a:xfrm>
            <a:off x="6418580" y="2004064"/>
            <a:ext cx="222631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475569"/>
                </a:solidFill>
                <a:latin typeface="Space Grotesk" pitchFamily="34" charset="0"/>
                <a:ea typeface="Space Grotesk" pitchFamily="34" charset="-122"/>
                <a:cs typeface="Space Grotesk" pitchFamily="34" charset="-120"/>
              </a:rPr>
              <a:t>Counts, bins, hazards, fill</a:t>
            </a:r>
            <a:endParaRPr lang="en-US" sz="1200" dirty="0"/>
          </a:p>
        </p:txBody>
      </p:sp>
      <p:sp>
        <p:nvSpPr>
          <p:cNvPr id="18" name="Text 16"/>
          <p:cNvSpPr/>
          <p:nvPr/>
        </p:nvSpPr>
        <p:spPr>
          <a:xfrm>
            <a:off x="8733790" y="1673864"/>
            <a:ext cx="218440" cy="873760"/>
          </a:xfrm>
          <a:prstGeom prst="rect">
            <a:avLst/>
          </a:prstGeom>
          <a:noFill/>
          <a:ln/>
        </p:spPr>
        <p:txBody>
          <a:bodyPr wrap="square" lIns="0" tIns="0" rIns="0" bIns="0" rtlCol="0" anchor="t">
            <a:normAutofit/>
          </a:bodyPr>
          <a:lstStyle/>
          <a:p>
            <a:pPr marL="0" indent="0" algn="l">
              <a:lnSpc>
                <a:spcPts val="3360"/>
              </a:lnSpc>
              <a:buNone/>
            </a:pPr>
            <a:r>
              <a:rPr lang="en-US" sz="2400" b="1" dirty="0">
                <a:solidFill>
                  <a:srgbClr val="059669"/>
                </a:solidFill>
                <a:latin typeface="JetBrains Mono" pitchFamily="49" charset="0"/>
                <a:ea typeface="JetBrains Mono" pitchFamily="49" charset="-122"/>
                <a:cs typeface="JetBrains Mono" pitchFamily="49" charset="-120"/>
              </a:rPr>
              <a:t>→</a:t>
            </a:r>
            <a:endParaRPr lang="en-US" sz="2400" dirty="0"/>
          </a:p>
        </p:txBody>
      </p:sp>
      <p:sp>
        <p:nvSpPr>
          <p:cNvPr id="19" name="Shape 17"/>
          <p:cNvSpPr/>
          <p:nvPr/>
        </p:nvSpPr>
        <p:spPr>
          <a:xfrm>
            <a:off x="8983980" y="1426214"/>
            <a:ext cx="2388870" cy="1089660"/>
          </a:xfrm>
          <a:prstGeom prst="roundRect">
            <a:avLst>
              <a:gd name="adj" fmla="val 8741"/>
            </a:avLst>
          </a:prstGeom>
          <a:solidFill>
            <a:srgbClr val="FFFFFF"/>
          </a:solidFill>
          <a:ln w="12700">
            <a:solidFill>
              <a:srgbClr val="059669"/>
            </a:solidFill>
            <a:prstDash val="solid"/>
          </a:ln>
        </p:spPr>
      </p:sp>
      <p:sp>
        <p:nvSpPr>
          <p:cNvPr id="20" name="Text 18"/>
          <p:cNvSpPr/>
          <p:nvPr/>
        </p:nvSpPr>
        <p:spPr>
          <a:xfrm>
            <a:off x="9140190" y="1557021"/>
            <a:ext cx="2138744"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59669"/>
                </a:solidFill>
                <a:latin typeface="JetBrains Mono" pitchFamily="49" charset="0"/>
                <a:ea typeface="JetBrains Mono" pitchFamily="49" charset="-122"/>
                <a:cs typeface="JetBrains Mono" pitchFamily="49" charset="-120"/>
              </a:rPr>
              <a:t>4</a:t>
            </a:r>
            <a:endParaRPr lang="en-US" sz="1200" dirty="0"/>
          </a:p>
        </p:txBody>
      </p:sp>
      <p:sp>
        <p:nvSpPr>
          <p:cNvPr id="21" name="Text 19"/>
          <p:cNvSpPr/>
          <p:nvPr/>
        </p:nvSpPr>
        <p:spPr>
          <a:xfrm>
            <a:off x="9140190" y="1770379"/>
            <a:ext cx="2138744" cy="259080"/>
          </a:xfrm>
          <a:prstGeom prst="rect">
            <a:avLst/>
          </a:prstGeom>
          <a:noFill/>
          <a:ln/>
        </p:spPr>
        <p:txBody>
          <a:bodyPr wrap="square" lIns="0" tIns="0" rIns="0" bIns="0" rtlCol="0" anchor="t">
            <a:normAutofit/>
          </a:bodyPr>
          <a:lstStyle/>
          <a:p>
            <a:pPr marL="0" indent="0" algn="l">
              <a:lnSpc>
                <a:spcPts val="1840"/>
              </a:lnSpc>
              <a:buNone/>
            </a:pPr>
            <a:r>
              <a:rPr lang="en-US" sz="1600" b="1" dirty="0">
                <a:solidFill>
                  <a:srgbClr val="0F172A"/>
                </a:solidFill>
                <a:latin typeface="Space Grotesk" pitchFamily="34" charset="0"/>
                <a:ea typeface="Space Grotesk" pitchFamily="34" charset="-122"/>
                <a:cs typeface="Space Grotesk" pitchFamily="34" charset="-120"/>
              </a:rPr>
              <a:t>Gemini report</a:t>
            </a:r>
            <a:endParaRPr lang="en-US" sz="1600" dirty="0"/>
          </a:p>
        </p:txBody>
      </p:sp>
      <p:sp>
        <p:nvSpPr>
          <p:cNvPr id="22" name="Text 20"/>
          <p:cNvSpPr/>
          <p:nvPr/>
        </p:nvSpPr>
        <p:spPr>
          <a:xfrm>
            <a:off x="9140190" y="2004064"/>
            <a:ext cx="2138744" cy="4064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475569"/>
                </a:solidFill>
                <a:latin typeface="Space Grotesk" pitchFamily="34" charset="0"/>
                <a:ea typeface="Space Grotesk" pitchFamily="34" charset="-122"/>
                <a:cs typeface="Space Grotesk" pitchFamily="34" charset="-120"/>
              </a:rPr>
              <a:t>On the AI Summary button</a:t>
            </a:r>
            <a:endParaRPr lang="en-US" sz="1200" dirty="0"/>
          </a:p>
        </p:txBody>
      </p:sp>
      <p:sp>
        <p:nvSpPr>
          <p:cNvPr id="23" name="Shape 21"/>
          <p:cNvSpPr/>
          <p:nvPr/>
        </p:nvSpPr>
        <p:spPr>
          <a:xfrm>
            <a:off x="815975" y="2703196"/>
            <a:ext cx="5180330" cy="3542030"/>
          </a:xfrm>
          <a:prstGeom prst="roundRect">
            <a:avLst>
              <a:gd name="adj" fmla="val 2779"/>
            </a:avLst>
          </a:prstGeom>
          <a:solidFill>
            <a:srgbClr val="FFFFFF"/>
          </a:solidFill>
          <a:ln w="6350">
            <a:solidFill>
              <a:srgbClr val="E2E8F0"/>
            </a:solidFill>
            <a:prstDash val="solid"/>
          </a:ln>
        </p:spPr>
      </p:sp>
      <p:sp>
        <p:nvSpPr>
          <p:cNvPr id="24" name="Text 22"/>
          <p:cNvSpPr/>
          <p:nvPr/>
        </p:nvSpPr>
        <p:spPr>
          <a:xfrm>
            <a:off x="1021080" y="2882900"/>
            <a:ext cx="4913224"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59669"/>
                </a:solidFill>
                <a:latin typeface="JetBrains Mono" pitchFamily="49" charset="0"/>
                <a:ea typeface="JetBrains Mono" pitchFamily="49" charset="-122"/>
                <a:cs typeface="JetBrains Mono" pitchFamily="49" charset="-120"/>
              </a:rPr>
              <a:t>THE REPORT COVERS</a:t>
            </a:r>
            <a:endParaRPr lang="en-US" sz="1200" dirty="0"/>
          </a:p>
        </p:txBody>
      </p:sp>
      <p:sp>
        <p:nvSpPr>
          <p:cNvPr id="25" name="Text 23"/>
          <p:cNvSpPr/>
          <p:nvPr/>
        </p:nvSpPr>
        <p:spPr>
          <a:xfrm>
            <a:off x="1091438" y="3172464"/>
            <a:ext cx="4835246" cy="1732280"/>
          </a:xfrm>
          <a:prstGeom prst="rect">
            <a:avLst/>
          </a:prstGeom>
          <a:noFill/>
          <a:ln/>
        </p:spPr>
        <p:txBody>
          <a:bodyPr wrap="square" lIns="0" tIns="0" rIns="0" bIns="0" rtlCol="0" anchor="t">
            <a:normAutofit/>
          </a:bodyPr>
          <a:lstStyle/>
          <a:p>
            <a:pPr marL="183642" indent="-183642" algn="l">
              <a:lnSpc>
                <a:spcPts val="2240"/>
              </a:lnSpc>
              <a:buSzPct val="100000"/>
              <a:buChar char="•"/>
            </a:pPr>
            <a:r>
              <a:rPr lang="en-US" sz="1600" dirty="0">
                <a:solidFill>
                  <a:srgbClr val="0F172A"/>
                </a:solidFill>
                <a:latin typeface="Space Grotesk" pitchFamily="34" charset="0"/>
                <a:ea typeface="Space Grotesk" pitchFamily="34" charset="-122"/>
                <a:cs typeface="Space Grotesk" pitchFamily="34" charset="-120"/>
              </a:rPr>
              <a:t>Every item that passed the machinery and was scanned</a:t>
            </a:r>
            <a:endParaRPr lang="en-US" sz="1600" dirty="0"/>
          </a:p>
          <a:p>
            <a:pPr marL="183642" indent="-183642" algn="l">
              <a:lnSpc>
                <a:spcPts val="2240"/>
              </a:lnSpc>
              <a:buSzPct val="100000"/>
              <a:buChar char="•"/>
            </a:pPr>
            <a:r>
              <a:rPr lang="en-US" sz="1600" dirty="0">
                <a:solidFill>
                  <a:srgbClr val="0F172A"/>
                </a:solidFill>
                <a:latin typeface="Space Grotesk" pitchFamily="34" charset="0"/>
                <a:ea typeface="Space Grotesk" pitchFamily="34" charset="-122"/>
                <a:cs typeface="Space Grotesk" pitchFamily="34" charset="-120"/>
              </a:rPr>
              <a:t>Counts per class, including film and hazards</a:t>
            </a:r>
            <a:endParaRPr lang="en-US" sz="1600" dirty="0"/>
          </a:p>
          <a:p>
            <a:pPr marL="183642" indent="-183642" algn="l">
              <a:lnSpc>
                <a:spcPts val="2240"/>
              </a:lnSpc>
              <a:buSzPct val="100000"/>
              <a:buChar char="•"/>
            </a:pPr>
            <a:r>
              <a:rPr lang="en-US" sz="1600" dirty="0">
                <a:solidFill>
                  <a:srgbClr val="0F172A"/>
                </a:solidFill>
                <a:latin typeface="Space Grotesk" pitchFamily="34" charset="0"/>
                <a:ea typeface="Space Grotesk" pitchFamily="34" charset="-122"/>
                <a:cs typeface="Space Grotesk" pitchFamily="34" charset="-120"/>
              </a:rPr>
              <a:t>When hazards were flagged</a:t>
            </a:r>
            <a:endParaRPr lang="en-US" sz="1600" dirty="0"/>
          </a:p>
          <a:p>
            <a:pPr marL="183642" indent="-183642" algn="l">
              <a:lnSpc>
                <a:spcPts val="2240"/>
              </a:lnSpc>
              <a:buSzPct val="100000"/>
              <a:buChar char="•"/>
            </a:pPr>
            <a:r>
              <a:rPr lang="en-US" sz="1600" dirty="0">
                <a:solidFill>
                  <a:srgbClr val="0F172A"/>
                </a:solidFill>
                <a:latin typeface="Space Grotesk" pitchFamily="34" charset="0"/>
                <a:ea typeface="Space Grotesk" pitchFamily="34" charset="-122"/>
                <a:cs typeface="Space Grotesk" pitchFamily="34" charset="-120"/>
              </a:rPr>
              <a:t>Bin status and fill levels</a:t>
            </a:r>
            <a:endParaRPr lang="en-US" sz="1600" dirty="0"/>
          </a:p>
          <a:p>
            <a:pPr marL="183642" indent="-183642" algn="l">
              <a:lnSpc>
                <a:spcPts val="2240"/>
              </a:lnSpc>
              <a:buSzPct val="100000"/>
              <a:buChar char="•"/>
            </a:pPr>
            <a:r>
              <a:rPr lang="en-US" sz="1600" dirty="0">
                <a:solidFill>
                  <a:srgbClr val="0F172A"/>
                </a:solidFill>
                <a:latin typeface="Space Grotesk" pitchFamily="34" charset="0"/>
                <a:ea typeface="Space Grotesk" pitchFamily="34" charset="-122"/>
                <a:cs typeface="Space Grotesk" pitchFamily="34" charset="-120"/>
              </a:rPr>
              <a:t>Recommendations (offline if no key)</a:t>
            </a:r>
            <a:endParaRPr lang="en-US" sz="1600" dirty="0"/>
          </a:p>
        </p:txBody>
      </p:sp>
      <p:sp>
        <p:nvSpPr>
          <p:cNvPr id="26" name="Shape 24"/>
          <p:cNvSpPr/>
          <p:nvPr/>
        </p:nvSpPr>
        <p:spPr>
          <a:xfrm>
            <a:off x="6202680" y="2700021"/>
            <a:ext cx="5176520" cy="3548380"/>
          </a:xfrm>
          <a:prstGeom prst="roundRect">
            <a:avLst>
              <a:gd name="adj" fmla="val 2863"/>
            </a:avLst>
          </a:prstGeom>
          <a:solidFill>
            <a:srgbClr val="0F172A"/>
          </a:solidFill>
          <a:ln/>
        </p:spPr>
      </p:sp>
      <p:sp>
        <p:nvSpPr>
          <p:cNvPr id="27" name="Text 25"/>
          <p:cNvSpPr/>
          <p:nvPr/>
        </p:nvSpPr>
        <p:spPr>
          <a:xfrm>
            <a:off x="6405880" y="2877821"/>
            <a:ext cx="4913224" cy="273050"/>
          </a:xfrm>
          <a:prstGeom prst="rect">
            <a:avLst/>
          </a:prstGeom>
          <a:noFill/>
          <a:ln/>
        </p:spPr>
        <p:txBody>
          <a:bodyPr wrap="square" lIns="0" tIns="0" rIns="0" bIns="0" rtlCol="0" anchor="t">
            <a:normAutofit/>
          </a:bodyPr>
          <a:lstStyle/>
          <a:p>
            <a:pPr marL="0" indent="0" algn="l">
              <a:lnSpc>
                <a:spcPts val="1950"/>
              </a:lnSpc>
              <a:buNone/>
            </a:pPr>
            <a:r>
              <a:rPr lang="en-US" sz="1300" b="1" dirty="0">
                <a:solidFill>
                  <a:srgbClr val="34D399"/>
                </a:solidFill>
                <a:latin typeface="JetBrains Mono" pitchFamily="49" charset="0"/>
                <a:ea typeface="JetBrains Mono" pitchFamily="49" charset="-122"/>
                <a:cs typeface="JetBrains Mono" pitchFamily="49" charset="-120"/>
              </a:rPr>
              <a:t>AI SUMMARY · EXAMPLE FORMAT</a:t>
            </a:r>
            <a:endParaRPr lang="en-US" sz="1300" dirty="0"/>
          </a:p>
        </p:txBody>
      </p:sp>
      <p:sp>
        <p:nvSpPr>
          <p:cNvPr id="28" name="Text 26"/>
          <p:cNvSpPr/>
          <p:nvPr/>
        </p:nvSpPr>
        <p:spPr>
          <a:xfrm>
            <a:off x="6405880" y="3125471"/>
            <a:ext cx="4913224" cy="273050"/>
          </a:xfrm>
          <a:prstGeom prst="rect">
            <a:avLst/>
          </a:prstGeom>
          <a:noFill/>
          <a:ln/>
        </p:spPr>
        <p:txBody>
          <a:bodyPr wrap="square" lIns="0" tIns="0" rIns="0" bIns="0" rtlCol="0" anchor="t">
            <a:normAutofit/>
          </a:bodyPr>
          <a:lstStyle/>
          <a:p>
            <a:pPr marL="0" indent="0" algn="l">
              <a:lnSpc>
                <a:spcPts val="1950"/>
              </a:lnSpc>
              <a:buNone/>
            </a:pPr>
            <a:r>
              <a:rPr lang="en-US" sz="1300" dirty="0">
                <a:solidFill>
                  <a:srgbClr val="E2E8F0"/>
                </a:solidFill>
                <a:latin typeface="JetBrains Mono" pitchFamily="49" charset="0"/>
                <a:ea typeface="JetBrains Mono" pitchFamily="49" charset="-122"/>
                <a:cs typeface="JetBrains Mono" pitchFamily="49" charset="-120"/>
              </a:rPr>
              <a:t>Scans: [N] · Avg confidence: [x]</a:t>
            </a:r>
            <a:endParaRPr lang="en-US" sz="1300" dirty="0"/>
          </a:p>
        </p:txBody>
      </p:sp>
      <p:sp>
        <p:nvSpPr>
          <p:cNvPr id="29" name="Text 27"/>
          <p:cNvSpPr/>
          <p:nvPr/>
        </p:nvSpPr>
        <p:spPr>
          <a:xfrm>
            <a:off x="6405880" y="3373121"/>
            <a:ext cx="4913224" cy="273050"/>
          </a:xfrm>
          <a:prstGeom prst="rect">
            <a:avLst/>
          </a:prstGeom>
          <a:noFill/>
          <a:ln/>
        </p:spPr>
        <p:txBody>
          <a:bodyPr wrap="square" lIns="0" tIns="0" rIns="0" bIns="0" rtlCol="0" anchor="t">
            <a:normAutofit/>
          </a:bodyPr>
          <a:lstStyle/>
          <a:p>
            <a:pPr marL="0" indent="0" algn="l">
              <a:lnSpc>
                <a:spcPts val="1950"/>
              </a:lnSpc>
              <a:buNone/>
            </a:pPr>
            <a:r>
              <a:rPr lang="en-US" sz="1300" dirty="0">
                <a:solidFill>
                  <a:srgbClr val="E2E8F0"/>
                </a:solidFill>
                <a:latin typeface="JetBrains Mono" pitchFamily="49" charset="0"/>
                <a:ea typeface="JetBrains Mono" pitchFamily="49" charset="-122"/>
                <a:cs typeface="JetBrains Mono" pitchFamily="49" charset="-120"/>
              </a:rPr>
              <a:t>Plastic [n] · Paper [n] · Hazards [n]</a:t>
            </a:r>
            <a:endParaRPr lang="en-US" sz="1300" dirty="0"/>
          </a:p>
        </p:txBody>
      </p:sp>
      <p:sp>
        <p:nvSpPr>
          <p:cNvPr id="30" name="Text 28"/>
          <p:cNvSpPr/>
          <p:nvPr/>
        </p:nvSpPr>
        <p:spPr>
          <a:xfrm>
            <a:off x="6405880" y="3620771"/>
            <a:ext cx="4913224" cy="273050"/>
          </a:xfrm>
          <a:prstGeom prst="rect">
            <a:avLst/>
          </a:prstGeom>
          <a:noFill/>
          <a:ln/>
        </p:spPr>
        <p:txBody>
          <a:bodyPr wrap="square" lIns="0" tIns="0" rIns="0" bIns="0" rtlCol="0" anchor="t">
            <a:normAutofit/>
          </a:bodyPr>
          <a:lstStyle/>
          <a:p>
            <a:pPr marL="0" indent="0" algn="l">
              <a:lnSpc>
                <a:spcPts val="1950"/>
              </a:lnSpc>
              <a:buNone/>
            </a:pPr>
            <a:r>
              <a:rPr lang="en-US" sz="1300" dirty="0">
                <a:solidFill>
                  <a:srgbClr val="E2E8F0"/>
                </a:solidFill>
                <a:latin typeface="JetBrains Mono" pitchFamily="49" charset="0"/>
                <a:ea typeface="JetBrains Mono" pitchFamily="49" charset="-122"/>
                <a:cs typeface="JetBrains Mono" pitchFamily="49" charset="-120"/>
              </a:rPr>
              <a:t>battery [n] · aerosol [n]</a:t>
            </a:r>
            <a:endParaRPr lang="en-US" sz="1300" dirty="0"/>
          </a:p>
        </p:txBody>
      </p:sp>
      <p:sp>
        <p:nvSpPr>
          <p:cNvPr id="31" name="Text 29"/>
          <p:cNvSpPr/>
          <p:nvPr/>
        </p:nvSpPr>
        <p:spPr>
          <a:xfrm>
            <a:off x="6405880" y="3868421"/>
            <a:ext cx="4913224" cy="273050"/>
          </a:xfrm>
          <a:prstGeom prst="rect">
            <a:avLst/>
          </a:prstGeom>
          <a:noFill/>
          <a:ln/>
        </p:spPr>
        <p:txBody>
          <a:bodyPr wrap="square" lIns="0" tIns="0" rIns="0" bIns="0" rtlCol="0" anchor="t">
            <a:normAutofit/>
          </a:bodyPr>
          <a:lstStyle/>
          <a:p>
            <a:pPr marL="0" indent="0" algn="l">
              <a:lnSpc>
                <a:spcPts val="1950"/>
              </a:lnSpc>
              <a:buNone/>
            </a:pPr>
            <a:r>
              <a:rPr lang="en-US" sz="1300" dirty="0">
                <a:solidFill>
                  <a:srgbClr val="E2E8F0"/>
                </a:solidFill>
                <a:latin typeface="JetBrains Mono" pitchFamily="49" charset="0"/>
                <a:ea typeface="JetBrains Mono" pitchFamily="49" charset="-122"/>
                <a:cs typeface="JetBrains Mono" pitchFamily="49" charset="-120"/>
              </a:rPr>
              <a:t>Fullest bin: [name] [x]%</a:t>
            </a:r>
            <a:endParaRPr lang="en-US" sz="1300" dirty="0"/>
          </a:p>
        </p:txBody>
      </p:sp>
      <p:sp>
        <p:nvSpPr>
          <p:cNvPr id="32" name="Text 30"/>
          <p:cNvSpPr/>
          <p:nvPr/>
        </p:nvSpPr>
        <p:spPr>
          <a:xfrm>
            <a:off x="6405880" y="4116071"/>
            <a:ext cx="4913224" cy="273050"/>
          </a:xfrm>
          <a:prstGeom prst="rect">
            <a:avLst/>
          </a:prstGeom>
          <a:noFill/>
          <a:ln/>
        </p:spPr>
        <p:txBody>
          <a:bodyPr wrap="square" lIns="0" tIns="0" rIns="0" bIns="0" rtlCol="0" anchor="t">
            <a:normAutofit/>
          </a:bodyPr>
          <a:lstStyle/>
          <a:p>
            <a:pPr marL="0" indent="0" algn="l">
              <a:lnSpc>
                <a:spcPts val="1950"/>
              </a:lnSpc>
              <a:buNone/>
            </a:pPr>
            <a:r>
              <a:rPr lang="en-US" sz="1300" dirty="0">
                <a:solidFill>
                  <a:srgbClr val="FDBA74"/>
                </a:solidFill>
                <a:latin typeface="JetBrains Mono" pitchFamily="49" charset="0"/>
                <a:ea typeface="JetBrains Mono" pitchFamily="49" charset="-122"/>
                <a:cs typeface="JetBrains Mono" pitchFamily="49" charset="-120"/>
              </a:rPr>
              <a:t>Advice: [Gemini recommendation]</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59669"/>
                </a:solidFill>
                <a:latin typeface="JetBrains Mono" pitchFamily="49" charset="0"/>
                <a:ea typeface="JetBrains Mono" pitchFamily="49" charset="-122"/>
                <a:cs typeface="JetBrains Mono" pitchFamily="49" charset="-120"/>
              </a:rPr>
              <a:t>DEEP DIVE · THE ACTUATOR</a:t>
            </a:r>
            <a:endParaRPr lang="en-US" sz="1200" dirty="0"/>
          </a:p>
        </p:txBody>
      </p:sp>
      <p:sp>
        <p:nvSpPr>
          <p:cNvPr id="3" name="Text 1"/>
          <p:cNvSpPr>
            <a:spLocks noGrp="1"/>
          </p:cNvSpPr>
          <p:nvPr>
            <p:ph type="title"/>
          </p:nvPr>
        </p:nvSpPr>
        <p:spPr>
          <a:xfrm>
            <a:off x="812800" y="822964"/>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0F172A"/>
                </a:solidFill>
                <a:latin typeface="Space Grotesk" pitchFamily="34" charset="0"/>
                <a:ea typeface="Space Grotesk" pitchFamily="34" charset="-122"/>
                <a:cs typeface="Space Grotesk" pitchFamily="34" charset="-120"/>
              </a:rPr>
              <a:t>Real-Time Digital Twin Dashboard</a:t>
            </a:r>
            <a:endParaRPr lang="en-US" sz="3000" dirty="0"/>
          </a:p>
        </p:txBody>
      </p:sp>
      <p:sp>
        <p:nvSpPr>
          <p:cNvPr id="4" name="Text 2"/>
          <p:cNvSpPr/>
          <p:nvPr/>
        </p:nvSpPr>
        <p:spPr>
          <a:xfrm>
            <a:off x="883158" y="2269492"/>
            <a:ext cx="3846322" cy="3154680"/>
          </a:xfrm>
          <a:prstGeom prst="rect">
            <a:avLst/>
          </a:prstGeom>
          <a:noFill/>
          <a:ln/>
        </p:spPr>
        <p:txBody>
          <a:bodyPr wrap="square" lIns="0" tIns="0" rIns="0" bIns="0" rtlCol="0" anchor="t">
            <a:normAutofit/>
          </a:bodyPr>
          <a:lstStyle/>
          <a:p>
            <a:pPr marL="183642" indent="-183642" algn="l">
              <a:lnSpc>
                <a:spcPts val="2240"/>
              </a:lnSpc>
              <a:buSzPct val="100000"/>
              <a:buChar char="•"/>
            </a:pPr>
            <a:r>
              <a:rPr lang="en-US" sz="1600" b="1" dirty="0">
                <a:solidFill>
                  <a:srgbClr val="0F172A"/>
                </a:solidFill>
                <a:latin typeface="Space Grotesk" pitchFamily="34" charset="0"/>
                <a:ea typeface="Space Grotesk" pitchFamily="34" charset="-122"/>
                <a:cs typeface="Space Grotesk" pitchFamily="34" charset="-120"/>
              </a:rPr>
              <a:t>Belt mirror:</a:t>
            </a:r>
            <a:r>
              <a:rPr lang="en-US" sz="1600" dirty="0">
                <a:solidFill>
                  <a:srgbClr val="0F172A"/>
                </a:solidFill>
                <a:latin typeface="Space Grotesk" pitchFamily="34" charset="0"/>
                <a:ea typeface="Space Grotesk" pitchFamily="34" charset="-122"/>
                <a:cs typeface="Space Grotesk" pitchFamily="34" charset="-120"/>
              </a:rPr>
              <a:t> events become live counts per material</a:t>
            </a:r>
            <a:endParaRPr lang="en-US" sz="1600" dirty="0"/>
          </a:p>
          <a:p>
            <a:pPr marL="183642" indent="-183642" algn="l">
              <a:lnSpc>
                <a:spcPts val="2240"/>
              </a:lnSpc>
              <a:buSzPct val="100000"/>
              <a:buChar char="•"/>
            </a:pPr>
            <a:r>
              <a:rPr lang="en-US" sz="1600" b="1" dirty="0">
                <a:solidFill>
                  <a:srgbClr val="0F172A"/>
                </a:solidFill>
                <a:latin typeface="Space Grotesk" pitchFamily="34" charset="0"/>
                <a:ea typeface="Space Grotesk" pitchFamily="34" charset="-122"/>
                <a:cs typeface="Space Grotesk" pitchFamily="34" charset="-120"/>
              </a:rPr>
              <a:t>Conveyor view:</a:t>
            </a:r>
            <a:r>
              <a:rPr lang="en-US" sz="1600" dirty="0">
                <a:solidFill>
                  <a:srgbClr val="0F172A"/>
                </a:solidFill>
                <a:latin typeface="Space Grotesk" pitchFamily="34" charset="0"/>
                <a:ea typeface="Space Grotesk" pitchFamily="34" charset="-122"/>
                <a:cs typeface="Space Grotesk" pitchFamily="34" charset="-120"/>
              </a:rPr>
              <a:t> 3D belt drops items into five bins</a:t>
            </a:r>
            <a:endParaRPr lang="en-US" sz="1600" dirty="0"/>
          </a:p>
          <a:p>
            <a:pPr marL="183642" indent="-183642" algn="l">
              <a:lnSpc>
                <a:spcPts val="2240"/>
              </a:lnSpc>
              <a:buSzPct val="100000"/>
              <a:buChar char="•"/>
            </a:pPr>
            <a:r>
              <a:rPr lang="en-US" sz="1600" b="1" dirty="0">
                <a:solidFill>
                  <a:srgbClr val="0F172A"/>
                </a:solidFill>
                <a:latin typeface="Space Grotesk" pitchFamily="34" charset="0"/>
                <a:ea typeface="Space Grotesk" pitchFamily="34" charset="-122"/>
                <a:cs typeface="Space Grotesk" pitchFamily="34" charset="-120"/>
              </a:rPr>
              <a:t>Bin fill:</a:t>
            </a:r>
            <a:r>
              <a:rPr lang="en-US" sz="1600" dirty="0">
                <a:solidFill>
                  <a:srgbClr val="0F172A"/>
                </a:solidFill>
                <a:latin typeface="Space Grotesk" pitchFamily="34" charset="0"/>
                <a:ea typeface="Space Grotesk" pitchFamily="34" charset="-122"/>
                <a:cs typeface="Space Grotesk" pitchFamily="34" charset="-120"/>
              </a:rPr>
              <a:t> level bars per bin</a:t>
            </a:r>
            <a:endParaRPr lang="en-US" sz="1600" dirty="0"/>
          </a:p>
          <a:p>
            <a:pPr marL="183642" indent="-183642" algn="l">
              <a:lnSpc>
                <a:spcPts val="2240"/>
              </a:lnSpc>
              <a:buSzPct val="100000"/>
              <a:buChar char="•"/>
            </a:pPr>
            <a:r>
              <a:rPr lang="en-US" sz="1600" b="1" dirty="0">
                <a:solidFill>
                  <a:srgbClr val="0F172A"/>
                </a:solidFill>
                <a:latin typeface="Space Grotesk" pitchFamily="34" charset="0"/>
                <a:ea typeface="Space Grotesk" pitchFamily="34" charset="-122"/>
                <a:cs typeface="Space Grotesk" pitchFamily="34" charset="-120"/>
              </a:rPr>
              <a:t>HUD:</a:t>
            </a:r>
            <a:r>
              <a:rPr lang="en-US" sz="1600" dirty="0">
                <a:solidFill>
                  <a:srgbClr val="0F172A"/>
                </a:solidFill>
                <a:latin typeface="Space Grotesk" pitchFamily="34" charset="0"/>
                <a:ea typeface="Space Grotesk" pitchFamily="34" charset="-122"/>
                <a:cs typeface="Space Grotesk" pitchFamily="34" charset="-120"/>
              </a:rPr>
              <a:t> scans, per-class counts, average confidence</a:t>
            </a:r>
            <a:endParaRPr lang="en-US" sz="1600" dirty="0"/>
          </a:p>
          <a:p>
            <a:pPr marL="183642" indent="-183642" algn="l">
              <a:lnSpc>
                <a:spcPts val="2240"/>
              </a:lnSpc>
              <a:buSzPct val="100000"/>
              <a:buChar char="•"/>
            </a:pPr>
            <a:r>
              <a:rPr lang="en-US" sz="1600" b="1" dirty="0">
                <a:solidFill>
                  <a:srgbClr val="0F172A"/>
                </a:solidFill>
                <a:latin typeface="Space Grotesk" pitchFamily="34" charset="0"/>
                <a:ea typeface="Space Grotesk" pitchFamily="34" charset="-122"/>
                <a:cs typeface="Space Grotesk" pitchFamily="34" charset="-120"/>
              </a:rPr>
              <a:t>Hazard alerts:</a:t>
            </a:r>
            <a:r>
              <a:rPr lang="en-US" sz="1600" dirty="0">
                <a:solidFill>
                  <a:srgbClr val="0F172A"/>
                </a:solidFill>
                <a:latin typeface="Space Grotesk" pitchFamily="34" charset="0"/>
                <a:ea typeface="Space Grotesk" pitchFamily="34" charset="-122"/>
                <a:cs typeface="Space Grotesk" pitchFamily="34" charset="-120"/>
              </a:rPr>
              <a:t> hazard banner and recent-detections log</a:t>
            </a:r>
            <a:endParaRPr lang="en-US" sz="1600" dirty="0"/>
          </a:p>
          <a:p>
            <a:pPr marL="183642" indent="-183642" algn="l">
              <a:lnSpc>
                <a:spcPts val="2240"/>
              </a:lnSpc>
              <a:buSzPct val="100000"/>
              <a:buChar char="•"/>
            </a:pPr>
            <a:r>
              <a:rPr lang="en-US" sz="1600" b="1" dirty="0">
                <a:solidFill>
                  <a:srgbClr val="0F172A"/>
                </a:solidFill>
                <a:latin typeface="Space Grotesk" pitchFamily="34" charset="0"/>
                <a:ea typeface="Space Grotesk" pitchFamily="34" charset="-122"/>
                <a:cs typeface="Space Grotesk" pitchFamily="34" charset="-120"/>
              </a:rPr>
              <a:t>AI Summary:</a:t>
            </a:r>
            <a:r>
              <a:rPr lang="en-US" sz="1600" dirty="0">
                <a:solidFill>
                  <a:srgbClr val="0F172A"/>
                </a:solidFill>
                <a:latin typeface="Space Grotesk" pitchFamily="34" charset="0"/>
                <a:ea typeface="Space Grotesk" pitchFamily="34" charset="-122"/>
                <a:cs typeface="Space Grotesk" pitchFamily="34" charset="-120"/>
              </a:rPr>
              <a:t> Gemini report on demand, PDF export</a:t>
            </a:r>
            <a:endParaRPr lang="en-US" sz="1600" dirty="0"/>
          </a:p>
        </p:txBody>
      </p:sp>
      <p:pic>
        <p:nvPicPr>
          <p:cNvPr id="5" name="Image 0" descr="Wireframe of the digital twin dashboard"/>
          <p:cNvPicPr>
            <a:picLocks noChangeAspect="1"/>
          </p:cNvPicPr>
          <p:nvPr/>
        </p:nvPicPr>
        <p:blipFill>
          <a:blip r:embed="rId3"/>
          <a:srcRect/>
          <a:stretch/>
        </p:blipFill>
        <p:spPr>
          <a:xfrm>
            <a:off x="4826000" y="1802129"/>
            <a:ext cx="6096000" cy="4064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a:effectLst/>
      </p:bgPr>
    </p:bg>
    <p:spTree>
      <p:nvGrpSpPr>
        <p:cNvPr id="1" name=""/>
        <p:cNvGrpSpPr/>
        <p:nvPr/>
      </p:nvGrpSpPr>
      <p:grpSpPr>
        <a:xfrm>
          <a:off x="0" y="0"/>
          <a:ext cx="0" cy="0"/>
          <a:chOff x="0" y="0"/>
          <a:chExt cx="0" cy="0"/>
        </a:xfrm>
      </p:grpSpPr>
      <p:sp>
        <p:nvSpPr>
          <p:cNvPr id="2" name="Kicker"/>
          <p:cNvSpPr txBox="1"/>
          <p:nvPr/>
        </p:nvSpPr>
        <p:spPr>
          <a:xfrm>
            <a:off x="812800" y="609600"/>
            <a:ext cx="10883392" cy="238760"/>
          </a:xfrm>
          <a:prstGeom prst="rect">
            <a:avLst/>
          </a:prstGeom>
          <a:noFill/>
          <a:ln/>
        </p:spPr>
        <p:txBody>
          <a:bodyPr wrap="square" lIns="0" tIns="0" rIns="0" bIns="0" rtlCol="0" anchor="t">
            <a:normAutofit/>
          </a:bodyPr>
          <a:lstStyle/>
          <a:p>
            <a:pPr marL="0" indent="0" algn="l">
              <a:lnSpc>
                <a:spcPts val="1680"/>
              </a:lnSpc>
              <a:spcAft>
                <a:spcPts val="0"/>
              </a:spcAft>
              <a:buNone/>
            </a:pPr>
            <a:r>
              <a:rPr lang="en-US" sz="1200" b="1" dirty="0">
                <a:solidFill>
                  <a:srgbClr val="059669"/>
                </a:solidFill>
                <a:latin typeface="JetBrains Mono"/>
                <a:ea typeface="JetBrains Mono"/>
                <a:cs typeface="JetBrains Mono"/>
              </a:rPr>
              <a:t>LIVE DEMO · SCREENSHOTS</a:t>
            </a:r>
          </a:p>
        </p:txBody>
      </p:sp>
      <p:sp>
        <p:nvSpPr>
          <p:cNvPr id="3" name="Title"/>
          <p:cNvSpPr>
            <a:spLocks noGrp="1"/>
          </p:cNvSpPr>
          <p:nvPr>
            <p:ph type="title"/>
          </p:nvPr>
        </p:nvSpPr>
        <p:spPr>
          <a:xfrm>
            <a:off x="812800" y="822964"/>
            <a:ext cx="10883392" cy="444500"/>
          </a:xfrm>
          <a:prstGeom prst="rect">
            <a:avLst/>
          </a:prstGeom>
          <a:noFill/>
          <a:ln/>
        </p:spPr>
        <p:txBody>
          <a:bodyPr wrap="square" lIns="0" tIns="0" rIns="0" bIns="0" rtlCol="0" anchor="t">
            <a:normAutofit/>
          </a:bodyPr>
          <a:lstStyle/>
          <a:p>
            <a:pPr marL="0" indent="0" algn="l">
              <a:lnSpc>
                <a:spcPts val="3300"/>
              </a:lnSpc>
              <a:spcAft>
                <a:spcPts val="0"/>
              </a:spcAft>
              <a:buNone/>
            </a:pPr>
            <a:r>
              <a:rPr lang="en-US" sz="3000" b="1" dirty="0">
                <a:solidFill>
                  <a:srgbClr val="0F172A"/>
                </a:solidFill>
                <a:latin typeface="Space Grotesk"/>
                <a:ea typeface="Space Grotesk"/>
                <a:cs typeface="Space Grotesk"/>
              </a:rPr>
              <a:t>The Dashboard in Action</a:t>
            </a:r>
          </a:p>
        </p:txBody>
      </p:sp>
      <p:pic>
        <p:nvPicPr>
          <p:cNvPr id="4" name="Screenshot 1" descr="Dashboard with empty twin and five bins"/>
          <p:cNvPicPr>
            <a:picLocks noChangeAspect="1"/>
          </p:cNvPicPr>
          <p:nvPr/>
        </p:nvPicPr>
        <p:blipFill>
          <a:blip r:embed="rId3"/>
          <a:stretch>
            <a:fillRect/>
          </a:stretch>
        </p:blipFill>
        <p:spPr>
          <a:xfrm>
            <a:off x="1753496" y="1420000"/>
            <a:ext cx="4376000" cy="2200541"/>
          </a:xfrm>
          <a:prstGeom prst="rect">
            <a:avLst/>
          </a:prstGeom>
          <a:ln w="12700">
            <a:solidFill>
              <a:srgbClr val="CBD5E1"/>
            </a:solidFill>
          </a:ln>
        </p:spPr>
      </p:pic>
      <p:sp>
        <p:nvSpPr>
          <p:cNvPr id="5" name="Caption 1"/>
          <p:cNvSpPr txBox="1"/>
          <p:nvPr/>
        </p:nvSpPr>
        <p:spPr>
          <a:xfrm>
            <a:off x="1753496" y="3680541"/>
            <a:ext cx="4376000" cy="230000"/>
          </a:xfrm>
          <a:prstGeom prst="rect">
            <a:avLst/>
          </a:prstGeom>
          <a:noFill/>
          <a:ln/>
        </p:spPr>
        <p:txBody>
          <a:bodyPr wrap="square" lIns="0" tIns="0" rIns="0" bIns="0" rtlCol="0" anchor="t">
            <a:noAutofit/>
          </a:bodyPr>
          <a:lstStyle/>
          <a:p>
            <a:pPr marL="0" indent="0" algn="l">
              <a:lnSpc>
                <a:spcPts val="1680"/>
              </a:lnSpc>
              <a:spcAft>
                <a:spcPts val="0"/>
              </a:spcAft>
              <a:buNone/>
            </a:pPr>
            <a:r>
              <a:rPr lang="en-US" sz="1200" b="0" dirty="0">
                <a:solidFill>
                  <a:srgbClr val="475569"/>
                </a:solidFill>
                <a:latin typeface="Space Grotesk"/>
                <a:ea typeface="Space Grotesk"/>
                <a:cs typeface="Space Grotesk"/>
              </a:rPr>
              <a:t>1 · Ready state: empty twin, five bins, hover tips</a:t>
            </a:r>
          </a:p>
        </p:txBody>
      </p:sp>
      <p:pic>
        <p:nvPicPr>
          <p:cNvPr id="6" name="Screenshot 2" descr="Live camera detection with boxes on the feed"/>
          <p:cNvPicPr>
            <a:picLocks noChangeAspect="1"/>
          </p:cNvPicPr>
          <p:nvPr/>
        </p:nvPicPr>
        <p:blipFill>
          <a:blip r:embed="rId4"/>
          <a:stretch>
            <a:fillRect/>
          </a:stretch>
        </p:blipFill>
        <p:spPr>
          <a:xfrm>
            <a:off x="6379496" y="1420000"/>
            <a:ext cx="4376000" cy="2200541"/>
          </a:xfrm>
          <a:prstGeom prst="rect">
            <a:avLst/>
          </a:prstGeom>
          <a:ln w="12700">
            <a:solidFill>
              <a:srgbClr val="CBD5E1"/>
            </a:solidFill>
          </a:ln>
        </p:spPr>
      </p:pic>
      <p:sp>
        <p:nvSpPr>
          <p:cNvPr id="7" name="Caption 2"/>
          <p:cNvSpPr txBox="1"/>
          <p:nvPr/>
        </p:nvSpPr>
        <p:spPr>
          <a:xfrm>
            <a:off x="6379496" y="3680541"/>
            <a:ext cx="4376000" cy="230000"/>
          </a:xfrm>
          <a:prstGeom prst="rect">
            <a:avLst/>
          </a:prstGeom>
          <a:noFill/>
          <a:ln/>
        </p:spPr>
        <p:txBody>
          <a:bodyPr wrap="square" lIns="0" tIns="0" rIns="0" bIns="0" rtlCol="0" anchor="t">
            <a:noAutofit/>
          </a:bodyPr>
          <a:lstStyle/>
          <a:p>
            <a:pPr marL="0" indent="0" algn="l">
              <a:lnSpc>
                <a:spcPts val="1680"/>
              </a:lnSpc>
              <a:spcAft>
                <a:spcPts val="0"/>
              </a:spcAft>
              <a:buNone/>
            </a:pPr>
            <a:r>
              <a:rPr lang="en-US" sz="1200" b="0" dirty="0">
                <a:solidFill>
                  <a:srgbClr val="475569"/>
                </a:solidFill>
                <a:latin typeface="Space Grotesk"/>
                <a:ea typeface="Space Grotesk"/>
                <a:cs typeface="Space Grotesk"/>
              </a:rPr>
              <a:t>2 · Live camera: boxes on the feed, 225 ms</a:t>
            </a:r>
          </a:p>
        </p:txBody>
      </p:sp>
      <p:pic>
        <p:nvPicPr>
          <p:cNvPr id="8" name="Screenshot 3" descr="Glass bottle detected at 0.78 confidence"/>
          <p:cNvPicPr>
            <a:picLocks noChangeAspect="1"/>
          </p:cNvPicPr>
          <p:nvPr/>
        </p:nvPicPr>
        <p:blipFill>
          <a:blip r:embed="rId5"/>
          <a:stretch>
            <a:fillRect/>
          </a:stretch>
        </p:blipFill>
        <p:spPr>
          <a:xfrm>
            <a:off x="1753496" y="4020541"/>
            <a:ext cx="4376000" cy="2200541"/>
          </a:xfrm>
          <a:prstGeom prst="rect">
            <a:avLst/>
          </a:prstGeom>
          <a:ln w="12700">
            <a:solidFill>
              <a:srgbClr val="CBD5E1"/>
            </a:solidFill>
          </a:ln>
        </p:spPr>
      </p:pic>
      <p:sp>
        <p:nvSpPr>
          <p:cNvPr id="9" name="Caption 3"/>
          <p:cNvSpPr txBox="1"/>
          <p:nvPr/>
        </p:nvSpPr>
        <p:spPr>
          <a:xfrm>
            <a:off x="1753496" y="6281082"/>
            <a:ext cx="4376000" cy="230000"/>
          </a:xfrm>
          <a:prstGeom prst="rect">
            <a:avLst/>
          </a:prstGeom>
          <a:noFill/>
          <a:ln/>
        </p:spPr>
        <p:txBody>
          <a:bodyPr wrap="square" lIns="0" tIns="0" rIns="0" bIns="0" rtlCol="0" anchor="t">
            <a:noAutofit/>
          </a:bodyPr>
          <a:lstStyle/>
          <a:p>
            <a:pPr marL="0" indent="0" algn="l">
              <a:lnSpc>
                <a:spcPts val="1680"/>
              </a:lnSpc>
              <a:spcAft>
                <a:spcPts val="0"/>
              </a:spcAft>
              <a:buNone/>
            </a:pPr>
            <a:r>
              <a:rPr lang="en-US" sz="1200" b="0" dirty="0">
                <a:solidFill>
                  <a:srgbClr val="475569"/>
                </a:solidFill>
                <a:latin typeface="Space Grotesk"/>
                <a:ea typeface="Space Grotesk"/>
                <a:cs typeface="Space Grotesk"/>
              </a:rPr>
              <a:t>3 · Glass bottle detected at 0.78, binned as glass</a:t>
            </a:r>
          </a:p>
        </p:txBody>
      </p:sp>
      <p:pic>
        <p:nvPicPr>
          <p:cNvPr id="10" name="Screenshot 4" descr="Uploaded video analysed, items sorted into bins"/>
          <p:cNvPicPr>
            <a:picLocks noChangeAspect="1"/>
          </p:cNvPicPr>
          <p:nvPr/>
        </p:nvPicPr>
        <p:blipFill>
          <a:blip r:embed="rId6"/>
          <a:stretch>
            <a:fillRect/>
          </a:stretch>
        </p:blipFill>
        <p:spPr>
          <a:xfrm>
            <a:off x="6379496" y="4020541"/>
            <a:ext cx="4376000" cy="2200541"/>
          </a:xfrm>
          <a:prstGeom prst="rect">
            <a:avLst/>
          </a:prstGeom>
          <a:ln w="12700">
            <a:solidFill>
              <a:srgbClr val="CBD5E1"/>
            </a:solidFill>
          </a:ln>
        </p:spPr>
      </p:pic>
      <p:sp>
        <p:nvSpPr>
          <p:cNvPr id="11" name="Caption 4"/>
          <p:cNvSpPr txBox="1"/>
          <p:nvPr/>
        </p:nvSpPr>
        <p:spPr>
          <a:xfrm>
            <a:off x="6379496" y="6281082"/>
            <a:ext cx="4376000" cy="230000"/>
          </a:xfrm>
          <a:prstGeom prst="rect">
            <a:avLst/>
          </a:prstGeom>
          <a:noFill/>
          <a:ln/>
        </p:spPr>
        <p:txBody>
          <a:bodyPr wrap="square" lIns="0" tIns="0" rIns="0" bIns="0" rtlCol="0" anchor="t">
            <a:noAutofit/>
          </a:bodyPr>
          <a:lstStyle/>
          <a:p>
            <a:pPr marL="0" indent="0" algn="l">
              <a:lnSpc>
                <a:spcPts val="1680"/>
              </a:lnSpc>
              <a:spcAft>
                <a:spcPts val="0"/>
              </a:spcAft>
              <a:buNone/>
            </a:pPr>
            <a:r>
              <a:rPr lang="en-US" sz="1200" b="0" dirty="0">
                <a:solidFill>
                  <a:srgbClr val="475569"/>
                </a:solidFill>
                <a:latin typeface="Space Grotesk"/>
                <a:ea typeface="Space Grotesk"/>
                <a:cs typeface="Space Grotesk"/>
              </a:rPr>
              <a:t>4 · Video upload: 4 items sorted, battery to hazard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a:effectLst/>
      </p:bgPr>
    </p:bg>
    <p:spTree>
      <p:nvGrpSpPr>
        <p:cNvPr id="1" name=""/>
        <p:cNvGrpSpPr/>
        <p:nvPr/>
      </p:nvGrpSpPr>
      <p:grpSpPr>
        <a:xfrm>
          <a:off x="0" y="0"/>
          <a:ext cx="0" cy="0"/>
          <a:chOff x="0" y="0"/>
          <a:chExt cx="0" cy="0"/>
        </a:xfrm>
      </p:grpSpPr>
      <p:sp>
        <p:nvSpPr>
          <p:cNvPr id="2" name="Kicker"/>
          <p:cNvSpPr txBox="1"/>
          <p:nvPr/>
        </p:nvSpPr>
        <p:spPr>
          <a:xfrm>
            <a:off x="812800" y="609600"/>
            <a:ext cx="10883392" cy="238760"/>
          </a:xfrm>
          <a:prstGeom prst="rect">
            <a:avLst/>
          </a:prstGeom>
          <a:noFill/>
          <a:ln/>
        </p:spPr>
        <p:txBody>
          <a:bodyPr wrap="square" lIns="0" tIns="0" rIns="0" bIns="0" rtlCol="0" anchor="t">
            <a:normAutofit/>
          </a:bodyPr>
          <a:lstStyle/>
          <a:p>
            <a:pPr marL="0" indent="0" algn="l">
              <a:lnSpc>
                <a:spcPts val="1680"/>
              </a:lnSpc>
              <a:spcAft>
                <a:spcPts val="0"/>
              </a:spcAft>
              <a:buNone/>
            </a:pPr>
            <a:r>
              <a:rPr lang="en-US" sz="1200" b="1" dirty="0">
                <a:solidFill>
                  <a:srgbClr val="059669"/>
                </a:solidFill>
                <a:latin typeface="JetBrains Mono"/>
                <a:ea typeface="JetBrains Mono"/>
                <a:cs typeface="JetBrains Mono"/>
              </a:rPr>
              <a:t>LIVE DEMO · VIDEO</a:t>
            </a:r>
          </a:p>
        </p:txBody>
      </p:sp>
      <p:sp>
        <p:nvSpPr>
          <p:cNvPr id="3" name="Title"/>
          <p:cNvSpPr>
            <a:spLocks noGrp="1"/>
          </p:cNvSpPr>
          <p:nvPr>
            <p:ph type="title"/>
          </p:nvPr>
        </p:nvSpPr>
        <p:spPr>
          <a:xfrm>
            <a:off x="812800" y="822964"/>
            <a:ext cx="10883392" cy="444500"/>
          </a:xfrm>
          <a:prstGeom prst="rect">
            <a:avLst/>
          </a:prstGeom>
          <a:noFill/>
          <a:ln/>
        </p:spPr>
        <p:txBody>
          <a:bodyPr wrap="square" lIns="0" tIns="0" rIns="0" bIns="0" rtlCol="0" anchor="t">
            <a:normAutofit/>
          </a:bodyPr>
          <a:lstStyle/>
          <a:p>
            <a:pPr marL="0" indent="0" algn="l">
              <a:lnSpc>
                <a:spcPts val="3300"/>
              </a:lnSpc>
              <a:spcAft>
                <a:spcPts val="0"/>
              </a:spcAft>
              <a:buNone/>
            </a:pPr>
            <a:r>
              <a:rPr lang="en-US" sz="3000" b="1" dirty="0">
                <a:solidFill>
                  <a:srgbClr val="0F172A"/>
                </a:solidFill>
                <a:latin typeface="Space Grotesk"/>
                <a:ea typeface="Space Grotesk"/>
                <a:cs typeface="Space Grotesk"/>
              </a:rPr>
              <a:t>The Model Working, End to End</a:t>
            </a:r>
          </a:p>
        </p:txBody>
      </p:sp>
      <p:sp>
        <p:nvSpPr>
          <p:cNvPr id="4" name="Video frame"/>
          <p:cNvSpPr/>
          <p:nvPr/>
        </p:nvSpPr>
        <p:spPr>
          <a:xfrm>
            <a:off x="812800" y="1500000"/>
            <a:ext cx="7000000" cy="3937500"/>
          </a:xfrm>
          <a:prstGeom prst="roundRect">
            <a:avLst>
              <a:gd name="adj" fmla="val 3000"/>
            </a:avLst>
          </a:prstGeom>
          <a:solidFill>
            <a:srgbClr val="0F172A"/>
          </a:solidFill>
          <a:ln>
            <a:noFill/>
          </a:ln>
        </p:spPr>
        <p:txBody>
          <a:bodyPr/>
          <a:lstStyle/>
          <a:p>
            <a:endParaRPr lang="en-US"/>
          </a:p>
        </p:txBody>
      </p:sp>
      <p:sp>
        <p:nvSpPr>
          <p:cNvPr id="5" name="Play circle"/>
          <p:cNvSpPr/>
          <p:nvPr/>
        </p:nvSpPr>
        <p:spPr>
          <a:xfrm>
            <a:off x="3862800" y="2768750"/>
            <a:ext cx="900000" cy="900000"/>
          </a:xfrm>
          <a:prstGeom prst="ellipse">
            <a:avLst/>
          </a:prstGeom>
          <a:solidFill>
            <a:srgbClr val="059669"/>
          </a:solidFill>
          <a:ln>
            <a:noFill/>
          </a:ln>
        </p:spPr>
        <p:txBody>
          <a:bodyPr/>
          <a:lstStyle/>
          <a:p>
            <a:endParaRPr lang="en-US"/>
          </a:p>
        </p:txBody>
      </p:sp>
      <p:sp>
        <p:nvSpPr>
          <p:cNvPr id="6" name="Play icon"/>
          <p:cNvSpPr/>
          <p:nvPr/>
        </p:nvSpPr>
        <p:spPr>
          <a:xfrm rot="5400000">
            <a:off x="4182800" y="2988750"/>
            <a:ext cx="300000" cy="460000"/>
          </a:xfrm>
          <a:prstGeom prst="triangle">
            <a:avLst/>
          </a:prstGeom>
          <a:solidFill>
            <a:srgbClr val="FFFFFF"/>
          </a:solidFill>
          <a:ln>
            <a:noFill/>
          </a:ln>
        </p:spPr>
        <p:txBody>
          <a:bodyPr/>
          <a:lstStyle/>
          <a:p>
            <a:endParaRPr lang="en-US"/>
          </a:p>
        </p:txBody>
      </p:sp>
      <p:sp>
        <p:nvSpPr>
          <p:cNvPr id="7" name="Video label"/>
          <p:cNvSpPr txBox="1"/>
          <p:nvPr/>
        </p:nvSpPr>
        <p:spPr>
          <a:xfrm>
            <a:off x="1112800" y="3868750"/>
            <a:ext cx="6400000" cy="300000"/>
          </a:xfrm>
          <a:prstGeom prst="rect">
            <a:avLst/>
          </a:prstGeom>
          <a:noFill/>
          <a:ln/>
        </p:spPr>
        <p:txBody>
          <a:bodyPr wrap="square" lIns="0" tIns="0" rIns="0" bIns="0" rtlCol="0" anchor="t">
            <a:normAutofit/>
          </a:bodyPr>
          <a:lstStyle/>
          <a:p>
            <a:pPr marL="0" indent="0" algn="ctr">
              <a:lnSpc>
                <a:spcPts val="2400"/>
              </a:lnSpc>
              <a:spcAft>
                <a:spcPts val="0"/>
              </a:spcAft>
              <a:buNone/>
            </a:pPr>
            <a:r>
              <a:rPr lang="en-US" sz="1800" b="1" dirty="0">
                <a:solidFill>
                  <a:srgbClr val="FFFFFF"/>
                </a:solidFill>
                <a:latin typeface="JetBrains Mono"/>
                <a:ea typeface="JetBrains Mono"/>
                <a:cs typeface="JetBrains Mono"/>
              </a:rPr>
              <a:t>[Demo video to be added]</a:t>
            </a:r>
          </a:p>
        </p:txBody>
      </p:sp>
      <p:sp>
        <p:nvSpPr>
          <p:cNvPr id="8" name="Video hint"/>
          <p:cNvSpPr txBox="1"/>
          <p:nvPr/>
        </p:nvSpPr>
        <p:spPr>
          <a:xfrm>
            <a:off x="1112800" y="4248750"/>
            <a:ext cx="6400000" cy="300000"/>
          </a:xfrm>
          <a:prstGeom prst="rect">
            <a:avLst/>
          </a:prstGeom>
          <a:noFill/>
          <a:ln/>
        </p:spPr>
        <p:txBody>
          <a:bodyPr wrap="square" lIns="0" tIns="0" rIns="0" bIns="0" rtlCol="0" anchor="t">
            <a:normAutofit/>
          </a:bodyPr>
          <a:lstStyle/>
          <a:p>
            <a:pPr marL="0" indent="0" algn="ctr">
              <a:lnSpc>
                <a:spcPts val="1680"/>
              </a:lnSpc>
              <a:spcAft>
                <a:spcPts val="0"/>
              </a:spcAft>
              <a:buNone/>
            </a:pPr>
            <a:r>
              <a:rPr lang="en-US" sz="1200" b="0" dirty="0">
                <a:solidFill>
                  <a:srgbClr val="94A3B8"/>
                </a:solidFill>
                <a:latin typeface="Space Grotesk"/>
                <a:ea typeface="Space Grotesk"/>
                <a:cs typeface="Space Grotesk"/>
              </a:rPr>
              <a:t>Insert › Video › This Device, then drop it over this frame</a:t>
            </a:r>
          </a:p>
        </p:txBody>
      </p:sp>
      <p:sp>
        <p:nvSpPr>
          <p:cNvPr id="9" name="Watch heading"/>
          <p:cNvSpPr txBox="1"/>
          <p:nvPr/>
        </p:nvSpPr>
        <p:spPr>
          <a:xfrm>
            <a:off x="8250000" y="1500000"/>
            <a:ext cx="3446192" cy="300000"/>
          </a:xfrm>
          <a:prstGeom prst="rect">
            <a:avLst/>
          </a:prstGeom>
          <a:noFill/>
          <a:ln/>
        </p:spPr>
        <p:txBody>
          <a:bodyPr wrap="square" lIns="0" tIns="0" rIns="0" bIns="0" rtlCol="0" anchor="t">
            <a:normAutofit/>
          </a:bodyPr>
          <a:lstStyle/>
          <a:p>
            <a:pPr marL="0" indent="0" algn="l">
              <a:lnSpc>
                <a:spcPts val="1680"/>
              </a:lnSpc>
              <a:spcAft>
                <a:spcPts val="0"/>
              </a:spcAft>
              <a:buNone/>
            </a:pPr>
            <a:r>
              <a:rPr lang="en-US" sz="1200" b="1" dirty="0">
                <a:solidFill>
                  <a:srgbClr val="059669"/>
                </a:solidFill>
                <a:latin typeface="JetBrains Mono"/>
                <a:ea typeface="JetBrains Mono"/>
                <a:cs typeface="JetBrains Mono"/>
              </a:rPr>
              <a:t>WHAT TO WATCH FOR</a:t>
            </a:r>
          </a:p>
        </p:txBody>
      </p:sp>
      <p:sp>
        <p:nvSpPr>
          <p:cNvPr id="10" name="Watch list"/>
          <p:cNvSpPr txBox="1"/>
          <p:nvPr/>
        </p:nvSpPr>
        <p:spPr>
          <a:xfrm>
            <a:off x="8250000" y="1920000"/>
            <a:ext cx="3446192" cy="3300000"/>
          </a:xfrm>
          <a:prstGeom prst="rect">
            <a:avLst/>
          </a:prstGeom>
          <a:noFill/>
          <a:ln/>
        </p:spPr>
        <p:txBody>
          <a:bodyPr wrap="square" lIns="0" tIns="0" rIns="0" bIns="0" rtlCol="0" anchor="t">
            <a:normAutofit/>
          </a:bodyPr>
          <a:lstStyle/>
          <a:p>
            <a:pPr marL="183642" indent="-183642" algn="l">
              <a:lnSpc>
                <a:spcPts val="2240"/>
              </a:lnSpc>
              <a:spcAft>
                <a:spcPts val="900"/>
              </a:spcAft>
              <a:buSzPct val="100000"/>
              <a:buChar char="•"/>
            </a:pPr>
            <a:r>
              <a:rPr lang="en-US" sz="1600" b="1" dirty="0">
                <a:solidFill>
                  <a:srgbClr val="0F172A"/>
                </a:solidFill>
                <a:latin typeface="Space Grotesk"/>
                <a:ea typeface="Space Grotesk"/>
                <a:cs typeface="Space Grotesk"/>
              </a:rPr>
              <a:t>Camera feed:</a:t>
            </a:r>
            <a:r>
              <a:rPr lang="en-US" sz="1600" b="0" dirty="0">
                <a:solidFill>
                  <a:srgbClr val="0F172A"/>
                </a:solidFill>
                <a:latin typeface="Space Grotesk"/>
                <a:ea typeface="Space Grotesk"/>
                <a:cs typeface="Space Grotesk"/>
              </a:rPr>
              <a:t> a box and class label on every item</a:t>
            </a:r>
          </a:p>
          <a:p>
            <a:pPr marL="183642" indent="-183642" algn="l">
              <a:lnSpc>
                <a:spcPts val="2240"/>
              </a:lnSpc>
              <a:spcAft>
                <a:spcPts val="900"/>
              </a:spcAft>
              <a:buSzPct val="100000"/>
              <a:buChar char="•"/>
            </a:pPr>
            <a:r>
              <a:rPr lang="en-US" sz="1600" b="1" dirty="0">
                <a:solidFill>
                  <a:srgbClr val="0F172A"/>
                </a:solidFill>
                <a:latin typeface="Space Grotesk"/>
                <a:ea typeface="Space Grotesk"/>
                <a:cs typeface="Space Grotesk"/>
              </a:rPr>
              <a:t>Digital twin:</a:t>
            </a:r>
            <a:r>
              <a:rPr lang="en-US" sz="1600" b="0" dirty="0">
                <a:solidFill>
                  <a:srgbClr val="0F172A"/>
                </a:solidFill>
                <a:latin typeface="Space Grotesk"/>
                <a:ea typeface="Space Grotesk"/>
                <a:cs typeface="Space Grotesk"/>
              </a:rPr>
              <a:t> each item lands in its bin</a:t>
            </a:r>
          </a:p>
          <a:p>
            <a:pPr marL="183642" indent="-183642" algn="l">
              <a:lnSpc>
                <a:spcPts val="2240"/>
              </a:lnSpc>
              <a:spcAft>
                <a:spcPts val="900"/>
              </a:spcAft>
              <a:buSzPct val="100000"/>
              <a:buChar char="•"/>
            </a:pPr>
            <a:r>
              <a:rPr lang="en-US" sz="1600" b="1" dirty="0">
                <a:solidFill>
                  <a:srgbClr val="0F172A"/>
                </a:solidFill>
                <a:latin typeface="Space Grotesk"/>
                <a:ea typeface="Space Grotesk"/>
                <a:cs typeface="Space Grotesk"/>
              </a:rPr>
              <a:t>Audit log:</a:t>
            </a:r>
            <a:r>
              <a:rPr lang="en-US" sz="1600" b="0" dirty="0">
                <a:solidFill>
                  <a:srgbClr val="0F172A"/>
                </a:solidFill>
                <a:latin typeface="Space Grotesk"/>
                <a:ea typeface="Space Grotesk"/>
                <a:cs typeface="Space Grotesk"/>
              </a:rPr>
              <a:t> time, category and confidence per item</a:t>
            </a:r>
          </a:p>
          <a:p>
            <a:pPr marL="183642" indent="-183642" algn="l">
              <a:lnSpc>
                <a:spcPts val="2240"/>
              </a:lnSpc>
              <a:spcAft>
                <a:spcPts val="900"/>
              </a:spcAft>
              <a:buSzPct val="100000"/>
              <a:buChar char="•"/>
            </a:pPr>
            <a:r>
              <a:rPr lang="en-US" sz="1600" b="1" dirty="0">
                <a:solidFill>
                  <a:srgbClr val="0F172A"/>
                </a:solidFill>
                <a:latin typeface="Space Grotesk"/>
                <a:ea typeface="Space Grotesk"/>
                <a:cs typeface="Space Grotesk"/>
              </a:rPr>
              <a:t>Hazards:</a:t>
            </a:r>
            <a:r>
              <a:rPr lang="en-US" sz="1600" b="0" dirty="0">
                <a:solidFill>
                  <a:srgbClr val="0F172A"/>
                </a:solidFill>
                <a:latin typeface="Space Grotesk"/>
                <a:ea typeface="Space Grotesk"/>
                <a:cs typeface="Space Grotesk"/>
              </a:rPr>
              <a:t> batteries go to the hazard bin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59669"/>
                </a:solidFill>
                <a:latin typeface="JetBrains Mono" pitchFamily="49" charset="0"/>
                <a:ea typeface="JetBrains Mono" pitchFamily="49" charset="-122"/>
                <a:cs typeface="JetBrains Mono" pitchFamily="49" charset="-120"/>
              </a:rPr>
              <a:t>HAZARD PROTOCOL</a:t>
            </a:r>
            <a:endParaRPr lang="en-US" sz="1200" dirty="0"/>
          </a:p>
        </p:txBody>
      </p:sp>
      <p:sp>
        <p:nvSpPr>
          <p:cNvPr id="3" name="Text 1"/>
          <p:cNvSpPr>
            <a:spLocks noGrp="1"/>
          </p:cNvSpPr>
          <p:nvPr>
            <p:ph type="title"/>
          </p:nvPr>
        </p:nvSpPr>
        <p:spPr>
          <a:xfrm>
            <a:off x="812800" y="822964"/>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0F172A"/>
                </a:solidFill>
                <a:latin typeface="Space Grotesk" pitchFamily="34" charset="0"/>
                <a:ea typeface="Space Grotesk" pitchFamily="34" charset="-122"/>
                <a:cs typeface="Space Grotesk" pitchFamily="34" charset="-120"/>
              </a:rPr>
              <a:t>Hazard Isolation Before the Crusher</a:t>
            </a:r>
            <a:endParaRPr lang="en-US" sz="3000" dirty="0"/>
          </a:p>
        </p:txBody>
      </p:sp>
      <p:pic>
        <p:nvPicPr>
          <p:cNvPr id="4" name="Image 0" descr="Flowchart from belt frame through detection to hazard check, critical status, hazardous bin, detections log, operator alert and AI summary"/>
          <p:cNvPicPr>
            <a:picLocks noChangeAspect="1"/>
          </p:cNvPicPr>
          <p:nvPr/>
        </p:nvPicPr>
        <p:blipFill>
          <a:blip r:embed="rId3"/>
          <a:srcRect l="-43" r="-43"/>
          <a:stretch/>
        </p:blipFill>
        <p:spPr>
          <a:xfrm>
            <a:off x="812800" y="1419864"/>
            <a:ext cx="10566400" cy="2794000"/>
          </a:xfrm>
          <a:prstGeom prst="rect">
            <a:avLst/>
          </a:prstGeom>
        </p:spPr>
      </p:pic>
      <p:sp>
        <p:nvSpPr>
          <p:cNvPr id="5" name="Text 2"/>
          <p:cNvSpPr/>
          <p:nvPr/>
        </p:nvSpPr>
        <p:spPr>
          <a:xfrm>
            <a:off x="812800" y="4391664"/>
            <a:ext cx="10883392"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75569"/>
                </a:solidFill>
                <a:latin typeface="Space Grotesk" pitchFamily="34" charset="0"/>
                <a:ea typeface="Space Grotesk" pitchFamily="34" charset="-122"/>
                <a:cs typeface="Space Grotesk" pitchFamily="34" charset="-120"/>
              </a:rPr>
              <a:t>Bin sorting is simulated in the twin today. Physical actuation is Phase 2 (PLC/Modbus).</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59669"/>
                </a:solidFill>
                <a:latin typeface="JetBrains Mono" pitchFamily="49" charset="0"/>
                <a:ea typeface="JetBrains Mono" pitchFamily="49" charset="-122"/>
                <a:cs typeface="JetBrains Mono" pitchFamily="49" charset="-120"/>
              </a:rPr>
              <a:t>WHY THIS MODEL</a:t>
            </a:r>
            <a:endParaRPr lang="en-US" sz="1200" dirty="0"/>
          </a:p>
        </p:txBody>
      </p:sp>
      <p:sp>
        <p:nvSpPr>
          <p:cNvPr id="3" name="Text 1"/>
          <p:cNvSpPr>
            <a:spLocks noGrp="1"/>
          </p:cNvSpPr>
          <p:nvPr>
            <p:ph type="title"/>
          </p:nvPr>
        </p:nvSpPr>
        <p:spPr>
          <a:xfrm>
            <a:off x="812800" y="822964"/>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0F172A"/>
                </a:solidFill>
                <a:latin typeface="Space Grotesk" pitchFamily="34" charset="0"/>
                <a:ea typeface="Space Grotesk" pitchFamily="34" charset="-122"/>
                <a:cs typeface="Space Grotesk" pitchFamily="34" charset="-120"/>
              </a:rPr>
              <a:t>Why Our Model Fits This Use Case</a:t>
            </a:r>
            <a:endParaRPr lang="en-US" sz="3000" dirty="0"/>
          </a:p>
        </p:txBody>
      </p:sp>
      <p:sp>
        <p:nvSpPr>
          <p:cNvPr id="4" name="Text 2"/>
          <p:cNvSpPr/>
          <p:nvPr/>
        </p:nvSpPr>
        <p:spPr>
          <a:xfrm>
            <a:off x="815975" y="1423039"/>
            <a:ext cx="4641612" cy="466090"/>
          </a:xfrm>
          <a:prstGeom prst="roundRect">
            <a:avLst>
              <a:gd name="adj" fmla="val 15668"/>
            </a:avLst>
          </a:prstGeom>
          <a:solidFill>
            <a:srgbClr val="FFFFFF"/>
          </a:solidFill>
          <a:ln w="6350">
            <a:solidFill>
              <a:srgbClr val="E2E8F0"/>
            </a:solidFill>
            <a:prstDash val="solid"/>
          </a:ln>
        </p:spPr>
        <p:txBody>
          <a:bodyPr wrap="square" lIns="132917" tIns="82117" rIns="2927" bIns="66877" rtlCol="0" anchor="t">
            <a:normAutofit/>
          </a:bodyPr>
          <a:lstStyle/>
          <a:p>
            <a:pPr marL="0" indent="0" algn="l">
              <a:lnSpc>
                <a:spcPts val="1960"/>
              </a:lnSpc>
              <a:buNone/>
            </a:pPr>
            <a:r>
              <a:rPr lang="en-US" sz="1400" dirty="0">
                <a:solidFill>
                  <a:srgbClr val="0F172A"/>
                </a:solidFill>
                <a:latin typeface="Space Grotesk" pitchFamily="34" charset="0"/>
                <a:ea typeface="Space Grotesk" pitchFamily="34" charset="-122"/>
                <a:cs typeface="Space Grotesk" pitchFamily="34" charset="-120"/>
              </a:rPr>
              <a:t>Many items in one frame</a:t>
            </a:r>
            <a:endParaRPr lang="en-US" sz="1400" dirty="0"/>
          </a:p>
        </p:txBody>
      </p:sp>
      <p:sp>
        <p:nvSpPr>
          <p:cNvPr id="5" name="Text 3"/>
          <p:cNvSpPr/>
          <p:nvPr/>
        </p:nvSpPr>
        <p:spPr>
          <a:xfrm>
            <a:off x="5587762" y="1483364"/>
            <a:ext cx="190500" cy="43434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059669"/>
                </a:solidFill>
                <a:latin typeface="JetBrains Mono" pitchFamily="49" charset="0"/>
                <a:ea typeface="JetBrains Mono" pitchFamily="49" charset="-122"/>
                <a:cs typeface="JetBrains Mono" pitchFamily="49" charset="-120"/>
              </a:rPr>
              <a:t>→</a:t>
            </a:r>
            <a:endParaRPr lang="en-US" sz="2000" dirty="0"/>
          </a:p>
        </p:txBody>
      </p:sp>
      <p:sp>
        <p:nvSpPr>
          <p:cNvPr id="6" name="Text 4"/>
          <p:cNvSpPr/>
          <p:nvPr/>
        </p:nvSpPr>
        <p:spPr>
          <a:xfrm>
            <a:off x="5860812" y="1426214"/>
            <a:ext cx="5512038" cy="459740"/>
          </a:xfrm>
          <a:prstGeom prst="roundRect">
            <a:avLst>
              <a:gd name="adj" fmla="val 15193"/>
            </a:avLst>
          </a:prstGeom>
          <a:solidFill>
            <a:srgbClr val="ECFDF5"/>
          </a:solidFill>
          <a:ln w="12700">
            <a:solidFill>
              <a:srgbClr val="059669"/>
            </a:solidFill>
            <a:prstDash val="solid"/>
          </a:ln>
        </p:spPr>
        <p:txBody>
          <a:bodyPr wrap="square" lIns="135751" tIns="84952" rIns="0" bIns="59552" rtlCol="0" anchor="t">
            <a:normAutofit/>
          </a:bodyPr>
          <a:lstStyle/>
          <a:p>
            <a:pPr marL="0" indent="0" algn="l">
              <a:lnSpc>
                <a:spcPts val="1960"/>
              </a:lnSpc>
              <a:buNone/>
            </a:pPr>
            <a:r>
              <a:rPr lang="en-US" sz="1400" b="1" dirty="0">
                <a:solidFill>
                  <a:srgbClr val="0F172A"/>
                </a:solidFill>
                <a:latin typeface="Space Grotesk" pitchFamily="34" charset="0"/>
                <a:ea typeface="Space Grotesk" pitchFamily="34" charset="-122"/>
                <a:cs typeface="Space Grotesk" pitchFamily="34" charset="-120"/>
              </a:rPr>
              <a:t>Box detection finds each one</a:t>
            </a:r>
            <a:endParaRPr lang="en-US" sz="1400" dirty="0"/>
          </a:p>
        </p:txBody>
      </p:sp>
      <p:sp>
        <p:nvSpPr>
          <p:cNvPr id="7" name="Text 5"/>
          <p:cNvSpPr/>
          <p:nvPr/>
        </p:nvSpPr>
        <p:spPr>
          <a:xfrm>
            <a:off x="815975" y="1984375"/>
            <a:ext cx="4641612" cy="466090"/>
          </a:xfrm>
          <a:prstGeom prst="roundRect">
            <a:avLst>
              <a:gd name="adj" fmla="val 15668"/>
            </a:avLst>
          </a:prstGeom>
          <a:solidFill>
            <a:srgbClr val="FFFFFF"/>
          </a:solidFill>
          <a:ln w="6350">
            <a:solidFill>
              <a:srgbClr val="E2E8F0"/>
            </a:solidFill>
            <a:prstDash val="solid"/>
          </a:ln>
        </p:spPr>
        <p:txBody>
          <a:bodyPr wrap="square" lIns="132917" tIns="82117" rIns="2927" bIns="66877" rtlCol="0" anchor="t">
            <a:normAutofit/>
          </a:bodyPr>
          <a:lstStyle/>
          <a:p>
            <a:pPr marL="0" indent="0" algn="l">
              <a:lnSpc>
                <a:spcPts val="1960"/>
              </a:lnSpc>
              <a:buNone/>
            </a:pPr>
            <a:r>
              <a:rPr lang="en-US" sz="1400" dirty="0">
                <a:solidFill>
                  <a:srgbClr val="0F172A"/>
                </a:solidFill>
                <a:latin typeface="Space Grotesk" pitchFamily="34" charset="0"/>
                <a:ea typeface="Space Grotesk" pitchFamily="34" charset="-122"/>
                <a:cs typeface="Space Grotesk" pitchFamily="34" charset="-120"/>
              </a:rPr>
              <a:t>Counts must not double</a:t>
            </a:r>
            <a:endParaRPr lang="en-US" sz="1400" dirty="0"/>
          </a:p>
        </p:txBody>
      </p:sp>
      <p:sp>
        <p:nvSpPr>
          <p:cNvPr id="8" name="Text 6"/>
          <p:cNvSpPr/>
          <p:nvPr/>
        </p:nvSpPr>
        <p:spPr>
          <a:xfrm>
            <a:off x="5587762" y="2044700"/>
            <a:ext cx="190500" cy="43434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059669"/>
                </a:solidFill>
                <a:latin typeface="JetBrains Mono" pitchFamily="49" charset="0"/>
                <a:ea typeface="JetBrains Mono" pitchFamily="49" charset="-122"/>
                <a:cs typeface="JetBrains Mono" pitchFamily="49" charset="-120"/>
              </a:rPr>
              <a:t>→</a:t>
            </a:r>
            <a:endParaRPr lang="en-US" sz="2000" dirty="0"/>
          </a:p>
        </p:txBody>
      </p:sp>
      <p:sp>
        <p:nvSpPr>
          <p:cNvPr id="9" name="Text 7"/>
          <p:cNvSpPr/>
          <p:nvPr/>
        </p:nvSpPr>
        <p:spPr>
          <a:xfrm>
            <a:off x="5860812" y="1987550"/>
            <a:ext cx="5512038" cy="459740"/>
          </a:xfrm>
          <a:prstGeom prst="roundRect">
            <a:avLst>
              <a:gd name="adj" fmla="val 15193"/>
            </a:avLst>
          </a:prstGeom>
          <a:solidFill>
            <a:srgbClr val="ECFDF5"/>
          </a:solidFill>
          <a:ln w="12700">
            <a:solidFill>
              <a:srgbClr val="059669"/>
            </a:solidFill>
            <a:prstDash val="solid"/>
          </a:ln>
        </p:spPr>
        <p:txBody>
          <a:bodyPr wrap="square" lIns="135751" tIns="84952" rIns="0" bIns="59552" rtlCol="0" anchor="t">
            <a:normAutofit/>
          </a:bodyPr>
          <a:lstStyle/>
          <a:p>
            <a:pPr marL="0" indent="0" algn="l">
              <a:lnSpc>
                <a:spcPts val="1960"/>
              </a:lnSpc>
              <a:buNone/>
            </a:pPr>
            <a:r>
              <a:rPr lang="en-US" sz="1400" b="1" dirty="0">
                <a:solidFill>
                  <a:srgbClr val="0F172A"/>
                </a:solidFill>
                <a:latin typeface="Space Grotesk" pitchFamily="34" charset="0"/>
                <a:ea typeface="Space Grotesk" pitchFamily="34" charset="-122"/>
                <a:cs typeface="Space Grotesk" pitchFamily="34" charset="-120"/>
              </a:rPr>
              <a:t>The tracker gives each item a persistent ID</a:t>
            </a:r>
            <a:endParaRPr lang="en-US" sz="1400" dirty="0"/>
          </a:p>
        </p:txBody>
      </p:sp>
      <p:sp>
        <p:nvSpPr>
          <p:cNvPr id="10" name="Text 8"/>
          <p:cNvSpPr/>
          <p:nvPr/>
        </p:nvSpPr>
        <p:spPr>
          <a:xfrm>
            <a:off x="815975" y="2545717"/>
            <a:ext cx="4641612" cy="466090"/>
          </a:xfrm>
          <a:prstGeom prst="roundRect">
            <a:avLst>
              <a:gd name="adj" fmla="val 15668"/>
            </a:avLst>
          </a:prstGeom>
          <a:solidFill>
            <a:srgbClr val="FFFFFF"/>
          </a:solidFill>
          <a:ln w="6350">
            <a:solidFill>
              <a:srgbClr val="E2E8F0"/>
            </a:solidFill>
            <a:prstDash val="solid"/>
          </a:ln>
        </p:spPr>
        <p:txBody>
          <a:bodyPr wrap="square" lIns="132917" tIns="82117" rIns="2927" bIns="66877" rtlCol="0" anchor="t">
            <a:normAutofit/>
          </a:bodyPr>
          <a:lstStyle/>
          <a:p>
            <a:pPr marL="0" indent="0" algn="l">
              <a:lnSpc>
                <a:spcPts val="1960"/>
              </a:lnSpc>
              <a:buNone/>
            </a:pPr>
            <a:r>
              <a:rPr lang="en-US" sz="1400" dirty="0">
                <a:solidFill>
                  <a:srgbClr val="0F172A"/>
                </a:solidFill>
                <a:latin typeface="Space Grotesk" pitchFamily="34" charset="0"/>
                <a:ea typeface="Space Grotesk" pitchFamily="34" charset="-122"/>
                <a:cs typeface="Space Grotesk" pitchFamily="34" charset="-120"/>
              </a:rPr>
              <a:t>Hazards and film matter most</a:t>
            </a:r>
            <a:endParaRPr lang="en-US" sz="1400" dirty="0"/>
          </a:p>
        </p:txBody>
      </p:sp>
      <p:sp>
        <p:nvSpPr>
          <p:cNvPr id="11" name="Text 9"/>
          <p:cNvSpPr/>
          <p:nvPr/>
        </p:nvSpPr>
        <p:spPr>
          <a:xfrm>
            <a:off x="5587762" y="2606042"/>
            <a:ext cx="190500" cy="43434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059669"/>
                </a:solidFill>
                <a:latin typeface="JetBrains Mono" pitchFamily="49" charset="0"/>
                <a:ea typeface="JetBrains Mono" pitchFamily="49" charset="-122"/>
                <a:cs typeface="JetBrains Mono" pitchFamily="49" charset="-120"/>
              </a:rPr>
              <a:t>→</a:t>
            </a:r>
            <a:endParaRPr lang="en-US" sz="2000" dirty="0"/>
          </a:p>
        </p:txBody>
      </p:sp>
      <p:sp>
        <p:nvSpPr>
          <p:cNvPr id="12" name="Text 10"/>
          <p:cNvSpPr/>
          <p:nvPr/>
        </p:nvSpPr>
        <p:spPr>
          <a:xfrm>
            <a:off x="5860812" y="2548892"/>
            <a:ext cx="5512038" cy="459740"/>
          </a:xfrm>
          <a:prstGeom prst="roundRect">
            <a:avLst>
              <a:gd name="adj" fmla="val 15193"/>
            </a:avLst>
          </a:prstGeom>
          <a:solidFill>
            <a:srgbClr val="ECFDF5"/>
          </a:solidFill>
          <a:ln w="12700">
            <a:solidFill>
              <a:srgbClr val="059669"/>
            </a:solidFill>
            <a:prstDash val="solid"/>
          </a:ln>
        </p:spPr>
        <p:txBody>
          <a:bodyPr wrap="square" lIns="135751" tIns="84952" rIns="0" bIns="59552" rtlCol="0" anchor="t">
            <a:normAutofit/>
          </a:bodyPr>
          <a:lstStyle/>
          <a:p>
            <a:pPr marL="0" indent="0" algn="l">
              <a:lnSpc>
                <a:spcPts val="1960"/>
              </a:lnSpc>
              <a:buNone/>
            </a:pPr>
            <a:r>
              <a:rPr lang="en-US" sz="1400" b="1" dirty="0">
                <a:solidFill>
                  <a:srgbClr val="0F172A"/>
                </a:solidFill>
                <a:latin typeface="Space Grotesk" pitchFamily="34" charset="0"/>
                <a:ea typeface="Space Grotesk" pitchFamily="34" charset="-122"/>
                <a:cs typeface="Space Grotesk" pitchFamily="34" charset="-120"/>
              </a:rPr>
              <a:t>2 hazard classes + plastic_bag, not just material</a:t>
            </a:r>
            <a:endParaRPr lang="en-US" sz="1400" dirty="0"/>
          </a:p>
        </p:txBody>
      </p:sp>
      <p:sp>
        <p:nvSpPr>
          <p:cNvPr id="13" name="Text 11"/>
          <p:cNvSpPr/>
          <p:nvPr/>
        </p:nvSpPr>
        <p:spPr>
          <a:xfrm>
            <a:off x="815975" y="3107054"/>
            <a:ext cx="4641612" cy="466090"/>
          </a:xfrm>
          <a:prstGeom prst="roundRect">
            <a:avLst>
              <a:gd name="adj" fmla="val 15668"/>
            </a:avLst>
          </a:prstGeom>
          <a:solidFill>
            <a:srgbClr val="FFFFFF"/>
          </a:solidFill>
          <a:ln w="6350">
            <a:solidFill>
              <a:srgbClr val="E2E8F0"/>
            </a:solidFill>
            <a:prstDash val="solid"/>
          </a:ln>
        </p:spPr>
        <p:txBody>
          <a:bodyPr wrap="square" lIns="132917" tIns="82117" rIns="2927" bIns="66877" rtlCol="0" anchor="t">
            <a:normAutofit/>
          </a:bodyPr>
          <a:lstStyle/>
          <a:p>
            <a:pPr marL="0" indent="0" algn="l">
              <a:lnSpc>
                <a:spcPts val="1960"/>
              </a:lnSpc>
              <a:buNone/>
            </a:pPr>
            <a:r>
              <a:rPr lang="en-US" sz="1400" dirty="0">
                <a:solidFill>
                  <a:srgbClr val="0F172A"/>
                </a:solidFill>
                <a:latin typeface="Space Grotesk" pitchFamily="34" charset="0"/>
                <a:ea typeface="Space Grotesk" pitchFamily="34" charset="-122"/>
                <a:cs typeface="Space Grotesk" pitchFamily="34" charset="-120"/>
              </a:rPr>
              <a:t>Must run on a shop-floor PC</a:t>
            </a:r>
            <a:endParaRPr lang="en-US" sz="1400" dirty="0"/>
          </a:p>
        </p:txBody>
      </p:sp>
      <p:sp>
        <p:nvSpPr>
          <p:cNvPr id="14" name="Text 12"/>
          <p:cNvSpPr/>
          <p:nvPr/>
        </p:nvSpPr>
        <p:spPr>
          <a:xfrm>
            <a:off x="5587762" y="3167379"/>
            <a:ext cx="190500" cy="43434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059669"/>
                </a:solidFill>
                <a:latin typeface="JetBrains Mono" pitchFamily="49" charset="0"/>
                <a:ea typeface="JetBrains Mono" pitchFamily="49" charset="-122"/>
                <a:cs typeface="JetBrains Mono" pitchFamily="49" charset="-120"/>
              </a:rPr>
              <a:t>→</a:t>
            </a:r>
            <a:endParaRPr lang="en-US" sz="2000" dirty="0"/>
          </a:p>
        </p:txBody>
      </p:sp>
      <p:sp>
        <p:nvSpPr>
          <p:cNvPr id="15" name="Text 13"/>
          <p:cNvSpPr/>
          <p:nvPr/>
        </p:nvSpPr>
        <p:spPr>
          <a:xfrm>
            <a:off x="5860812" y="3110229"/>
            <a:ext cx="5512038" cy="459740"/>
          </a:xfrm>
          <a:prstGeom prst="roundRect">
            <a:avLst>
              <a:gd name="adj" fmla="val 15193"/>
            </a:avLst>
          </a:prstGeom>
          <a:solidFill>
            <a:srgbClr val="ECFDF5"/>
          </a:solidFill>
          <a:ln w="12700">
            <a:solidFill>
              <a:srgbClr val="059669"/>
            </a:solidFill>
            <a:prstDash val="solid"/>
          </a:ln>
        </p:spPr>
        <p:txBody>
          <a:bodyPr wrap="square" lIns="135751" tIns="84952" rIns="0" bIns="59552" rtlCol="0" anchor="t">
            <a:normAutofit/>
          </a:bodyPr>
          <a:lstStyle/>
          <a:p>
            <a:pPr marL="0" indent="0" algn="l">
              <a:lnSpc>
                <a:spcPts val="1960"/>
              </a:lnSpc>
              <a:buNone/>
            </a:pPr>
            <a:r>
              <a:rPr lang="en-US" sz="1400" b="1" dirty="0">
                <a:solidFill>
                  <a:srgbClr val="0F172A"/>
                </a:solidFill>
                <a:latin typeface="Space Grotesk" pitchFamily="34" charset="0"/>
                <a:ea typeface="Space Grotesk" pitchFamily="34" charset="-122"/>
                <a:cs typeface="Space Grotesk" pitchFamily="34" charset="-120"/>
              </a:rPr>
              <a:t>YOLO11s, a small, fast model</a:t>
            </a:r>
            <a:endParaRPr lang="en-US" sz="1400" dirty="0"/>
          </a:p>
        </p:txBody>
      </p:sp>
      <p:sp>
        <p:nvSpPr>
          <p:cNvPr id="16" name="Text 14"/>
          <p:cNvSpPr/>
          <p:nvPr/>
        </p:nvSpPr>
        <p:spPr>
          <a:xfrm>
            <a:off x="815975" y="3668396"/>
            <a:ext cx="4641612" cy="466090"/>
          </a:xfrm>
          <a:prstGeom prst="roundRect">
            <a:avLst>
              <a:gd name="adj" fmla="val 15668"/>
            </a:avLst>
          </a:prstGeom>
          <a:solidFill>
            <a:srgbClr val="FFFFFF"/>
          </a:solidFill>
          <a:ln w="6350">
            <a:solidFill>
              <a:srgbClr val="E2E8F0"/>
            </a:solidFill>
            <a:prstDash val="solid"/>
          </a:ln>
        </p:spPr>
        <p:txBody>
          <a:bodyPr wrap="square" lIns="132917" tIns="82117" rIns="2927" bIns="66877" rtlCol="0" anchor="t">
            <a:normAutofit/>
          </a:bodyPr>
          <a:lstStyle/>
          <a:p>
            <a:pPr marL="0" indent="0" algn="l">
              <a:lnSpc>
                <a:spcPts val="1960"/>
              </a:lnSpc>
              <a:buNone/>
            </a:pPr>
            <a:r>
              <a:rPr lang="en-US" sz="1400" dirty="0">
                <a:solidFill>
                  <a:srgbClr val="0F172A"/>
                </a:solidFill>
                <a:latin typeface="Space Grotesk" pitchFamily="34" charset="0"/>
                <a:ea typeface="Space Grotesk" pitchFamily="34" charset="-122"/>
                <a:cs typeface="Space Grotesk" pitchFamily="34" charset="-120"/>
              </a:rPr>
              <a:t>No budget for a rebuild</a:t>
            </a:r>
            <a:endParaRPr lang="en-US" sz="1400" dirty="0"/>
          </a:p>
        </p:txBody>
      </p:sp>
      <p:sp>
        <p:nvSpPr>
          <p:cNvPr id="17" name="Text 15"/>
          <p:cNvSpPr/>
          <p:nvPr/>
        </p:nvSpPr>
        <p:spPr>
          <a:xfrm>
            <a:off x="5587762" y="3728721"/>
            <a:ext cx="190500" cy="43434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059669"/>
                </a:solidFill>
                <a:latin typeface="JetBrains Mono" pitchFamily="49" charset="0"/>
                <a:ea typeface="JetBrains Mono" pitchFamily="49" charset="-122"/>
                <a:cs typeface="JetBrains Mono" pitchFamily="49" charset="-120"/>
              </a:rPr>
              <a:t>→</a:t>
            </a:r>
            <a:endParaRPr lang="en-US" sz="2000" dirty="0"/>
          </a:p>
        </p:txBody>
      </p:sp>
      <p:sp>
        <p:nvSpPr>
          <p:cNvPr id="18" name="Text 16"/>
          <p:cNvSpPr/>
          <p:nvPr/>
        </p:nvSpPr>
        <p:spPr>
          <a:xfrm>
            <a:off x="5860812" y="3671571"/>
            <a:ext cx="5512038" cy="459740"/>
          </a:xfrm>
          <a:prstGeom prst="roundRect">
            <a:avLst>
              <a:gd name="adj" fmla="val 15193"/>
            </a:avLst>
          </a:prstGeom>
          <a:solidFill>
            <a:srgbClr val="ECFDF5"/>
          </a:solidFill>
          <a:ln w="12700">
            <a:solidFill>
              <a:srgbClr val="059669"/>
            </a:solidFill>
            <a:prstDash val="solid"/>
          </a:ln>
        </p:spPr>
        <p:txBody>
          <a:bodyPr wrap="square" lIns="135751" tIns="84952" rIns="0" bIns="59552" rtlCol="0" anchor="t">
            <a:normAutofit/>
          </a:bodyPr>
          <a:lstStyle/>
          <a:p>
            <a:pPr marL="0" indent="0" algn="l">
              <a:lnSpc>
                <a:spcPts val="1960"/>
              </a:lnSpc>
              <a:buNone/>
            </a:pPr>
            <a:r>
              <a:rPr lang="en-US" sz="1400" b="1" dirty="0">
                <a:solidFill>
                  <a:srgbClr val="0F172A"/>
                </a:solidFill>
                <a:latin typeface="Space Grotesk" pitchFamily="34" charset="0"/>
                <a:ea typeface="Space Grotesk" pitchFamily="34" charset="-122"/>
                <a:cs typeface="Space Grotesk" pitchFamily="34" charset="-120"/>
              </a:rPr>
              <a:t>One camera over the existing belt</a:t>
            </a:r>
            <a:endParaRPr lang="en-US" sz="1400" dirty="0"/>
          </a:p>
        </p:txBody>
      </p:sp>
      <p:sp>
        <p:nvSpPr>
          <p:cNvPr id="19" name="Text 17"/>
          <p:cNvSpPr/>
          <p:nvPr/>
        </p:nvSpPr>
        <p:spPr>
          <a:xfrm>
            <a:off x="812800" y="5788664"/>
            <a:ext cx="10566400" cy="459740"/>
          </a:xfrm>
          <a:prstGeom prst="roundRect">
            <a:avLst>
              <a:gd name="adj" fmla="val 16575"/>
            </a:avLst>
          </a:prstGeom>
          <a:solidFill>
            <a:srgbClr val="FFF7ED"/>
          </a:solidFill>
          <a:ln/>
        </p:spPr>
        <p:txBody>
          <a:bodyPr wrap="square" lIns="206282" tIns="91982" rIns="0" bIns="66582" rtlCol="0" anchor="t">
            <a:normAutofit/>
          </a:bodyPr>
          <a:lstStyle/>
          <a:p>
            <a:pPr marL="0" indent="0" algn="l">
              <a:lnSpc>
                <a:spcPts val="1820"/>
              </a:lnSpc>
              <a:buNone/>
            </a:pPr>
            <a:r>
              <a:rPr lang="en-US" sz="1300" b="1" dirty="0">
                <a:solidFill>
                  <a:srgbClr val="EA580C"/>
                </a:solidFill>
                <a:latin typeface="JetBrains Mono" pitchFamily="49" charset="0"/>
                <a:ea typeface="JetBrains Mono" pitchFamily="49" charset="-122"/>
                <a:cs typeface="JetBrains Mono" pitchFamily="49" charset="-120"/>
              </a:rPr>
              <a:t>ACCURACY: mAP50 0.66 and mAP50-95 0.47 on the validation split after 94 epochs. Hazard classes still need more data.</a:t>
            </a:r>
            <a:endParaRPr lang="en-US" sz="1300" dirty="0"/>
          </a:p>
        </p:txBody>
      </p:sp>
      <p:sp>
        <p:nvSpPr>
          <p:cNvPr id="20" name="Shape 18"/>
          <p:cNvSpPr/>
          <p:nvPr/>
        </p:nvSpPr>
        <p:spPr>
          <a:xfrm>
            <a:off x="812800" y="5788664"/>
            <a:ext cx="10566400" cy="459740"/>
          </a:xfrm>
          <a:custGeom>
            <a:avLst/>
            <a:gdLst/>
            <a:ahLst/>
            <a:cxnLst/>
            <a:rect l="l" t="t" r="r" b="b"/>
            <a:pathLst>
              <a:path w="10566400" h="459740">
                <a:moveTo>
                  <a:pt x="76200" y="459740"/>
                </a:moveTo>
                <a:lnTo>
                  <a:pt x="76200" y="459740"/>
                </a:lnTo>
                <a:arcTo wR="76200" hR="76200" stAng="5400000" swAng="5400000"/>
                <a:lnTo>
                  <a:pt x="0" y="76200"/>
                </a:lnTo>
                <a:arcTo wR="76200" hR="76200" stAng="10800000" swAng="5400000"/>
                <a:lnTo>
                  <a:pt x="76200" y="0"/>
                </a:lnTo>
                <a:arcTo wR="25400" hR="76200" stAng="16200000" swAng="-5400000"/>
                <a:lnTo>
                  <a:pt x="50800" y="383540"/>
                </a:lnTo>
                <a:arcTo wR="25400" hR="76200" stAng="10800000" swAng="-5400000"/>
                <a:close/>
              </a:path>
            </a:pathLst>
          </a:custGeom>
          <a:solidFill>
            <a:srgbClr val="EA580C"/>
          </a:solidFill>
          <a:ln/>
        </p:spPr>
        <p:txBody>
          <a:body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59669"/>
                </a:solidFill>
                <a:latin typeface="JetBrains Mono" pitchFamily="49" charset="0"/>
                <a:ea typeface="JetBrains Mono" pitchFamily="49" charset="-122"/>
                <a:cs typeface="JetBrains Mono" pitchFamily="49" charset="-120"/>
              </a:rPr>
              <a:t>ROADMAP</a:t>
            </a:r>
            <a:endParaRPr lang="en-US" sz="1200" dirty="0"/>
          </a:p>
        </p:txBody>
      </p:sp>
      <p:sp>
        <p:nvSpPr>
          <p:cNvPr id="3" name="Text 1"/>
          <p:cNvSpPr>
            <a:spLocks noGrp="1"/>
          </p:cNvSpPr>
          <p:nvPr>
            <p:ph type="title"/>
          </p:nvPr>
        </p:nvSpPr>
        <p:spPr>
          <a:xfrm>
            <a:off x="812800" y="822964"/>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0F172A"/>
                </a:solidFill>
                <a:latin typeface="Space Grotesk" pitchFamily="34" charset="0"/>
                <a:ea typeface="Space Grotesk" pitchFamily="34" charset="-122"/>
                <a:cs typeface="Space Grotesk" pitchFamily="34" charset="-120"/>
              </a:rPr>
              <a:t>Scaling the Smart MRF Ecosystem</a:t>
            </a:r>
            <a:endParaRPr lang="en-US" sz="3000" dirty="0"/>
          </a:p>
        </p:txBody>
      </p:sp>
      <p:sp>
        <p:nvSpPr>
          <p:cNvPr id="4" name="Shape 2"/>
          <p:cNvSpPr/>
          <p:nvPr/>
        </p:nvSpPr>
        <p:spPr>
          <a:xfrm>
            <a:off x="819150" y="1426214"/>
            <a:ext cx="3390900" cy="4815840"/>
          </a:xfrm>
          <a:prstGeom prst="roundRect">
            <a:avLst>
              <a:gd name="adj" fmla="val 2809"/>
            </a:avLst>
          </a:prstGeom>
          <a:solidFill>
            <a:srgbClr val="FFFFFF"/>
          </a:solidFill>
          <a:ln w="12700">
            <a:solidFill>
              <a:srgbClr val="059669"/>
            </a:solidFill>
            <a:prstDash val="solid"/>
          </a:ln>
        </p:spPr>
      </p:sp>
      <p:sp>
        <p:nvSpPr>
          <p:cNvPr id="5" name="Shape 3"/>
          <p:cNvSpPr/>
          <p:nvPr/>
        </p:nvSpPr>
        <p:spPr>
          <a:xfrm>
            <a:off x="822960" y="1430021"/>
            <a:ext cx="3383280" cy="960120"/>
          </a:xfrm>
          <a:custGeom>
            <a:avLst/>
            <a:gdLst/>
            <a:ahLst/>
            <a:cxnLst/>
            <a:rect l="l" t="t" r="r" b="b"/>
            <a:pathLst>
              <a:path w="3383280" h="960120">
                <a:moveTo>
                  <a:pt x="0" y="91440"/>
                </a:moveTo>
                <a:arcTo wR="91440" hR="91440" stAng="10800000" swAng="5400000"/>
                <a:lnTo>
                  <a:pt x="3291840" y="0"/>
                </a:lnTo>
                <a:arcTo wR="91440" hR="91440" stAng="16200000" swAng="5400000"/>
                <a:lnTo>
                  <a:pt x="3383280" y="960120"/>
                </a:lnTo>
                <a:lnTo>
                  <a:pt x="0" y="960120"/>
                </a:lnTo>
                <a:close/>
              </a:path>
            </a:pathLst>
          </a:custGeom>
          <a:solidFill>
            <a:srgbClr val="059669"/>
          </a:solidFill>
          <a:ln/>
        </p:spPr>
      </p:sp>
      <p:sp>
        <p:nvSpPr>
          <p:cNvPr id="6" name="Text 4"/>
          <p:cNvSpPr/>
          <p:nvPr/>
        </p:nvSpPr>
        <p:spPr>
          <a:xfrm>
            <a:off x="1026160" y="1607821"/>
            <a:ext cx="3066187" cy="381000"/>
          </a:xfrm>
          <a:prstGeom prst="rect">
            <a:avLst/>
          </a:prstGeom>
          <a:noFill/>
          <a:ln/>
        </p:spPr>
        <p:txBody>
          <a:bodyPr wrap="square" lIns="0" tIns="0" rIns="0" bIns="0" rtlCol="0" anchor="t">
            <a:normAutofit/>
          </a:bodyPr>
          <a:lstStyle/>
          <a:p>
            <a:pPr marL="0" indent="0" algn="l">
              <a:lnSpc>
                <a:spcPts val="2800"/>
              </a:lnSpc>
              <a:buNone/>
            </a:pPr>
            <a:r>
              <a:rPr lang="en-US" sz="2800" b="1" dirty="0">
                <a:solidFill>
                  <a:srgbClr val="FFFFFF"/>
                </a:solidFill>
                <a:latin typeface="Space Grotesk" pitchFamily="34" charset="0"/>
                <a:ea typeface="Space Grotesk" pitchFamily="34" charset="-122"/>
                <a:cs typeface="Space Grotesk" pitchFamily="34" charset="-120"/>
              </a:rPr>
              <a:t>PHASE 1</a:t>
            </a:r>
            <a:endParaRPr lang="en-US" sz="2800" dirty="0"/>
          </a:p>
        </p:txBody>
      </p:sp>
      <p:sp>
        <p:nvSpPr>
          <p:cNvPr id="7" name="Text 5"/>
          <p:cNvSpPr/>
          <p:nvPr/>
        </p:nvSpPr>
        <p:spPr>
          <a:xfrm>
            <a:off x="1026160" y="1963421"/>
            <a:ext cx="3066187"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FFFF"/>
                </a:solidFill>
                <a:latin typeface="JetBrains Mono" pitchFamily="49" charset="0"/>
                <a:ea typeface="JetBrains Mono" pitchFamily="49" charset="-122"/>
                <a:cs typeface="JetBrains Mono" pitchFamily="49" charset="-120"/>
              </a:rPr>
              <a:t>NOW · IN PROGRESS</a:t>
            </a:r>
            <a:endParaRPr lang="en-US" sz="1400" dirty="0"/>
          </a:p>
        </p:txBody>
      </p:sp>
      <p:sp>
        <p:nvSpPr>
          <p:cNvPr id="8" name="Text 6"/>
          <p:cNvSpPr/>
          <p:nvPr/>
        </p:nvSpPr>
        <p:spPr>
          <a:xfrm>
            <a:off x="1026160" y="2567942"/>
            <a:ext cx="3066187" cy="302895"/>
          </a:xfrm>
          <a:prstGeom prst="rect">
            <a:avLst/>
          </a:prstGeom>
          <a:noFill/>
          <a:ln/>
        </p:spPr>
        <p:txBody>
          <a:bodyPr wrap="square" lIns="0" tIns="0" rIns="0" bIns="0" rtlCol="0" anchor="t">
            <a:normAutofit/>
          </a:bodyPr>
          <a:lstStyle/>
          <a:p>
            <a:pPr marL="0" indent="0" algn="l">
              <a:lnSpc>
                <a:spcPts val="2185"/>
              </a:lnSpc>
              <a:buNone/>
            </a:pPr>
            <a:r>
              <a:rPr lang="en-US" sz="1900" b="1" dirty="0">
                <a:solidFill>
                  <a:srgbClr val="0F172A"/>
                </a:solidFill>
                <a:latin typeface="Space Grotesk" pitchFamily="34" charset="0"/>
                <a:ea typeface="Space Grotesk" pitchFamily="34" charset="-122"/>
                <a:cs typeface="Space Grotesk" pitchFamily="34" charset="-120"/>
              </a:rPr>
              <a:t>Vision + Twin + AI</a:t>
            </a:r>
            <a:endParaRPr lang="en-US" sz="1900" dirty="0"/>
          </a:p>
        </p:txBody>
      </p:sp>
      <p:sp>
        <p:nvSpPr>
          <p:cNvPr id="9" name="Text 7"/>
          <p:cNvSpPr/>
          <p:nvPr/>
        </p:nvSpPr>
        <p:spPr>
          <a:xfrm>
            <a:off x="1026160" y="2921639"/>
            <a:ext cx="3066187" cy="796925"/>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475569"/>
                </a:solidFill>
                <a:latin typeface="Space Grotesk" pitchFamily="34" charset="0"/>
                <a:ea typeface="Space Grotesk" pitchFamily="34" charset="-122"/>
                <a:cs typeface="Space Grotesk" pitchFamily="34" charset="-120"/>
              </a:rPr>
              <a:t>Train YOLO11s, build twin and dashboard, Gemini report.</a:t>
            </a:r>
            <a:endParaRPr lang="en-US" sz="1500" dirty="0"/>
          </a:p>
        </p:txBody>
      </p:sp>
      <p:sp>
        <p:nvSpPr>
          <p:cNvPr id="10" name="Shape 8"/>
          <p:cNvSpPr/>
          <p:nvPr/>
        </p:nvSpPr>
        <p:spPr>
          <a:xfrm>
            <a:off x="4400550" y="1426214"/>
            <a:ext cx="3390900" cy="4815840"/>
          </a:xfrm>
          <a:prstGeom prst="roundRect">
            <a:avLst>
              <a:gd name="adj" fmla="val 2809"/>
            </a:avLst>
          </a:prstGeom>
          <a:solidFill>
            <a:srgbClr val="FFFFFF"/>
          </a:solidFill>
          <a:ln w="12700">
            <a:solidFill>
              <a:srgbClr val="C2410C"/>
            </a:solidFill>
            <a:prstDash val="solid"/>
          </a:ln>
        </p:spPr>
      </p:sp>
      <p:sp>
        <p:nvSpPr>
          <p:cNvPr id="11" name="Shape 9"/>
          <p:cNvSpPr/>
          <p:nvPr/>
        </p:nvSpPr>
        <p:spPr>
          <a:xfrm>
            <a:off x="4404360" y="1430021"/>
            <a:ext cx="3383280" cy="960120"/>
          </a:xfrm>
          <a:custGeom>
            <a:avLst/>
            <a:gdLst/>
            <a:ahLst/>
            <a:cxnLst/>
            <a:rect l="l" t="t" r="r" b="b"/>
            <a:pathLst>
              <a:path w="3383280" h="960120">
                <a:moveTo>
                  <a:pt x="0" y="91440"/>
                </a:moveTo>
                <a:arcTo wR="91440" hR="91440" stAng="10800000" swAng="5400000"/>
                <a:lnTo>
                  <a:pt x="3291840" y="0"/>
                </a:lnTo>
                <a:arcTo wR="91440" hR="91440" stAng="16200000" swAng="5400000"/>
                <a:lnTo>
                  <a:pt x="3383280" y="960120"/>
                </a:lnTo>
                <a:lnTo>
                  <a:pt x="0" y="960120"/>
                </a:lnTo>
                <a:close/>
              </a:path>
            </a:pathLst>
          </a:custGeom>
          <a:solidFill>
            <a:srgbClr val="C2410C"/>
          </a:solidFill>
          <a:ln/>
        </p:spPr>
      </p:sp>
      <p:sp>
        <p:nvSpPr>
          <p:cNvPr id="12" name="Text 10"/>
          <p:cNvSpPr/>
          <p:nvPr/>
        </p:nvSpPr>
        <p:spPr>
          <a:xfrm>
            <a:off x="4607560" y="1607821"/>
            <a:ext cx="3066187" cy="381000"/>
          </a:xfrm>
          <a:prstGeom prst="rect">
            <a:avLst/>
          </a:prstGeom>
          <a:noFill/>
          <a:ln/>
        </p:spPr>
        <p:txBody>
          <a:bodyPr wrap="square" lIns="0" tIns="0" rIns="0" bIns="0" rtlCol="0" anchor="t">
            <a:normAutofit/>
          </a:bodyPr>
          <a:lstStyle/>
          <a:p>
            <a:pPr marL="0" indent="0" algn="l">
              <a:lnSpc>
                <a:spcPts val="2800"/>
              </a:lnSpc>
              <a:buNone/>
            </a:pPr>
            <a:r>
              <a:rPr lang="en-US" sz="2800" b="1" dirty="0">
                <a:solidFill>
                  <a:srgbClr val="FFFFFF"/>
                </a:solidFill>
                <a:latin typeface="Space Grotesk" pitchFamily="34" charset="0"/>
                <a:ea typeface="Space Grotesk" pitchFamily="34" charset="-122"/>
                <a:cs typeface="Space Grotesk" pitchFamily="34" charset="-120"/>
              </a:rPr>
              <a:t>PHASE 2</a:t>
            </a:r>
            <a:endParaRPr lang="en-US" sz="2800" dirty="0"/>
          </a:p>
        </p:txBody>
      </p:sp>
      <p:sp>
        <p:nvSpPr>
          <p:cNvPr id="13" name="Text 11"/>
          <p:cNvSpPr/>
          <p:nvPr/>
        </p:nvSpPr>
        <p:spPr>
          <a:xfrm>
            <a:off x="4607560" y="1963421"/>
            <a:ext cx="3066187"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FFFF"/>
                </a:solidFill>
                <a:latin typeface="JetBrains Mono" pitchFamily="49" charset="0"/>
                <a:ea typeface="JetBrains Mono" pitchFamily="49" charset="-122"/>
                <a:cs typeface="JetBrains Mono" pitchFamily="49" charset="-120"/>
              </a:rPr>
              <a:t>NEXT</a:t>
            </a:r>
            <a:endParaRPr lang="en-US" sz="1400" dirty="0"/>
          </a:p>
        </p:txBody>
      </p:sp>
      <p:sp>
        <p:nvSpPr>
          <p:cNvPr id="14" name="Text 12"/>
          <p:cNvSpPr/>
          <p:nvPr/>
        </p:nvSpPr>
        <p:spPr>
          <a:xfrm>
            <a:off x="4607560" y="2567942"/>
            <a:ext cx="3066187" cy="302895"/>
          </a:xfrm>
          <a:prstGeom prst="rect">
            <a:avLst/>
          </a:prstGeom>
          <a:noFill/>
          <a:ln/>
        </p:spPr>
        <p:txBody>
          <a:bodyPr wrap="square" lIns="0" tIns="0" rIns="0" bIns="0" rtlCol="0" anchor="t">
            <a:normAutofit/>
          </a:bodyPr>
          <a:lstStyle/>
          <a:p>
            <a:pPr marL="0" indent="0" algn="l">
              <a:lnSpc>
                <a:spcPts val="2185"/>
              </a:lnSpc>
              <a:buNone/>
            </a:pPr>
            <a:r>
              <a:rPr lang="en-US" sz="1900" b="1" dirty="0">
                <a:solidFill>
                  <a:srgbClr val="0F172A"/>
                </a:solidFill>
                <a:latin typeface="Space Grotesk" pitchFamily="34" charset="0"/>
                <a:ea typeface="Space Grotesk" pitchFamily="34" charset="-122"/>
                <a:cs typeface="Space Grotesk" pitchFamily="34" charset="-120"/>
              </a:rPr>
              <a:t>Hardware Bridge</a:t>
            </a:r>
            <a:endParaRPr lang="en-US" sz="1900" dirty="0"/>
          </a:p>
        </p:txBody>
      </p:sp>
      <p:sp>
        <p:nvSpPr>
          <p:cNvPr id="15" name="Text 13"/>
          <p:cNvSpPr/>
          <p:nvPr/>
        </p:nvSpPr>
        <p:spPr>
          <a:xfrm>
            <a:off x="4607560" y="2921639"/>
            <a:ext cx="3066187" cy="539750"/>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475569"/>
                </a:solidFill>
                <a:latin typeface="Space Grotesk" pitchFamily="34" charset="0"/>
                <a:ea typeface="Space Grotesk" pitchFamily="34" charset="-122"/>
                <a:cs typeface="Space Grotesk" pitchFamily="34" charset="-120"/>
              </a:rPr>
              <a:t>PLC/Modbus to drive air-jets and diverters.</a:t>
            </a:r>
            <a:endParaRPr lang="en-US" sz="1500" dirty="0"/>
          </a:p>
        </p:txBody>
      </p:sp>
      <p:sp>
        <p:nvSpPr>
          <p:cNvPr id="16" name="Shape 14"/>
          <p:cNvSpPr/>
          <p:nvPr/>
        </p:nvSpPr>
        <p:spPr>
          <a:xfrm>
            <a:off x="7981950" y="1426214"/>
            <a:ext cx="3390900" cy="4815840"/>
          </a:xfrm>
          <a:prstGeom prst="roundRect">
            <a:avLst>
              <a:gd name="adj" fmla="val 2809"/>
            </a:avLst>
          </a:prstGeom>
          <a:solidFill>
            <a:srgbClr val="FFFFFF"/>
          </a:solidFill>
          <a:ln w="12700">
            <a:solidFill>
              <a:srgbClr val="334155"/>
            </a:solidFill>
            <a:prstDash val="solid"/>
          </a:ln>
        </p:spPr>
      </p:sp>
      <p:sp>
        <p:nvSpPr>
          <p:cNvPr id="17" name="Shape 15"/>
          <p:cNvSpPr/>
          <p:nvPr/>
        </p:nvSpPr>
        <p:spPr>
          <a:xfrm>
            <a:off x="7985760" y="1430021"/>
            <a:ext cx="3383280" cy="960120"/>
          </a:xfrm>
          <a:custGeom>
            <a:avLst/>
            <a:gdLst/>
            <a:ahLst/>
            <a:cxnLst/>
            <a:rect l="l" t="t" r="r" b="b"/>
            <a:pathLst>
              <a:path w="3383280" h="960120">
                <a:moveTo>
                  <a:pt x="0" y="91440"/>
                </a:moveTo>
                <a:arcTo wR="91440" hR="91440" stAng="10800000" swAng="5400000"/>
                <a:lnTo>
                  <a:pt x="3291840" y="0"/>
                </a:lnTo>
                <a:arcTo wR="91440" hR="91440" stAng="16200000" swAng="5400000"/>
                <a:lnTo>
                  <a:pt x="3383280" y="960120"/>
                </a:lnTo>
                <a:lnTo>
                  <a:pt x="0" y="960120"/>
                </a:lnTo>
                <a:close/>
              </a:path>
            </a:pathLst>
          </a:custGeom>
          <a:solidFill>
            <a:srgbClr val="334155"/>
          </a:solidFill>
          <a:ln/>
        </p:spPr>
      </p:sp>
      <p:sp>
        <p:nvSpPr>
          <p:cNvPr id="18" name="Text 16"/>
          <p:cNvSpPr/>
          <p:nvPr/>
        </p:nvSpPr>
        <p:spPr>
          <a:xfrm>
            <a:off x="8188960" y="1607821"/>
            <a:ext cx="3066187" cy="381000"/>
          </a:xfrm>
          <a:prstGeom prst="rect">
            <a:avLst/>
          </a:prstGeom>
          <a:noFill/>
          <a:ln/>
        </p:spPr>
        <p:txBody>
          <a:bodyPr wrap="square" lIns="0" tIns="0" rIns="0" bIns="0" rtlCol="0" anchor="t">
            <a:normAutofit/>
          </a:bodyPr>
          <a:lstStyle/>
          <a:p>
            <a:pPr marL="0" indent="0" algn="l">
              <a:lnSpc>
                <a:spcPts val="2800"/>
              </a:lnSpc>
              <a:buNone/>
            </a:pPr>
            <a:r>
              <a:rPr lang="en-US" sz="2800" b="1" dirty="0">
                <a:solidFill>
                  <a:srgbClr val="FFFFFF"/>
                </a:solidFill>
                <a:latin typeface="Space Grotesk" pitchFamily="34" charset="0"/>
                <a:ea typeface="Space Grotesk" pitchFamily="34" charset="-122"/>
                <a:cs typeface="Space Grotesk" pitchFamily="34" charset="-120"/>
              </a:rPr>
              <a:t>PHASE 3</a:t>
            </a:r>
            <a:endParaRPr lang="en-US" sz="2800" dirty="0"/>
          </a:p>
        </p:txBody>
      </p:sp>
      <p:sp>
        <p:nvSpPr>
          <p:cNvPr id="19" name="Text 17"/>
          <p:cNvSpPr/>
          <p:nvPr/>
        </p:nvSpPr>
        <p:spPr>
          <a:xfrm>
            <a:off x="8188960" y="1963421"/>
            <a:ext cx="3066187"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FFFF"/>
                </a:solidFill>
                <a:latin typeface="JetBrains Mono" pitchFamily="49" charset="0"/>
                <a:ea typeface="JetBrains Mono" pitchFamily="49" charset="-122"/>
                <a:cs typeface="JetBrains Mono" pitchFamily="49" charset="-120"/>
              </a:rPr>
              <a:t>LATER</a:t>
            </a:r>
            <a:endParaRPr lang="en-US" sz="1400" dirty="0"/>
          </a:p>
        </p:txBody>
      </p:sp>
      <p:sp>
        <p:nvSpPr>
          <p:cNvPr id="20" name="Text 18"/>
          <p:cNvSpPr/>
          <p:nvPr/>
        </p:nvSpPr>
        <p:spPr>
          <a:xfrm>
            <a:off x="8188960" y="2567942"/>
            <a:ext cx="3066187" cy="302895"/>
          </a:xfrm>
          <a:prstGeom prst="rect">
            <a:avLst/>
          </a:prstGeom>
          <a:noFill/>
          <a:ln/>
        </p:spPr>
        <p:txBody>
          <a:bodyPr wrap="square" lIns="0" tIns="0" rIns="0" bIns="0" rtlCol="0" anchor="t">
            <a:normAutofit/>
          </a:bodyPr>
          <a:lstStyle/>
          <a:p>
            <a:pPr marL="0" indent="0" algn="l">
              <a:lnSpc>
                <a:spcPts val="2185"/>
              </a:lnSpc>
              <a:buNone/>
            </a:pPr>
            <a:r>
              <a:rPr lang="en-US" sz="1900" b="1" dirty="0">
                <a:solidFill>
                  <a:srgbClr val="0F172A"/>
                </a:solidFill>
                <a:latin typeface="Space Grotesk" pitchFamily="34" charset="0"/>
                <a:ea typeface="Space Grotesk" pitchFamily="34" charset="-122"/>
                <a:cs typeface="Space Grotesk" pitchFamily="34" charset="-120"/>
              </a:rPr>
              <a:t>Facility Mesh</a:t>
            </a:r>
            <a:endParaRPr lang="en-US" sz="1900" dirty="0"/>
          </a:p>
        </p:txBody>
      </p:sp>
      <p:sp>
        <p:nvSpPr>
          <p:cNvPr id="21" name="Text 19"/>
          <p:cNvSpPr/>
          <p:nvPr/>
        </p:nvSpPr>
        <p:spPr>
          <a:xfrm>
            <a:off x="8188960" y="2921639"/>
            <a:ext cx="3066187" cy="539750"/>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475569"/>
                </a:solidFill>
                <a:latin typeface="Space Grotesk" pitchFamily="34" charset="0"/>
                <a:ea typeface="Space Grotesk" pitchFamily="34" charset="-122"/>
                <a:cs typeface="Space Grotesk" pitchFamily="34" charset="-120"/>
              </a:rPr>
              <a:t>Cloud bale-purity certification and predictive maintenance.</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812800" y="1615201"/>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34D399"/>
                </a:solidFill>
                <a:latin typeface="JetBrains Mono" pitchFamily="49" charset="0"/>
                <a:ea typeface="JetBrains Mono" pitchFamily="49" charset="-122"/>
                <a:cs typeface="JetBrains Mono" pitchFamily="49" charset="-120"/>
              </a:rPr>
              <a:t>LIVE DEMO</a:t>
            </a:r>
            <a:endParaRPr lang="en-US" sz="1300" dirty="0"/>
          </a:p>
        </p:txBody>
      </p:sp>
      <p:sp>
        <p:nvSpPr>
          <p:cNvPr id="3" name="Text 1"/>
          <p:cNvSpPr>
            <a:spLocks noGrp="1"/>
          </p:cNvSpPr>
          <p:nvPr>
            <p:ph type="title"/>
          </p:nvPr>
        </p:nvSpPr>
        <p:spPr>
          <a:xfrm>
            <a:off x="812800" y="2074943"/>
            <a:ext cx="10883392" cy="1735296"/>
          </a:xfrm>
          <a:prstGeom prst="rect">
            <a:avLst/>
          </a:prstGeom>
          <a:noFill/>
          <a:ln/>
        </p:spPr>
        <p:txBody>
          <a:bodyPr wrap="square" lIns="0" tIns="0" rIns="0" bIns="0" rtlCol="0" anchor="t">
            <a:normAutofit/>
          </a:bodyPr>
          <a:lstStyle/>
          <a:p>
            <a:pPr marL="0" indent="0" algn="l">
              <a:lnSpc>
                <a:spcPts val="6732"/>
              </a:lnSpc>
              <a:buNone/>
            </a:pPr>
            <a:r>
              <a:rPr lang="en-US" sz="6600" b="1" i="0" dirty="0">
                <a:solidFill>
                  <a:srgbClr val="F8FAFC"/>
                </a:solidFill>
                <a:latin typeface="Space Grotesk" pitchFamily="34" charset="0"/>
                <a:ea typeface="Space Grotesk" pitchFamily="34" charset="-122"/>
                <a:cs typeface="Space Grotesk" pitchFamily="34" charset="-120"/>
              </a:rPr>
              <a:t>A Smarter Nervous System for Recycling</a:t>
            </a:r>
            <a:endParaRPr lang="en-US" sz="6600" dirty="0"/>
          </a:p>
        </p:txBody>
      </p:sp>
      <p:sp>
        <p:nvSpPr>
          <p:cNvPr id="4" name="Text 2"/>
          <p:cNvSpPr/>
          <p:nvPr/>
        </p:nvSpPr>
        <p:spPr>
          <a:xfrm>
            <a:off x="812800" y="4013442"/>
            <a:ext cx="10883392" cy="723900"/>
          </a:xfrm>
          <a:prstGeom prst="rect">
            <a:avLst/>
          </a:prstGeom>
          <a:noFill/>
          <a:ln/>
        </p:spPr>
        <p:txBody>
          <a:bodyPr wrap="square" lIns="0" tIns="0" rIns="0" bIns="0" rtlCol="0" anchor="t">
            <a:normAutofit/>
          </a:bodyPr>
          <a:lstStyle/>
          <a:p>
            <a:pPr marL="0" indent="0" algn="l">
              <a:lnSpc>
                <a:spcPts val="2750"/>
              </a:lnSpc>
              <a:buNone/>
            </a:pPr>
            <a:r>
              <a:rPr lang="en-US" sz="2200" dirty="0">
                <a:solidFill>
                  <a:srgbClr val="CBD5E1"/>
                </a:solidFill>
                <a:latin typeface="Space Grotesk" pitchFamily="34" charset="0"/>
                <a:ea typeface="Space Grotesk" pitchFamily="34" charset="-122"/>
                <a:cs typeface="Space Grotesk" pitchFamily="34" charset="-120"/>
              </a:rPr>
              <a:t>Turning standard conveyor belts into self-protecting, AI-orchestrated recovery lines.</a:t>
            </a:r>
            <a:endParaRPr lang="en-US" sz="2200" dirty="0"/>
          </a:p>
        </p:txBody>
      </p:sp>
      <p:sp>
        <p:nvSpPr>
          <p:cNvPr id="5" name="Text 3"/>
          <p:cNvSpPr/>
          <p:nvPr/>
        </p:nvSpPr>
        <p:spPr>
          <a:xfrm>
            <a:off x="812800" y="4940542"/>
            <a:ext cx="10883392" cy="327660"/>
          </a:xfrm>
          <a:prstGeom prst="rect">
            <a:avLst/>
          </a:prstGeom>
          <a:noFill/>
          <a:ln/>
        </p:spPr>
        <p:txBody>
          <a:bodyPr wrap="square" lIns="0" tIns="0" rIns="0" bIns="0" rtlCol="0" anchor="t">
            <a:normAutofit/>
          </a:bodyPr>
          <a:lstStyle/>
          <a:p>
            <a:pPr marL="0" indent="0" algn="l">
              <a:lnSpc>
                <a:spcPts val="2380"/>
              </a:lnSpc>
              <a:buNone/>
            </a:pPr>
            <a:r>
              <a:rPr lang="en-US" sz="1700" b="1" dirty="0">
                <a:solidFill>
                  <a:srgbClr val="34D399"/>
                </a:solidFill>
                <a:latin typeface="JetBrains Mono" pitchFamily="49" charset="0"/>
                <a:ea typeface="JetBrains Mono" pitchFamily="49" charset="-122"/>
                <a:cs typeface="JetBrains Mono" pitchFamily="49" charset="-120"/>
              </a:rPr>
              <a:t>github.com/Chirag-S-Reddy/Smart-MRF</a:t>
            </a:r>
            <a:endParaRPr lang="en-US" sz="1700" dirty="0"/>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itle 1"/>
          <p:cNvSpPr>
            <a:spLocks noGrp="1"/>
          </p:cNvSpPr>
          <p:nvPr>
            <p:ph type="title"/>
          </p:nvPr>
        </p:nvSpPr>
        <p:spPr>
          <a:xfrm>
            <a:off x="812800" y="822964"/>
            <a:ext cx="10883392" cy="444500"/>
          </a:xfrm>
        </p:spPr>
        <p:txBody>
          <a:bodyPr lIns="0" rIns="0" tIns="0" bIns="0" wrap="square" anchor="t">
            <a:noAutofit/>
          </a:bodyPr>
          <a:lstStyle/>
          <a:p>
            <a:pPr algn="l">
              <a:lnSpc>
                <a:spcPts val="3300"/>
              </a:lnSpc>
            </a:pPr>
            <a:r>
              <a:rPr sz="3000" b="1">
                <a:solidFill>
                  <a:srgbClr val="0F172A"/>
                </a:solidFill>
                <a:latin typeface="Space Grotesk"/>
              </a:rPr>
              <a:t>Initial Run: 40 Epochs, Still Improving</a:t>
            </a:r>
          </a:p>
        </p:txBody>
      </p:sp>
      <p:sp>
        <p:nvSpPr>
          <p:cNvPr id="3" name="Kicker"/>
          <p:cNvSpPr txBox="1"/>
          <p:nvPr/>
        </p:nvSpPr>
        <p:spPr>
          <a:xfrm>
            <a:off x="812800" y="609600"/>
            <a:ext cx="10883392" cy="238760"/>
          </a:xfrm>
          <a:prstGeom prst="rect">
            <a:avLst/>
          </a:prstGeom>
          <a:noFill/>
        </p:spPr>
        <p:txBody>
          <a:bodyPr wrap="square" lIns="0" rIns="0" tIns="0" bIns="0" anchor="t">
            <a:noAutofit/>
          </a:bodyPr>
          <a:lstStyle/>
          <a:p>
            <a:pPr algn="l">
              <a:lnSpc>
                <a:spcPts val="1680"/>
              </a:lnSpc>
              <a:spcAft>
                <a:spcPts val="0"/>
              </a:spcAft>
            </a:pPr>
            <a:r>
              <a:rPr sz="1200" b="1">
                <a:solidFill>
                  <a:srgbClr val="059669"/>
                </a:solidFill>
                <a:latin typeface="JetBrains Mono"/>
              </a:rPr>
              <a:t>MODEL RESULTS · TRAINING</a:t>
            </a:r>
          </a:p>
        </p:txBody>
      </p:sp>
      <p:sp>
        <p:nvSpPr>
          <p:cNvPr id="4" name="Stat card"/>
          <p:cNvSpPr/>
          <p:nvPr/>
        </p:nvSpPr>
        <p:spPr>
          <a:xfrm>
            <a:off x="812800" y="1500000"/>
            <a:ext cx="1900000" cy="1400000"/>
          </a:xfrm>
          <a:prstGeom prst="roundRect">
            <a:avLst>
              <a:gd name="adj" fmla="val 8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Stat value"/>
          <p:cNvSpPr txBox="1"/>
          <p:nvPr/>
        </p:nvSpPr>
        <p:spPr>
          <a:xfrm>
            <a:off x="962800" y="1620000"/>
            <a:ext cx="1600000" cy="700000"/>
          </a:xfrm>
          <a:prstGeom prst="rect">
            <a:avLst/>
          </a:prstGeom>
          <a:noFill/>
        </p:spPr>
        <p:txBody>
          <a:bodyPr wrap="square" lIns="0" rIns="0" tIns="0" bIns="0" anchor="ctr">
            <a:noAutofit/>
          </a:bodyPr>
          <a:lstStyle/>
          <a:p>
            <a:pPr algn="l">
              <a:spcAft>
                <a:spcPts val="0"/>
              </a:spcAft>
            </a:pPr>
            <a:r>
              <a:rPr sz="3600" b="1">
                <a:solidFill>
                  <a:srgbClr val="059669"/>
                </a:solidFill>
                <a:latin typeface="JetBrains Mono"/>
              </a:rPr>
              <a:t>0.659</a:t>
            </a:r>
          </a:p>
        </p:txBody>
      </p:sp>
      <p:sp>
        <p:nvSpPr>
          <p:cNvPr id="6" name="Stat label"/>
          <p:cNvSpPr txBox="1"/>
          <p:nvPr/>
        </p:nvSpPr>
        <p:spPr>
          <a:xfrm>
            <a:off x="962800" y="2312000"/>
            <a:ext cx="1600000" cy="476000"/>
          </a:xfrm>
          <a:prstGeom prst="rect">
            <a:avLst/>
          </a:prstGeom>
          <a:noFill/>
        </p:spPr>
        <p:txBody>
          <a:bodyPr wrap="square" lIns="0" rIns="0" tIns="0" bIns="0" anchor="t">
            <a:noAutofit/>
          </a:bodyPr>
          <a:lstStyle/>
          <a:p>
            <a:pPr algn="l">
              <a:spcAft>
                <a:spcPts val="0"/>
              </a:spcAft>
            </a:pPr>
            <a:r>
              <a:rPr sz="1200" b="0">
                <a:solidFill>
                  <a:srgbClr val="475569"/>
                </a:solidFill>
                <a:latin typeface="Space Grotesk"/>
              </a:rPr>
              <a:t>mAP50</a:t>
            </a:r>
          </a:p>
        </p:txBody>
      </p:sp>
      <p:sp>
        <p:nvSpPr>
          <p:cNvPr id="7" name="Stat card"/>
          <p:cNvSpPr/>
          <p:nvPr/>
        </p:nvSpPr>
        <p:spPr>
          <a:xfrm>
            <a:off x="2912800" y="1500000"/>
            <a:ext cx="1900000" cy="1400000"/>
          </a:xfrm>
          <a:prstGeom prst="roundRect">
            <a:avLst>
              <a:gd name="adj" fmla="val 8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tat value"/>
          <p:cNvSpPr txBox="1"/>
          <p:nvPr/>
        </p:nvSpPr>
        <p:spPr>
          <a:xfrm>
            <a:off x="3062800" y="1620000"/>
            <a:ext cx="1600000" cy="700000"/>
          </a:xfrm>
          <a:prstGeom prst="rect">
            <a:avLst/>
          </a:prstGeom>
          <a:noFill/>
        </p:spPr>
        <p:txBody>
          <a:bodyPr wrap="square" lIns="0" rIns="0" tIns="0" bIns="0" anchor="ctr">
            <a:noAutofit/>
          </a:bodyPr>
          <a:lstStyle/>
          <a:p>
            <a:pPr algn="l">
              <a:spcAft>
                <a:spcPts val="0"/>
              </a:spcAft>
            </a:pPr>
            <a:r>
              <a:rPr sz="3600" b="1">
                <a:solidFill>
                  <a:srgbClr val="059669"/>
                </a:solidFill>
                <a:latin typeface="JetBrains Mono"/>
              </a:rPr>
              <a:t>0.448</a:t>
            </a:r>
          </a:p>
        </p:txBody>
      </p:sp>
      <p:sp>
        <p:nvSpPr>
          <p:cNvPr id="9" name="Stat label"/>
          <p:cNvSpPr txBox="1"/>
          <p:nvPr/>
        </p:nvSpPr>
        <p:spPr>
          <a:xfrm>
            <a:off x="3062800" y="2312000"/>
            <a:ext cx="1600000" cy="476000"/>
          </a:xfrm>
          <a:prstGeom prst="rect">
            <a:avLst/>
          </a:prstGeom>
          <a:noFill/>
        </p:spPr>
        <p:txBody>
          <a:bodyPr wrap="square" lIns="0" rIns="0" tIns="0" bIns="0" anchor="t">
            <a:noAutofit/>
          </a:bodyPr>
          <a:lstStyle/>
          <a:p>
            <a:pPr algn="l">
              <a:spcAft>
                <a:spcPts val="0"/>
              </a:spcAft>
            </a:pPr>
            <a:r>
              <a:rPr sz="1200" b="0">
                <a:solidFill>
                  <a:srgbClr val="475569"/>
                </a:solidFill>
                <a:latin typeface="Space Grotesk"/>
              </a:rPr>
              <a:t>mAP50-95</a:t>
            </a:r>
          </a:p>
        </p:txBody>
      </p:sp>
      <p:sp>
        <p:nvSpPr>
          <p:cNvPr id="10" name="Stat card"/>
          <p:cNvSpPr/>
          <p:nvPr/>
        </p:nvSpPr>
        <p:spPr>
          <a:xfrm>
            <a:off x="812800" y="3100000"/>
            <a:ext cx="1900000" cy="1400000"/>
          </a:xfrm>
          <a:prstGeom prst="roundRect">
            <a:avLst>
              <a:gd name="adj" fmla="val 8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tat value"/>
          <p:cNvSpPr txBox="1"/>
          <p:nvPr/>
        </p:nvSpPr>
        <p:spPr>
          <a:xfrm>
            <a:off x="962800" y="3220000"/>
            <a:ext cx="1600000" cy="700000"/>
          </a:xfrm>
          <a:prstGeom prst="rect">
            <a:avLst/>
          </a:prstGeom>
          <a:noFill/>
        </p:spPr>
        <p:txBody>
          <a:bodyPr wrap="square" lIns="0" rIns="0" tIns="0" bIns="0" anchor="ctr">
            <a:noAutofit/>
          </a:bodyPr>
          <a:lstStyle/>
          <a:p>
            <a:pPr algn="l">
              <a:spcAft>
                <a:spcPts val="0"/>
              </a:spcAft>
            </a:pPr>
            <a:r>
              <a:rPr sz="3600" b="1">
                <a:solidFill>
                  <a:srgbClr val="059669"/>
                </a:solidFill>
                <a:latin typeface="JetBrains Mono"/>
              </a:rPr>
              <a:t>0.700</a:t>
            </a:r>
          </a:p>
        </p:txBody>
      </p:sp>
      <p:sp>
        <p:nvSpPr>
          <p:cNvPr id="12" name="Stat label"/>
          <p:cNvSpPr txBox="1"/>
          <p:nvPr/>
        </p:nvSpPr>
        <p:spPr>
          <a:xfrm>
            <a:off x="962800" y="3912000"/>
            <a:ext cx="1600000" cy="476000"/>
          </a:xfrm>
          <a:prstGeom prst="rect">
            <a:avLst/>
          </a:prstGeom>
          <a:noFill/>
        </p:spPr>
        <p:txBody>
          <a:bodyPr wrap="square" lIns="0" rIns="0" tIns="0" bIns="0" anchor="t">
            <a:noAutofit/>
          </a:bodyPr>
          <a:lstStyle/>
          <a:p>
            <a:pPr algn="l">
              <a:spcAft>
                <a:spcPts val="0"/>
              </a:spcAft>
            </a:pPr>
            <a:r>
              <a:rPr sz="1200" b="0">
                <a:solidFill>
                  <a:srgbClr val="475569"/>
                </a:solidFill>
                <a:latin typeface="Space Grotesk"/>
              </a:rPr>
              <a:t>Precision</a:t>
            </a:r>
          </a:p>
        </p:txBody>
      </p:sp>
      <p:sp>
        <p:nvSpPr>
          <p:cNvPr id="13" name="Stat card"/>
          <p:cNvSpPr/>
          <p:nvPr/>
        </p:nvSpPr>
        <p:spPr>
          <a:xfrm>
            <a:off x="2912800" y="3100000"/>
            <a:ext cx="1900000" cy="1400000"/>
          </a:xfrm>
          <a:prstGeom prst="roundRect">
            <a:avLst>
              <a:gd name="adj" fmla="val 8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tat value"/>
          <p:cNvSpPr txBox="1"/>
          <p:nvPr/>
        </p:nvSpPr>
        <p:spPr>
          <a:xfrm>
            <a:off x="3062800" y="3220000"/>
            <a:ext cx="1600000" cy="700000"/>
          </a:xfrm>
          <a:prstGeom prst="rect">
            <a:avLst/>
          </a:prstGeom>
          <a:noFill/>
        </p:spPr>
        <p:txBody>
          <a:bodyPr wrap="square" lIns="0" rIns="0" tIns="0" bIns="0" anchor="ctr">
            <a:noAutofit/>
          </a:bodyPr>
          <a:lstStyle/>
          <a:p>
            <a:pPr algn="l">
              <a:spcAft>
                <a:spcPts val="0"/>
              </a:spcAft>
            </a:pPr>
            <a:r>
              <a:rPr sz="3600" b="1">
                <a:solidFill>
                  <a:srgbClr val="059669"/>
                </a:solidFill>
                <a:latin typeface="JetBrains Mono"/>
              </a:rPr>
              <a:t>0.594</a:t>
            </a:r>
          </a:p>
        </p:txBody>
      </p:sp>
      <p:sp>
        <p:nvSpPr>
          <p:cNvPr id="15" name="Stat label"/>
          <p:cNvSpPr txBox="1"/>
          <p:nvPr/>
        </p:nvSpPr>
        <p:spPr>
          <a:xfrm>
            <a:off x="3062800" y="3912000"/>
            <a:ext cx="1600000" cy="476000"/>
          </a:xfrm>
          <a:prstGeom prst="rect">
            <a:avLst/>
          </a:prstGeom>
          <a:noFill/>
        </p:spPr>
        <p:txBody>
          <a:bodyPr wrap="square" lIns="0" rIns="0" tIns="0" bIns="0" anchor="t">
            <a:noAutofit/>
          </a:bodyPr>
          <a:lstStyle/>
          <a:p>
            <a:pPr algn="l">
              <a:spcAft>
                <a:spcPts val="0"/>
              </a:spcAft>
            </a:pPr>
            <a:r>
              <a:rPr sz="1200" b="0">
                <a:solidFill>
                  <a:srgbClr val="475569"/>
                </a:solidFill>
                <a:latin typeface="Space Grotesk"/>
              </a:rPr>
              <a:t>Recall</a:t>
            </a:r>
          </a:p>
        </p:txBody>
      </p:sp>
      <p:pic>
        <p:nvPicPr>
          <p:cNvPr id="16" name="Training curves" descr="results.png"/>
          <p:cNvPicPr>
            <a:picLocks noChangeAspect="1"/>
          </p:cNvPicPr>
          <p:nvPr/>
        </p:nvPicPr>
        <p:blipFill>
          <a:blip r:embed="rId2"/>
          <a:stretch>
            <a:fillRect/>
          </a:stretch>
        </p:blipFill>
        <p:spPr>
          <a:xfrm>
            <a:off x="5112800" y="1500000"/>
            <a:ext cx="6583392" cy="3291696"/>
          </a:xfrm>
          <a:prstGeom prst="rect">
            <a:avLst/>
          </a:prstGeom>
          <a:ln w="12700">
            <a:solidFill>
              <a:srgbClr val="CBD5E1"/>
            </a:solidFill>
          </a:ln>
        </p:spPr>
      </p:pic>
      <p:sp>
        <p:nvSpPr>
          <p:cNvPr id="17" name="Caption"/>
          <p:cNvSpPr txBox="1"/>
          <p:nvPr/>
        </p:nvSpPr>
        <p:spPr>
          <a:xfrm>
            <a:off x="5112800" y="4871696"/>
            <a:ext cx="6583392" cy="260000"/>
          </a:xfrm>
          <a:prstGeom prst="rect">
            <a:avLst/>
          </a:prstGeom>
          <a:noFill/>
        </p:spPr>
        <p:txBody>
          <a:bodyPr wrap="square" lIns="0" rIns="0" tIns="0" bIns="0" anchor="t">
            <a:noAutofit/>
          </a:bodyPr>
          <a:lstStyle/>
          <a:p>
            <a:pPr algn="l">
              <a:spcAft>
                <a:spcPts val="0"/>
              </a:spcAft>
            </a:pPr>
            <a:r>
              <a:rPr sz="1100" b="0">
                <a:solidFill>
                  <a:srgbClr val="475569"/>
                </a:solidFill>
                <a:latin typeface="Space Grotesk"/>
              </a:rPr>
              <a:t>YOLO11n initial run: loss and metric curves over 40 epochs</a:t>
            </a:r>
          </a:p>
        </p:txBody>
      </p:sp>
      <p:sp>
        <p:nvSpPr>
          <p:cNvPr id="18" name="Takeaway"/>
          <p:cNvSpPr/>
          <p:nvPr/>
        </p:nvSpPr>
        <p:spPr>
          <a:xfrm>
            <a:off x="812800" y="5150000"/>
            <a:ext cx="10883392" cy="820000"/>
          </a:xfrm>
          <a:prstGeom prst="roundRect">
            <a:avLst>
              <a:gd name="adj" fmla="val 8000"/>
            </a:avLst>
          </a:prstGeom>
          <a:solidFill>
            <a:srgbClr val="ECF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akeaway text"/>
          <p:cNvSpPr txBox="1"/>
          <p:nvPr/>
        </p:nvSpPr>
        <p:spPr>
          <a:xfrm>
            <a:off x="1000000" y="5150000"/>
            <a:ext cx="10500000" cy="820000"/>
          </a:xfrm>
          <a:prstGeom prst="rect">
            <a:avLst/>
          </a:prstGeom>
          <a:noFill/>
        </p:spPr>
        <p:txBody>
          <a:bodyPr wrap="square" lIns="0" rIns="0" tIns="0" bIns="0" anchor="ctr">
            <a:noAutofit/>
          </a:bodyPr>
          <a:lstStyle/>
          <a:p>
            <a:pPr algn="l">
              <a:spcAft>
                <a:spcPts val="0"/>
              </a:spcAft>
            </a:pPr>
            <a:r>
              <a:rPr sz="1600" b="1">
                <a:solidFill>
                  <a:srgbClr val="0F172A"/>
                </a:solidFill>
                <a:latin typeface="Space Grotesk"/>
              </a:rPr>
              <a:t>Smoothed mAP50 and recall were still trending up at epoch 40, and the losses were still falling. </a:t>
            </a:r>
            <a:r>
              <a:rPr sz="1600" b="0">
                <a:solidFill>
                  <a:srgbClr val="0F172A"/>
                </a:solidFill>
                <a:latin typeface="Space Grotesk"/>
              </a:rPr>
              <a:t>Final YOLO11s, 94 epochs: mAP50 0.664, mAP50-95 0.466.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itle 1"/>
          <p:cNvSpPr>
            <a:spLocks noGrp="1"/>
          </p:cNvSpPr>
          <p:nvPr>
            <p:ph type="title"/>
          </p:nvPr>
        </p:nvSpPr>
        <p:spPr>
          <a:xfrm>
            <a:off x="812800" y="822964"/>
            <a:ext cx="10883392" cy="444500"/>
          </a:xfrm>
        </p:spPr>
        <p:txBody>
          <a:bodyPr lIns="0" rIns="0" tIns="0" bIns="0" wrap="square" anchor="t">
            <a:noAutofit/>
          </a:bodyPr>
          <a:lstStyle/>
          <a:p>
            <a:pPr algn="l">
              <a:lnSpc>
                <a:spcPts val="3300"/>
              </a:lnSpc>
            </a:pPr>
            <a:r>
              <a:rPr sz="3000" b="1">
                <a:solidFill>
                  <a:srgbClr val="0F172A"/>
                </a:solidFill>
                <a:latin typeface="Space Grotesk"/>
              </a:rPr>
              <a:t>Metal and Cardboard Lead, Aerosol Lags</a:t>
            </a:r>
          </a:p>
        </p:txBody>
      </p:sp>
      <p:sp>
        <p:nvSpPr>
          <p:cNvPr id="3" name="Kicker"/>
          <p:cNvSpPr txBox="1"/>
          <p:nvPr/>
        </p:nvSpPr>
        <p:spPr>
          <a:xfrm>
            <a:off x="812800" y="609600"/>
            <a:ext cx="10883392" cy="238760"/>
          </a:xfrm>
          <a:prstGeom prst="rect">
            <a:avLst/>
          </a:prstGeom>
          <a:noFill/>
        </p:spPr>
        <p:txBody>
          <a:bodyPr wrap="square" lIns="0" rIns="0" tIns="0" bIns="0" anchor="t">
            <a:noAutofit/>
          </a:bodyPr>
          <a:lstStyle/>
          <a:p>
            <a:pPr algn="l">
              <a:lnSpc>
                <a:spcPts val="1680"/>
              </a:lnSpc>
              <a:spcAft>
                <a:spcPts val="0"/>
              </a:spcAft>
            </a:pPr>
            <a:r>
              <a:rPr sz="1200" b="1">
                <a:solidFill>
                  <a:srgbClr val="059669"/>
                </a:solidFill>
                <a:latin typeface="JetBrains Mono"/>
              </a:rPr>
              <a:t>MODEL RESULTS · PER CLASS (INITIAL RUN)</a:t>
            </a:r>
          </a:p>
        </p:txBody>
      </p:sp>
      <p:graphicFrame>
        <p:nvGraphicFramePr>
          <p:cNvPr id="4" name="AP50 per class"/>
          <p:cNvGraphicFramePr>
            <a:graphicFrameLocks noGrp="1"/>
          </p:cNvGraphicFramePr>
          <p:nvPr/>
        </p:nvGraphicFramePr>
        <p:xfrm>
          <a:off x="812800" y="1450000"/>
          <a:ext cx="6200000" cy="4650000"/>
        </p:xfrm>
        <a:graphic>
          <a:graphicData uri="http://schemas.openxmlformats.org/drawingml/2006/chart">
            <c:chart xmlns:c="http://schemas.openxmlformats.org/drawingml/2006/chart" r:id="rId2"/>
          </a:graphicData>
        </a:graphic>
      </p:graphicFrame>
      <p:sp>
        <p:nvSpPr>
          <p:cNvPr id="5" name="Takeaways"/>
          <p:cNvSpPr txBox="1"/>
          <p:nvPr/>
        </p:nvSpPr>
        <p:spPr>
          <a:xfrm>
            <a:off x="7400000" y="1500000"/>
            <a:ext cx="4296192" cy="4400000"/>
          </a:xfrm>
          <a:prstGeom prst="rect">
            <a:avLst/>
          </a:prstGeom>
          <a:noFill/>
        </p:spPr>
        <p:txBody>
          <a:bodyPr wrap="square" lIns="0" rIns="0" tIns="0" bIns="0" anchor="t">
            <a:noAutofit/>
          </a:bodyPr>
          <a:lstStyle/>
          <a:p>
            <a:pPr algn="l" marL="183642" indent="-183642">
              <a:spcAft>
                <a:spcPts val="1200"/>
              </a:spcAft>
              <a:buChar char="•"/>
            </a:pPr>
            <a:r>
              <a:rPr sz="1600" b="1">
                <a:solidFill>
                  <a:srgbClr val="0F172A"/>
                </a:solidFill>
                <a:latin typeface="Space Grotesk"/>
              </a:rPr>
              <a:t>Best:</a:t>
            </a:r>
            <a:r>
              <a:rPr sz="1600" b="0">
                <a:solidFill>
                  <a:srgbClr val="0F172A"/>
                </a:solidFill>
                <a:latin typeface="Space Grotesk"/>
              </a:rPr>
              <a:t> cardboard 0.857 and metal 0.848.</a:t>
            </a:r>
          </a:p>
          <a:p>
            <a:pPr algn="l" marL="183642" indent="-183642">
              <a:spcAft>
                <a:spcPts val="1200"/>
              </a:spcAft>
              <a:buChar char="•"/>
            </a:pPr>
            <a:r>
              <a:rPr sz="1600" b="1">
                <a:solidFill>
                  <a:srgbClr val="0F172A"/>
                </a:solidFill>
                <a:latin typeface="Space Grotesk"/>
              </a:rPr>
              <a:t>Mid-range:</a:t>
            </a:r>
            <a:r>
              <a:rPr sz="1600" b="0">
                <a:solidFill>
                  <a:srgbClr val="0F172A"/>
                </a:solidFill>
                <a:latin typeface="Space Grotesk"/>
              </a:rPr>
              <a:t> plastic 0.715, glass 0.635, plastic_bag 0.625 and paper 0.609.</a:t>
            </a:r>
          </a:p>
          <a:p>
            <a:pPr algn="l" marL="183642" indent="-183642">
              <a:spcAft>
                <a:spcPts val="1200"/>
              </a:spcAft>
              <a:buChar char="•"/>
            </a:pPr>
            <a:r>
              <a:rPr sz="1600" b="1">
                <a:solidFill>
                  <a:srgbClr val="0F172A"/>
                </a:solidFill>
                <a:latin typeface="Space Grotesk"/>
              </a:rPr>
              <a:t>Weakest:</a:t>
            </a:r>
            <a:r>
              <a:rPr sz="1600" b="0">
                <a:solidFill>
                  <a:srgbClr val="0F172A"/>
                </a:solidFill>
                <a:latin typeface="Space Grotesk"/>
              </a:rPr>
              <a:t> aerosol 0.335, a hazard class with only 13 labelled boxes.</a:t>
            </a:r>
          </a:p>
          <a:p>
            <a:pPr algn="l" marL="183642" indent="-183642">
              <a:spcAft>
                <a:spcPts val="1200"/>
              </a:spcAft>
              <a:buChar char="•"/>
            </a:pPr>
            <a:r>
              <a:rPr sz="1600" b="1">
                <a:solidFill>
                  <a:srgbClr val="0F172A"/>
                </a:solidFill>
                <a:latin typeface="Space Grotesk"/>
              </a:rPr>
              <a:t>Not scored:</a:t>
            </a:r>
            <a:r>
              <a:rPr sz="1600" b="0">
                <a:solidFill>
                  <a:srgbClr val="0F172A"/>
                </a:solidFill>
                <a:latin typeface="Space Grotesk"/>
              </a:rPr>
              <a:t> battery does not appear in the validation results.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itle 1"/>
          <p:cNvSpPr>
            <a:spLocks noGrp="1"/>
          </p:cNvSpPr>
          <p:nvPr>
            <p:ph type="title"/>
          </p:nvPr>
        </p:nvSpPr>
        <p:spPr>
          <a:xfrm>
            <a:off x="812800" y="822964"/>
            <a:ext cx="10883392" cy="444500"/>
          </a:xfrm>
        </p:spPr>
        <p:txBody>
          <a:bodyPr lIns="0" rIns="0" tIns="0" bIns="0" wrap="square" anchor="t">
            <a:noAutofit/>
          </a:bodyPr>
          <a:lstStyle/>
          <a:p>
            <a:pPr algn="l">
              <a:lnSpc>
                <a:spcPts val="3300"/>
              </a:lnSpc>
            </a:pPr>
            <a:r>
              <a:rPr sz="3000" b="1">
                <a:solidFill>
                  <a:srgbClr val="0F172A"/>
                </a:solidFill>
                <a:latin typeface="Space Grotesk"/>
              </a:rPr>
              <a:t>Hazard Classes Are Rare in the Data</a:t>
            </a:r>
          </a:p>
        </p:txBody>
      </p:sp>
      <p:sp>
        <p:nvSpPr>
          <p:cNvPr id="3" name="Kicker"/>
          <p:cNvSpPr txBox="1"/>
          <p:nvPr/>
        </p:nvSpPr>
        <p:spPr>
          <a:xfrm>
            <a:off x="812800" y="609600"/>
            <a:ext cx="10883392" cy="238760"/>
          </a:xfrm>
          <a:prstGeom prst="rect">
            <a:avLst/>
          </a:prstGeom>
          <a:noFill/>
        </p:spPr>
        <p:txBody>
          <a:bodyPr wrap="square" lIns="0" rIns="0" tIns="0" bIns="0" anchor="t">
            <a:noAutofit/>
          </a:bodyPr>
          <a:lstStyle/>
          <a:p>
            <a:pPr algn="l">
              <a:lnSpc>
                <a:spcPts val="1680"/>
              </a:lnSpc>
              <a:spcAft>
                <a:spcPts val="0"/>
              </a:spcAft>
            </a:pPr>
            <a:r>
              <a:rPr sz="1200" b="1">
                <a:solidFill>
                  <a:srgbClr val="059669"/>
                </a:solidFill>
                <a:latin typeface="JetBrains Mono"/>
              </a:rPr>
              <a:t>MODEL RESULTS · DATASET</a:t>
            </a:r>
          </a:p>
        </p:txBody>
      </p:sp>
      <p:pic>
        <p:nvPicPr>
          <p:cNvPr id="4" name="Label distribution" descr="labels.jpg"/>
          <p:cNvPicPr>
            <a:picLocks noChangeAspect="1"/>
          </p:cNvPicPr>
          <p:nvPr/>
        </p:nvPicPr>
        <p:blipFill>
          <a:blip r:embed="rId2"/>
          <a:stretch>
            <a:fillRect/>
          </a:stretch>
        </p:blipFill>
        <p:spPr>
          <a:xfrm>
            <a:off x="812800" y="1450000"/>
            <a:ext cx="4650000" cy="4650000"/>
          </a:xfrm>
          <a:prstGeom prst="rect">
            <a:avLst/>
          </a:prstGeom>
          <a:ln w="12700">
            <a:solidFill>
              <a:srgbClr val="CBD5E1"/>
            </a:solidFill>
          </a:ln>
        </p:spPr>
      </p:pic>
      <p:sp>
        <p:nvSpPr>
          <p:cNvPr id="5" name="Stat card"/>
          <p:cNvSpPr/>
          <p:nvPr/>
        </p:nvSpPr>
        <p:spPr>
          <a:xfrm>
            <a:off x="5812800" y="1500000"/>
            <a:ext cx="1841130" cy="1400000"/>
          </a:xfrm>
          <a:prstGeom prst="roundRect">
            <a:avLst>
              <a:gd name="adj" fmla="val 8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tat value"/>
          <p:cNvSpPr txBox="1"/>
          <p:nvPr/>
        </p:nvSpPr>
        <p:spPr>
          <a:xfrm>
            <a:off x="5962800" y="1620000"/>
            <a:ext cx="1541130" cy="700000"/>
          </a:xfrm>
          <a:prstGeom prst="rect">
            <a:avLst/>
          </a:prstGeom>
          <a:noFill/>
        </p:spPr>
        <p:txBody>
          <a:bodyPr wrap="square" lIns="0" rIns="0" tIns="0" bIns="0" anchor="ctr">
            <a:noAutofit/>
          </a:bodyPr>
          <a:lstStyle/>
          <a:p>
            <a:pPr algn="l">
              <a:spcAft>
                <a:spcPts val="0"/>
              </a:spcAft>
            </a:pPr>
            <a:r>
              <a:rPr sz="3600" b="1">
                <a:solidFill>
                  <a:srgbClr val="059669"/>
                </a:solidFill>
                <a:latin typeface="JetBrains Mono"/>
              </a:rPr>
              <a:t>6,162</a:t>
            </a:r>
          </a:p>
        </p:txBody>
      </p:sp>
      <p:sp>
        <p:nvSpPr>
          <p:cNvPr id="7" name="Stat label"/>
          <p:cNvSpPr txBox="1"/>
          <p:nvPr/>
        </p:nvSpPr>
        <p:spPr>
          <a:xfrm>
            <a:off x="5962800" y="2312000"/>
            <a:ext cx="1541130" cy="476000"/>
          </a:xfrm>
          <a:prstGeom prst="rect">
            <a:avLst/>
          </a:prstGeom>
          <a:noFill/>
        </p:spPr>
        <p:txBody>
          <a:bodyPr wrap="square" lIns="0" rIns="0" tIns="0" bIns="0" anchor="t">
            <a:noAutofit/>
          </a:bodyPr>
          <a:lstStyle/>
          <a:p>
            <a:pPr algn="l">
              <a:spcAft>
                <a:spcPts val="0"/>
              </a:spcAft>
            </a:pPr>
            <a:r>
              <a:rPr sz="1200" b="0">
                <a:solidFill>
                  <a:srgbClr val="475569"/>
                </a:solidFill>
                <a:latin typeface="Space Grotesk"/>
              </a:rPr>
              <a:t>labelled boxes, 8 classes</a:t>
            </a:r>
          </a:p>
        </p:txBody>
      </p:sp>
      <p:sp>
        <p:nvSpPr>
          <p:cNvPr id="8" name="Stat card"/>
          <p:cNvSpPr/>
          <p:nvPr/>
        </p:nvSpPr>
        <p:spPr>
          <a:xfrm>
            <a:off x="7833930" y="1500000"/>
            <a:ext cx="1841130" cy="1400000"/>
          </a:xfrm>
          <a:prstGeom prst="roundRect">
            <a:avLst>
              <a:gd name="adj" fmla="val 8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tat value"/>
          <p:cNvSpPr txBox="1"/>
          <p:nvPr/>
        </p:nvSpPr>
        <p:spPr>
          <a:xfrm>
            <a:off x="7983930" y="1620000"/>
            <a:ext cx="1541130" cy="700000"/>
          </a:xfrm>
          <a:prstGeom prst="rect">
            <a:avLst/>
          </a:prstGeom>
          <a:noFill/>
        </p:spPr>
        <p:txBody>
          <a:bodyPr wrap="square" lIns="0" rIns="0" tIns="0" bIns="0" anchor="ctr">
            <a:noAutofit/>
          </a:bodyPr>
          <a:lstStyle/>
          <a:p>
            <a:pPr algn="l">
              <a:spcAft>
                <a:spcPts val="0"/>
              </a:spcAft>
            </a:pPr>
            <a:r>
              <a:rPr sz="3600" b="1">
                <a:solidFill>
                  <a:srgbClr val="DC2626"/>
                </a:solidFill>
                <a:latin typeface="JetBrains Mono"/>
              </a:rPr>
              <a:t>34</a:t>
            </a:r>
          </a:p>
        </p:txBody>
      </p:sp>
      <p:sp>
        <p:nvSpPr>
          <p:cNvPr id="10" name="Stat label"/>
          <p:cNvSpPr txBox="1"/>
          <p:nvPr/>
        </p:nvSpPr>
        <p:spPr>
          <a:xfrm>
            <a:off x="7983930" y="2312000"/>
            <a:ext cx="1541130" cy="476000"/>
          </a:xfrm>
          <a:prstGeom prst="rect">
            <a:avLst/>
          </a:prstGeom>
          <a:noFill/>
        </p:spPr>
        <p:txBody>
          <a:bodyPr wrap="square" lIns="0" rIns="0" tIns="0" bIns="0" anchor="t">
            <a:noAutofit/>
          </a:bodyPr>
          <a:lstStyle/>
          <a:p>
            <a:pPr algn="l">
              <a:spcAft>
                <a:spcPts val="0"/>
              </a:spcAft>
            </a:pPr>
            <a:r>
              <a:rPr sz="1200" b="0">
                <a:solidFill>
                  <a:srgbClr val="475569"/>
                </a:solidFill>
                <a:latin typeface="Space Grotesk"/>
              </a:rPr>
              <a:t>battery boxes</a:t>
            </a:r>
          </a:p>
        </p:txBody>
      </p:sp>
      <p:sp>
        <p:nvSpPr>
          <p:cNvPr id="11" name="Stat card"/>
          <p:cNvSpPr/>
          <p:nvPr/>
        </p:nvSpPr>
        <p:spPr>
          <a:xfrm>
            <a:off x="9855060" y="1500000"/>
            <a:ext cx="1841130" cy="1400000"/>
          </a:xfrm>
          <a:prstGeom prst="roundRect">
            <a:avLst>
              <a:gd name="adj" fmla="val 8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tat value"/>
          <p:cNvSpPr txBox="1"/>
          <p:nvPr/>
        </p:nvSpPr>
        <p:spPr>
          <a:xfrm>
            <a:off x="10005060" y="1620000"/>
            <a:ext cx="1541130" cy="700000"/>
          </a:xfrm>
          <a:prstGeom prst="rect">
            <a:avLst/>
          </a:prstGeom>
          <a:noFill/>
        </p:spPr>
        <p:txBody>
          <a:bodyPr wrap="square" lIns="0" rIns="0" tIns="0" bIns="0" anchor="ctr">
            <a:noAutofit/>
          </a:bodyPr>
          <a:lstStyle/>
          <a:p>
            <a:pPr algn="l">
              <a:spcAft>
                <a:spcPts val="0"/>
              </a:spcAft>
            </a:pPr>
            <a:r>
              <a:rPr sz="3600" b="1">
                <a:solidFill>
                  <a:srgbClr val="DC2626"/>
                </a:solidFill>
                <a:latin typeface="JetBrains Mono"/>
              </a:rPr>
              <a:t>13</a:t>
            </a:r>
          </a:p>
        </p:txBody>
      </p:sp>
      <p:sp>
        <p:nvSpPr>
          <p:cNvPr id="13" name="Stat label"/>
          <p:cNvSpPr txBox="1"/>
          <p:nvPr/>
        </p:nvSpPr>
        <p:spPr>
          <a:xfrm>
            <a:off x="10005060" y="2312000"/>
            <a:ext cx="1541130" cy="476000"/>
          </a:xfrm>
          <a:prstGeom prst="rect">
            <a:avLst/>
          </a:prstGeom>
          <a:noFill/>
        </p:spPr>
        <p:txBody>
          <a:bodyPr wrap="square" lIns="0" rIns="0" tIns="0" bIns="0" anchor="t">
            <a:noAutofit/>
          </a:bodyPr>
          <a:lstStyle/>
          <a:p>
            <a:pPr algn="l">
              <a:spcAft>
                <a:spcPts val="0"/>
              </a:spcAft>
            </a:pPr>
            <a:r>
              <a:rPr sz="1200" b="0">
                <a:solidFill>
                  <a:srgbClr val="475569"/>
                </a:solidFill>
                <a:latin typeface="Space Grotesk"/>
              </a:rPr>
              <a:t>aerosol boxes</a:t>
            </a:r>
          </a:p>
        </p:txBody>
      </p:sp>
      <p:sp>
        <p:nvSpPr>
          <p:cNvPr id="14" name="Dataset notes"/>
          <p:cNvSpPr txBox="1"/>
          <p:nvPr/>
        </p:nvSpPr>
        <p:spPr>
          <a:xfrm>
            <a:off x="5812800" y="3200000"/>
            <a:ext cx="5883392" cy="2900000"/>
          </a:xfrm>
          <a:prstGeom prst="rect">
            <a:avLst/>
          </a:prstGeom>
          <a:noFill/>
        </p:spPr>
        <p:txBody>
          <a:bodyPr wrap="square" lIns="0" rIns="0" tIns="0" bIns="0" anchor="t">
            <a:noAutofit/>
          </a:bodyPr>
          <a:lstStyle/>
          <a:p>
            <a:pPr algn="l" marL="183642" indent="-183642">
              <a:spcAft>
                <a:spcPts val="1000"/>
              </a:spcAft>
              <a:buChar char="•"/>
            </a:pPr>
            <a:r>
              <a:rPr sz="1600" b="1">
                <a:solidFill>
                  <a:srgbClr val="0F172A"/>
                </a:solidFill>
                <a:latin typeface="Space Grotesk"/>
              </a:rPr>
              <a:t>Most data:</a:t>
            </a:r>
            <a:r>
              <a:rPr sz="1600" b="0">
                <a:solidFill>
                  <a:srgbClr val="0F172A"/>
                </a:solidFill>
                <a:latin typeface="Space Grotesk"/>
              </a:rPr>
              <a:t> metal 1,868 and plastic 1,667 boxes.</a:t>
            </a:r>
          </a:p>
          <a:p>
            <a:pPr algn="l" marL="183642" indent="-183642">
              <a:spcAft>
                <a:spcPts val="1000"/>
              </a:spcAft>
              <a:buChar char="•"/>
            </a:pPr>
            <a:r>
              <a:rPr sz="1600" b="1">
                <a:solidFill>
                  <a:srgbClr val="0F172A"/>
                </a:solidFill>
                <a:latin typeface="Space Grotesk"/>
              </a:rPr>
              <a:t>Least data:</a:t>
            </a:r>
            <a:r>
              <a:rPr sz="1600" b="0">
                <a:solidFill>
                  <a:srgbClr val="0F172A"/>
                </a:solidFill>
                <a:latin typeface="Space Grotesk"/>
              </a:rPr>
              <a:t> battery 34 and aerosol 13, the classes that trigger CRITICAL alerts.</a:t>
            </a:r>
          </a:p>
          <a:p>
            <a:pPr algn="l" marL="183642" indent="-183642">
              <a:spcAft>
                <a:spcPts val="1000"/>
              </a:spcAft>
              <a:buChar char="•"/>
            </a:pPr>
            <a:r>
              <a:rPr sz="1600" b="1">
                <a:solidFill>
                  <a:srgbClr val="0F172A"/>
                </a:solidFill>
                <a:latin typeface="Space Grotesk"/>
              </a:rPr>
              <a:t>Box sizes:</a:t>
            </a:r>
            <a:r>
              <a:rPr sz="1600" b="0">
                <a:solidFill>
                  <a:srgbClr val="0F172A"/>
                </a:solidFill>
                <a:latin typeface="Space Grotesk"/>
              </a:rPr>
              <a:t> mostly small to medium and centred in the frame, with some filling the whole image.</a:t>
            </a:r>
          </a:p>
          <a:p>
            <a:pPr algn="l" marL="183642" indent="-183642">
              <a:spcAft>
                <a:spcPts val="1000"/>
              </a:spcAft>
              <a:buChar char="•"/>
            </a:pPr>
            <a:r>
              <a:rPr sz="1600" b="1">
                <a:solidFill>
                  <a:srgbClr val="0F172A"/>
                </a:solidFill>
                <a:latin typeface="Space Grotesk"/>
              </a:rPr>
              <a:t>Next step:</a:t>
            </a:r>
            <a:r>
              <a:rPr sz="1600" b="0">
                <a:solidFill>
                  <a:srgbClr val="0F172A"/>
                </a:solidFill>
                <a:latin typeface="Space Grotesk"/>
              </a:rPr>
              <a:t> label more battery and aerosol images to strengthen the hazard classes.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itle 1"/>
          <p:cNvSpPr>
            <a:spLocks noGrp="1"/>
          </p:cNvSpPr>
          <p:nvPr>
            <p:ph type="title"/>
          </p:nvPr>
        </p:nvSpPr>
        <p:spPr>
          <a:xfrm>
            <a:off x="812800" y="822964"/>
            <a:ext cx="10883392" cy="444500"/>
          </a:xfrm>
        </p:spPr>
        <p:txBody>
          <a:bodyPr lIns="0" rIns="0" tIns="0" bIns="0" wrap="square" anchor="t">
            <a:noAutofit/>
          </a:bodyPr>
          <a:lstStyle/>
          <a:p>
            <a:pPr algn="l">
              <a:lnSpc>
                <a:spcPts val="3300"/>
              </a:lnSpc>
            </a:pPr>
            <a:r>
              <a:rPr sz="3000" b="1">
                <a:solidFill>
                  <a:srgbClr val="0F172A"/>
                </a:solidFill>
                <a:latin typeface="Space Grotesk"/>
              </a:rPr>
              <a:t>Where the Model Gets Confused</a:t>
            </a:r>
          </a:p>
        </p:txBody>
      </p:sp>
      <p:sp>
        <p:nvSpPr>
          <p:cNvPr id="3" name="Kicker"/>
          <p:cNvSpPr txBox="1"/>
          <p:nvPr/>
        </p:nvSpPr>
        <p:spPr>
          <a:xfrm>
            <a:off x="812800" y="609600"/>
            <a:ext cx="10883392" cy="238760"/>
          </a:xfrm>
          <a:prstGeom prst="rect">
            <a:avLst/>
          </a:prstGeom>
          <a:noFill/>
        </p:spPr>
        <p:txBody>
          <a:bodyPr wrap="square" lIns="0" rIns="0" tIns="0" bIns="0" anchor="t">
            <a:noAutofit/>
          </a:bodyPr>
          <a:lstStyle/>
          <a:p>
            <a:pPr algn="l">
              <a:lnSpc>
                <a:spcPts val="1680"/>
              </a:lnSpc>
              <a:spcAft>
                <a:spcPts val="0"/>
              </a:spcAft>
            </a:pPr>
            <a:r>
              <a:rPr sz="1200" b="1">
                <a:solidFill>
                  <a:srgbClr val="059669"/>
                </a:solidFill>
                <a:latin typeface="JetBrains Mono"/>
              </a:rPr>
              <a:t>MODEL RESULTS · CONFUSION MATRIX (INITIAL RUN)</a:t>
            </a:r>
          </a:p>
        </p:txBody>
      </p:sp>
      <p:pic>
        <p:nvPicPr>
          <p:cNvPr id="4" name="Normalized confusion matrix" descr="confusion_matrix_normalized.png"/>
          <p:cNvPicPr>
            <a:picLocks noChangeAspect="1"/>
          </p:cNvPicPr>
          <p:nvPr/>
        </p:nvPicPr>
        <p:blipFill>
          <a:blip r:embed="rId2"/>
          <a:stretch>
            <a:fillRect/>
          </a:stretch>
        </p:blipFill>
        <p:spPr>
          <a:xfrm>
            <a:off x="812800" y="1450000"/>
            <a:ext cx="6200000" cy="4650000"/>
          </a:xfrm>
          <a:prstGeom prst="rect">
            <a:avLst/>
          </a:prstGeom>
          <a:ln w="12700">
            <a:solidFill>
              <a:srgbClr val="CBD5E1"/>
            </a:solidFill>
          </a:ln>
        </p:spPr>
      </p:pic>
      <p:sp>
        <p:nvSpPr>
          <p:cNvPr id="5" name="Confusion notes"/>
          <p:cNvSpPr txBox="1"/>
          <p:nvPr/>
        </p:nvSpPr>
        <p:spPr>
          <a:xfrm>
            <a:off x="7362800" y="1500000"/>
            <a:ext cx="4333392" cy="3900000"/>
          </a:xfrm>
          <a:prstGeom prst="rect">
            <a:avLst/>
          </a:prstGeom>
          <a:noFill/>
        </p:spPr>
        <p:txBody>
          <a:bodyPr wrap="square" lIns="0" rIns="0" tIns="0" bIns="0" anchor="t">
            <a:noAutofit/>
          </a:bodyPr>
          <a:lstStyle/>
          <a:p>
            <a:pPr algn="l" marL="183642" indent="-183642">
              <a:spcAft>
                <a:spcPts val="1000"/>
              </a:spcAft>
              <a:buChar char="•"/>
            </a:pPr>
            <a:r>
              <a:rPr sz="1600" b="1">
                <a:solidFill>
                  <a:srgbClr val="0F172A"/>
                </a:solidFill>
                <a:latin typeface="Space Grotesk"/>
              </a:rPr>
              <a:t>Correct:</a:t>
            </a:r>
            <a:r>
              <a:rPr sz="1600" b="0">
                <a:solidFill>
                  <a:srgbClr val="0F172A"/>
                </a:solidFill>
                <a:latin typeface="Space Grotesk"/>
              </a:rPr>
              <a:t> metal 0.76, plastic 0.68 and cardboard 0.67 of true items.</a:t>
            </a:r>
          </a:p>
          <a:p>
            <a:pPr algn="l" marL="183642" indent="-183642">
              <a:spcAft>
                <a:spcPts val="1000"/>
              </a:spcAft>
              <a:buChar char="•"/>
            </a:pPr>
            <a:r>
              <a:rPr sz="1600" b="1">
                <a:solidFill>
                  <a:srgbClr val="0F172A"/>
                </a:solidFill>
                <a:latin typeface="Space Grotesk"/>
              </a:rPr>
              <a:t>Paper:</a:t>
            </a:r>
            <a:r>
              <a:rPr sz="1600" b="0">
                <a:solidFill>
                  <a:srgbClr val="0F172A"/>
                </a:solidFill>
                <a:latin typeface="Space Grotesk"/>
              </a:rPr>
              <a:t> only 0.50 correct, and 0.24 of paper is called cardboard.</a:t>
            </a:r>
          </a:p>
          <a:p>
            <a:pPr algn="l" marL="183642" indent="-183642">
              <a:spcAft>
                <a:spcPts val="1000"/>
              </a:spcAft>
              <a:buChar char="•"/>
            </a:pPr>
            <a:r>
              <a:rPr sz="1600" b="1">
                <a:solidFill>
                  <a:srgbClr val="0F172A"/>
                </a:solidFill>
                <a:latin typeface="Space Grotesk"/>
              </a:rPr>
              <a:t>Glass:</a:t>
            </a:r>
            <a:r>
              <a:rPr sz="1600" b="0">
                <a:solidFill>
                  <a:srgbClr val="0F172A"/>
                </a:solidFill>
                <a:latin typeface="Space Grotesk"/>
              </a:rPr>
              <a:t> 0.20 of glass is called plastic.</a:t>
            </a:r>
          </a:p>
          <a:p>
            <a:pPr algn="l" marL="183642" indent="-183642">
              <a:spcAft>
                <a:spcPts val="1000"/>
              </a:spcAft>
              <a:buChar char="•"/>
            </a:pPr>
            <a:r>
              <a:rPr sz="1600" b="1">
                <a:solidFill>
                  <a:srgbClr val="0F172A"/>
                </a:solidFill>
                <a:latin typeface="Space Grotesk"/>
              </a:rPr>
              <a:t>Aerosol:</a:t>
            </a:r>
            <a:r>
              <a:rPr sz="1600" b="0">
                <a:solidFill>
                  <a:srgbClr val="0F172A"/>
                </a:solidFill>
                <a:latin typeface="Space Grotesk"/>
              </a:rPr>
              <a:t> 0.67 of aerosol is called metal.</a:t>
            </a:r>
          </a:p>
        </p:txBody>
      </p:sp>
      <p:sp>
        <p:nvSpPr>
          <p:cNvPr id="6" name="Caption"/>
          <p:cNvSpPr txBox="1"/>
          <p:nvPr/>
        </p:nvSpPr>
        <p:spPr>
          <a:xfrm>
            <a:off x="7362800" y="5350000"/>
            <a:ext cx="4333392" cy="700000"/>
          </a:xfrm>
          <a:prstGeom prst="rect">
            <a:avLst/>
          </a:prstGeom>
          <a:noFill/>
        </p:spPr>
        <p:txBody>
          <a:bodyPr wrap="square" lIns="0" rIns="0" tIns="0" bIns="0" anchor="t">
            <a:noAutofit/>
          </a:bodyPr>
          <a:lstStyle/>
          <a:p>
            <a:pPr algn="l">
              <a:spcAft>
                <a:spcPts val="0"/>
              </a:spcAft>
            </a:pPr>
            <a:r>
              <a:rPr sz="1100" b="0">
                <a:solidFill>
                  <a:srgbClr val="475569"/>
                </a:solidFill>
                <a:latin typeface="Space Grotesk"/>
              </a:rPr>
              <a:t>Columns are the true class, rows are the prediction.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itle 1"/>
          <p:cNvSpPr>
            <a:spLocks noGrp="1"/>
          </p:cNvSpPr>
          <p:nvPr>
            <p:ph type="title"/>
          </p:nvPr>
        </p:nvSpPr>
        <p:spPr>
          <a:xfrm>
            <a:off x="812800" y="822964"/>
            <a:ext cx="10883392" cy="444500"/>
          </a:xfrm>
        </p:spPr>
        <p:txBody>
          <a:bodyPr lIns="0" rIns="0" tIns="0" bIns="0" wrap="square" anchor="t">
            <a:noAutofit/>
          </a:bodyPr>
          <a:lstStyle/>
          <a:p>
            <a:pPr algn="l">
              <a:lnSpc>
                <a:spcPts val="3300"/>
              </a:lnSpc>
            </a:pPr>
            <a:r>
              <a:rPr sz="3000" b="1">
                <a:solidFill>
                  <a:srgbClr val="0F172A"/>
                </a:solidFill>
                <a:latin typeface="Space Grotesk"/>
              </a:rPr>
              <a:t>Choosing the Confidence Threshold</a:t>
            </a:r>
          </a:p>
        </p:txBody>
      </p:sp>
      <p:sp>
        <p:nvSpPr>
          <p:cNvPr id="3" name="Kicker"/>
          <p:cNvSpPr txBox="1"/>
          <p:nvPr/>
        </p:nvSpPr>
        <p:spPr>
          <a:xfrm>
            <a:off x="812800" y="609600"/>
            <a:ext cx="10883392" cy="238760"/>
          </a:xfrm>
          <a:prstGeom prst="rect">
            <a:avLst/>
          </a:prstGeom>
          <a:noFill/>
        </p:spPr>
        <p:txBody>
          <a:bodyPr wrap="square" lIns="0" rIns="0" tIns="0" bIns="0" anchor="t">
            <a:noAutofit/>
          </a:bodyPr>
          <a:lstStyle/>
          <a:p>
            <a:pPr algn="l">
              <a:lnSpc>
                <a:spcPts val="1680"/>
              </a:lnSpc>
              <a:spcAft>
                <a:spcPts val="0"/>
              </a:spcAft>
            </a:pPr>
            <a:r>
              <a:rPr sz="1200" b="1">
                <a:solidFill>
                  <a:srgbClr val="059669"/>
                </a:solidFill>
                <a:latin typeface="JetBrains Mono"/>
              </a:rPr>
              <a:t>MODEL RESULTS · THRESHOLD (INITIAL RUN)</a:t>
            </a:r>
          </a:p>
        </p:txBody>
      </p:sp>
      <p:pic>
        <p:nvPicPr>
          <p:cNvPr id="4" name="F1 confidence curve" descr="BoxF1_curve.png"/>
          <p:cNvPicPr>
            <a:picLocks noChangeAspect="1"/>
          </p:cNvPicPr>
          <p:nvPr/>
        </p:nvPicPr>
        <p:blipFill>
          <a:blip r:embed="rId2"/>
          <a:stretch>
            <a:fillRect/>
          </a:stretch>
        </p:blipFill>
        <p:spPr>
          <a:xfrm>
            <a:off x="812800" y="1450000"/>
            <a:ext cx="6000000" cy="4000000"/>
          </a:xfrm>
          <a:prstGeom prst="rect">
            <a:avLst/>
          </a:prstGeom>
          <a:ln w="12700">
            <a:solidFill>
              <a:srgbClr val="CBD5E1"/>
            </a:solidFill>
          </a:ln>
        </p:spPr>
      </p:pic>
      <p:sp>
        <p:nvSpPr>
          <p:cNvPr id="5" name="Stat card"/>
          <p:cNvSpPr/>
          <p:nvPr/>
        </p:nvSpPr>
        <p:spPr>
          <a:xfrm>
            <a:off x="7162800" y="1500000"/>
            <a:ext cx="2176696" cy="1400000"/>
          </a:xfrm>
          <a:prstGeom prst="roundRect">
            <a:avLst>
              <a:gd name="adj" fmla="val 8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tat value"/>
          <p:cNvSpPr txBox="1"/>
          <p:nvPr/>
        </p:nvSpPr>
        <p:spPr>
          <a:xfrm>
            <a:off x="7312800" y="1620000"/>
            <a:ext cx="1876696" cy="700000"/>
          </a:xfrm>
          <a:prstGeom prst="rect">
            <a:avLst/>
          </a:prstGeom>
          <a:noFill/>
        </p:spPr>
        <p:txBody>
          <a:bodyPr wrap="square" lIns="0" rIns="0" tIns="0" bIns="0" anchor="ctr">
            <a:noAutofit/>
          </a:bodyPr>
          <a:lstStyle/>
          <a:p>
            <a:pPr algn="l">
              <a:spcAft>
                <a:spcPts val="0"/>
              </a:spcAft>
            </a:pPr>
            <a:r>
              <a:rPr sz="3600" b="1">
                <a:solidFill>
                  <a:srgbClr val="059669"/>
                </a:solidFill>
                <a:latin typeface="JetBrains Mono"/>
              </a:rPr>
              <a:t>0.64</a:t>
            </a:r>
          </a:p>
        </p:txBody>
      </p:sp>
      <p:sp>
        <p:nvSpPr>
          <p:cNvPr id="7" name="Stat label"/>
          <p:cNvSpPr txBox="1"/>
          <p:nvPr/>
        </p:nvSpPr>
        <p:spPr>
          <a:xfrm>
            <a:off x="7312800" y="2312000"/>
            <a:ext cx="1876696" cy="476000"/>
          </a:xfrm>
          <a:prstGeom prst="rect">
            <a:avLst/>
          </a:prstGeom>
          <a:noFill/>
        </p:spPr>
        <p:txBody>
          <a:bodyPr wrap="square" lIns="0" rIns="0" tIns="0" bIns="0" anchor="t">
            <a:noAutofit/>
          </a:bodyPr>
          <a:lstStyle/>
          <a:p>
            <a:pPr algn="l">
              <a:spcAft>
                <a:spcPts val="0"/>
              </a:spcAft>
            </a:pPr>
            <a:r>
              <a:rPr sz="1200" b="0">
                <a:solidFill>
                  <a:srgbClr val="475569"/>
                </a:solidFill>
                <a:latin typeface="Space Grotesk"/>
              </a:rPr>
              <a:t>best F1, all classes, at 0.29 confidence</a:t>
            </a:r>
          </a:p>
        </p:txBody>
      </p:sp>
      <p:sp>
        <p:nvSpPr>
          <p:cNvPr id="8" name="Stat card"/>
          <p:cNvSpPr/>
          <p:nvPr/>
        </p:nvSpPr>
        <p:spPr>
          <a:xfrm>
            <a:off x="9519496" y="1500000"/>
            <a:ext cx="2176696" cy="1400000"/>
          </a:xfrm>
          <a:prstGeom prst="roundRect">
            <a:avLst>
              <a:gd name="adj" fmla="val 8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tat value"/>
          <p:cNvSpPr txBox="1"/>
          <p:nvPr/>
        </p:nvSpPr>
        <p:spPr>
          <a:xfrm>
            <a:off x="9669496" y="1620000"/>
            <a:ext cx="1876696" cy="700000"/>
          </a:xfrm>
          <a:prstGeom prst="rect">
            <a:avLst/>
          </a:prstGeom>
          <a:noFill/>
        </p:spPr>
        <p:txBody>
          <a:bodyPr wrap="square" lIns="0" rIns="0" tIns="0" bIns="0" anchor="ctr">
            <a:noAutofit/>
          </a:bodyPr>
          <a:lstStyle/>
          <a:p>
            <a:pPr algn="l">
              <a:spcAft>
                <a:spcPts val="0"/>
              </a:spcAft>
            </a:pPr>
            <a:r>
              <a:rPr sz="3600" b="1">
                <a:solidFill>
                  <a:srgbClr val="0F172A"/>
                </a:solidFill>
                <a:latin typeface="JetBrains Mono"/>
              </a:rPr>
              <a:t>40%</a:t>
            </a:r>
          </a:p>
        </p:txBody>
      </p:sp>
      <p:sp>
        <p:nvSpPr>
          <p:cNvPr id="10" name="Stat label"/>
          <p:cNvSpPr txBox="1"/>
          <p:nvPr/>
        </p:nvSpPr>
        <p:spPr>
          <a:xfrm>
            <a:off x="9669496" y="2312000"/>
            <a:ext cx="1876696" cy="476000"/>
          </a:xfrm>
          <a:prstGeom prst="rect">
            <a:avLst/>
          </a:prstGeom>
          <a:noFill/>
        </p:spPr>
        <p:txBody>
          <a:bodyPr wrap="square" lIns="0" rIns="0" tIns="0" bIns="0" anchor="t">
            <a:noAutofit/>
          </a:bodyPr>
          <a:lstStyle/>
          <a:p>
            <a:pPr algn="l">
              <a:spcAft>
                <a:spcPts val="0"/>
              </a:spcAft>
            </a:pPr>
            <a:r>
              <a:rPr sz="1200" b="0">
                <a:solidFill>
                  <a:srgbClr val="475569"/>
                </a:solidFill>
                <a:latin typeface="Space Grotesk"/>
              </a:rPr>
              <a:t>dashboard default today</a:t>
            </a:r>
          </a:p>
        </p:txBody>
      </p:sp>
      <p:sp>
        <p:nvSpPr>
          <p:cNvPr id="11" name="Threshold notes"/>
          <p:cNvSpPr txBox="1"/>
          <p:nvPr/>
        </p:nvSpPr>
        <p:spPr>
          <a:xfrm>
            <a:off x="7162800" y="3200000"/>
            <a:ext cx="4533392" cy="2900000"/>
          </a:xfrm>
          <a:prstGeom prst="rect">
            <a:avLst/>
          </a:prstGeom>
          <a:noFill/>
        </p:spPr>
        <p:txBody>
          <a:bodyPr wrap="square" lIns="0" rIns="0" tIns="0" bIns="0" anchor="t">
            <a:noAutofit/>
          </a:bodyPr>
          <a:lstStyle/>
          <a:p>
            <a:pPr algn="l" marL="183642" indent="-183642">
              <a:spcAft>
                <a:spcPts val="1000"/>
              </a:spcAft>
              <a:buChar char="•"/>
            </a:pPr>
            <a:r>
              <a:rPr sz="1600" b="1">
                <a:solidFill>
                  <a:srgbClr val="0F172A"/>
                </a:solidFill>
                <a:latin typeface="Space Grotesk"/>
              </a:rPr>
              <a:t>F1 peaks near 0.29.</a:t>
            </a:r>
            <a:r>
              <a:rPr sz="1600" b="0">
                <a:solidFill>
                  <a:srgbClr val="0F172A"/>
                </a:solidFill>
                <a:latin typeface="Space Grotesk"/>
              </a:rPr>
              <a:t> The 40% default (adjustable) sits above it, which favours fewer false alarms over catching every item.</a:t>
            </a:r>
          </a:p>
          <a:p>
            <a:pPr algn="l" marL="183642" indent="-183642">
              <a:spcAft>
                <a:spcPts val="1000"/>
              </a:spcAft>
              <a:buChar char="•"/>
            </a:pPr>
            <a:r>
              <a:rPr sz="1600" b="1">
                <a:solidFill>
                  <a:srgbClr val="0F172A"/>
                </a:solidFill>
                <a:latin typeface="Space Grotesk"/>
              </a:rPr>
              <a:t>Precision reaches 1.00</a:t>
            </a:r>
            <a:r>
              <a:rPr sz="1600" b="0">
                <a:solidFill>
                  <a:srgbClr val="0F172A"/>
                </a:solidFill>
                <a:latin typeface="Space Grotesk"/>
              </a:rPr>
              <a:t> only at 0.963 confidence.</a:t>
            </a:r>
          </a:p>
          <a:p>
            <a:pPr algn="l" marL="183642" indent="-183642">
              <a:spcAft>
                <a:spcPts val="1000"/>
              </a:spcAft>
              <a:buChar char="•"/>
            </a:pPr>
            <a:r>
              <a:rPr sz="1600" b="1">
                <a:solidFill>
                  <a:srgbClr val="0F172A"/>
                </a:solidFill>
                <a:latin typeface="Space Grotesk"/>
              </a:rPr>
              <a:t>Hazard classes</a:t>
            </a:r>
            <a:r>
              <a:rPr sz="1600" b="0">
                <a:solidFill>
                  <a:srgbClr val="0F172A"/>
                </a:solidFill>
                <a:latin typeface="Space Grotesk"/>
              </a:rPr>
              <a:t> can run a lower threshold than the rest, so a battery is not missed.</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4">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812800" y="1615201"/>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34D399"/>
                </a:solidFill>
                <a:latin typeface="JetBrains Mono" pitchFamily="49" charset="0"/>
                <a:ea typeface="JetBrains Mono" pitchFamily="49" charset="-122"/>
                <a:cs typeface="JetBrains Mono" pitchFamily="49" charset="-120"/>
              </a:rPr>
              <a:t>MORE DETAIL</a:t>
            </a:r>
            <a:endParaRPr lang="en-US" sz="1300" dirty="0"/>
          </a:p>
        </p:txBody>
      </p:sp>
      <p:sp>
        <p:nvSpPr>
          <p:cNvPr id="3" name="Text 1"/>
          <p:cNvSpPr>
            <a:spLocks noGrp="1"/>
          </p:cNvSpPr>
          <p:nvPr>
            <p:ph type="title"/>
          </p:nvPr>
        </p:nvSpPr>
        <p:spPr>
          <a:xfrm>
            <a:off x="812800" y="2074943"/>
            <a:ext cx="10883392" cy="1735296"/>
          </a:xfrm>
          <a:prstGeom prst="rect">
            <a:avLst/>
          </a:prstGeom>
          <a:noFill/>
          <a:ln/>
        </p:spPr>
        <p:txBody>
          <a:bodyPr wrap="square" lIns="0" tIns="0" rIns="0" bIns="0" rtlCol="0" anchor="t">
            <a:normAutofit/>
          </a:bodyPr>
          <a:lstStyle/>
          <a:p>
            <a:pPr marL="0" indent="0" algn="l">
              <a:lnSpc>
                <a:spcPts val="5600"/>
              </a:lnSpc>
              <a:buNone/>
            </a:pPr>
            <a:r>
              <a:rPr lang="en-US" sz="5400" b="1" i="0" dirty="0">
                <a:solidFill>
                  <a:srgbClr val="F8FAFC"/>
                </a:solidFill>
                <a:latin typeface="Space Grotesk" pitchFamily="34" charset="0"/>
                <a:ea typeface="Space Grotesk" pitchFamily="34" charset="-122"/>
                <a:cs typeface="Space Grotesk" pitchFamily="34" charset="-120"/>
              </a:rPr>
              <a:t>See the GitHub Repo for the Full Explanation</a:t>
            </a:r>
            <a:endParaRPr lang="en-US" sz="5400" dirty="0"/>
          </a:p>
        </p:txBody>
      </p:sp>
      <p:sp>
        <p:nvSpPr>
          <p:cNvPr id="4" name="Text 2"/>
          <p:cNvSpPr/>
          <p:nvPr/>
        </p:nvSpPr>
        <p:spPr>
          <a:xfrm>
            <a:off x="812800" y="4013442"/>
            <a:ext cx="10883392" cy="723900"/>
          </a:xfrm>
          <a:prstGeom prst="rect">
            <a:avLst/>
          </a:prstGeom>
          <a:noFill/>
          <a:ln/>
        </p:spPr>
        <p:txBody>
          <a:bodyPr wrap="square" lIns="0" tIns="0" rIns="0" bIns="0" rtlCol="0" anchor="t">
            <a:normAutofit/>
          </a:bodyPr>
          <a:lstStyle/>
          <a:p>
            <a:pPr marL="0" indent="0" algn="l">
              <a:lnSpc>
                <a:spcPts val="2750"/>
              </a:lnSpc>
              <a:buNone/>
            </a:pPr>
            <a:r>
              <a:rPr lang="en-US" sz="2200" dirty="0">
                <a:solidFill>
                  <a:srgbClr val="CBD5E1"/>
                </a:solidFill>
                <a:latin typeface="Space Grotesk" pitchFamily="34" charset="0"/>
                <a:ea typeface="Space Grotesk" pitchFamily="34" charset="-122"/>
                <a:cs typeface="Space Grotesk" pitchFamily="34" charset="-120"/>
              </a:rPr>
              <a:t>The README covers setup, the API, training, results, and the demo screenshots and videos.</a:t>
            </a:r>
            <a:endParaRPr lang="en-US" sz="2200" dirty="0"/>
          </a:p>
        </p:txBody>
      </p:sp>
      <p:sp>
        <p:nvSpPr>
          <p:cNvPr id="5" name="Text 3"/>
          <p:cNvSpPr/>
          <p:nvPr/>
        </p:nvSpPr>
        <p:spPr>
          <a:xfrm>
            <a:off x="812800" y="4940542"/>
            <a:ext cx="10883392" cy="327660"/>
          </a:xfrm>
          <a:prstGeom prst="rect">
            <a:avLst/>
          </a:prstGeom>
          <a:noFill/>
          <a:ln/>
        </p:spPr>
        <p:txBody>
          <a:bodyPr wrap="square" lIns="0" tIns="0" rIns="0" bIns="0" rtlCol="0" anchor="t">
            <a:normAutofit/>
          </a:bodyPr>
          <a:lstStyle/>
          <a:p>
            <a:pPr marL="0" indent="0" algn="l">
              <a:lnSpc>
                <a:spcPts val="2380"/>
              </a:lnSpc>
              <a:buNone/>
            </a:pPr>
            <a:r>
              <a:rPr lang="en-US" sz="1700" b="1" dirty="0">
                <a:solidFill>
                  <a:srgbClr val="34D399"/>
                </a:solidFill>
                <a:latin typeface="JetBrains Mono" pitchFamily="49" charset="0"/>
                <a:ea typeface="JetBrains Mono" pitchFamily="49" charset="-122"/>
                <a:cs typeface="JetBrains Mono" pitchFamily="49" charset="-120"/>
              </a:rPr>
              <a:t>github.com/Chirag-S-Reddy/Smart-MRF</a:t>
            </a:r>
            <a:endParaRPr lang="en-US" sz="1700" dirty="0"/>
          </a:p>
        </p:txBody>
      </p:sp>
    </p:spTree>
  </p:cSld>
  <p:clrMapOvr>
    <a:masterClrMapping/>
  </p:clrMapOvr>
</p:sld>
</file>

<file path=ppt/theme/theme1.xml><?xml version="1.0" encoding="utf-8"?>
<a:theme xmlns:a="http://schemas.openxmlformats.org/drawingml/2006/main" name="Smart MRF — Pitch Deck">
  <a:themeElements>
    <a:clrScheme name="Smart MRF — Pitch Deck">
      <a:dk1>
        <a:srgbClr val="0F172A"/>
      </a:dk1>
      <a:lt1>
        <a:srgbClr val="F8FAFC"/>
      </a:lt1>
      <a:dk2>
        <a:srgbClr val="49505F"/>
      </a:dk2>
      <a:lt2>
        <a:srgbClr val="E1E3E7"/>
      </a:lt2>
      <a:accent1>
        <a:srgbClr val="059669"/>
      </a:accent1>
      <a:accent2>
        <a:srgbClr val="34D399"/>
      </a:accent2>
      <a:accent3>
        <a:srgbClr val="DC2626"/>
      </a:accent3>
      <a:accent4>
        <a:srgbClr val="EA580C"/>
      </a:accent4>
      <a:accent5>
        <a:srgbClr val="C2410C"/>
      </a:accent5>
      <a:accent6>
        <a:srgbClr val="FDBA74"/>
      </a:accent6>
      <a:hlink>
        <a:srgbClr val="0563C1"/>
      </a:hlink>
      <a:folHlink>
        <a:srgbClr val="954F72"/>
      </a:folHlink>
    </a:clrScheme>
    <a:fontScheme name="Smart MRF — Pitch Deck">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JetBrains Mon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TotalTime>
  <Words>1541</Words>
  <Application>Microsoft Office PowerPoint</Application>
  <PresentationFormat>Widescreen</PresentationFormat>
  <Paragraphs>213</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JetBrains Mono</vt:lpstr>
      <vt:lpstr>Space Grotesk</vt:lpstr>
      <vt:lpstr>Smart MRF — Pitch Deck</vt:lpstr>
      <vt:lpstr>Smart MRF</vt:lpstr>
      <vt:lpstr>Inefficient manual sorting and a lack of actionable disposal guidance hinder effective waste management and circular economy adoption. This project develops an integrated system combining Computer Vision for automated material classification, a Digital Twin for real-time lifecycle tracking, and Generative AI for personalized recycling recommendations.</vt:lpstr>
      <vt:lpstr>Hidden Battery &amp; Aerosol Fires</vt:lpstr>
      <vt:lpstr>Plastic Film Wraps the Machinery</vt:lpstr>
      <vt:lpstr>Purity Is Measured Too Late</vt:lpstr>
      <vt:lpstr>Augmenting Facilities, Not Replacing Workers</vt:lpstr>
      <vt:lpstr>From Belt Video to Operator Advice</vt:lpstr>
      <vt:lpstr>9-Class Computer Vision on the Belt</vt:lpstr>
      <vt:lpstr>A Gemini Report After Every Session</vt:lpstr>
      <vt:lpstr>Real-Time Digital Twin Dashboard</vt:lpstr>
      <vt:lpstr>Hazard Isolation Before the Crusher</vt:lpstr>
      <vt:lpstr>Why Our Model Fits This Use Case</vt:lpstr>
      <vt:lpstr>Scaling the Smart MRF Ecosystem</vt:lpstr>
      <vt:lpstr>A Smarter Nervous System for Recycling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MRF — Pitch Deck</dc:title>
  <dc:subject/>
  <dc:creator/>
  <cp:lastModifiedBy>gurusmaran.r@outlook.com</cp:lastModifiedBy>
  <cp:revision>1</cp:revision>
  <dcterms:created xsi:type="dcterms:W3CDTF">2026-10-15T10:50:38Z</dcterms:created>
  <dcterms:modified xsi:type="dcterms:W3CDTF">2026-10-16T08:07:24Z</dcterms:modified>
</cp:coreProperties>
</file>