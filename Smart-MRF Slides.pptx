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8" r:id="rId3"/>
    <p:sldId id="279" r:id="rId4"/>
    <p:sldId id="257" r:id="rId5"/>
    <p:sldId id="258" r:id="rId6"/>
    <p:sldId id="260" r:id="rId7"/>
    <p:sldId id="262" r:id="rId8"/>
    <p:sldId id="263" r:id="rId9"/>
    <p:sldId id="264" r:id="rId10"/>
    <p:sldId id="265" r:id="rId11"/>
    <p:sldId id="271" r:id="rId12"/>
    <p:sldId id="270" r:id="rId13"/>
    <p:sldId id="277" r:id="rId14"/>
    <p:sldId id="266" r:id="rId15"/>
    <p:sldId id="267" r:id="rId16"/>
    <p:sldId id="272" r:id="rId17"/>
    <p:sldId id="273" r:id="rId18"/>
    <p:sldId id="274" r:id="rId19"/>
    <p:sldId id="275" r:id="rId20"/>
    <p:sldId id="276" r:id="rId21"/>
    <p:sldId id="268" r:id="rId22"/>
    <p:sldId id="269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00B11-DD1C-41E5-A47F-450919AB86ED}" v="7" dt="2026-10-16T08:03:49.013"/>
    <p1510:client id="{9B4EBD34-1203-4952-8BB1-54F290A7293E}" v="22" dt="2026-10-16T09:28:00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0F172A"/>
                </a:solidFill>
                <a:latin typeface="Space Grotesk"/>
              </a:rPr>
              <a:t>AP50 per class (all classes: 0.661 mAP50)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AP50</c:v>
                </c:pt>
              </c:strCache>
            </c:strRef>
          </c:tx>
          <c:spPr>
            <a:solidFill>
              <a:srgbClr val="059669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DC2626"/>
              </a:solidFill>
            </c:spPr>
            <c:extLst>
              <c:ext xmlns:c16="http://schemas.microsoft.com/office/drawing/2014/chart" uri="{C3380CC4-5D6E-409C-BE32-E72D297353CC}">
                <c16:uniqueId val="{00000001-9657-4AA6-8AA3-0A0D7D911A52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0F172A"/>
                    </a:solidFill>
                    <a:latin typeface="Space Grotesk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aerosol</c:v>
                </c:pt>
                <c:pt idx="1">
                  <c:v>paper</c:v>
                </c:pt>
                <c:pt idx="2">
                  <c:v>plastic_bag</c:v>
                </c:pt>
                <c:pt idx="3">
                  <c:v>glass</c:v>
                </c:pt>
                <c:pt idx="4">
                  <c:v>plastic</c:v>
                </c:pt>
                <c:pt idx="5">
                  <c:v>metal</c:v>
                </c:pt>
                <c:pt idx="6">
                  <c:v>cardboard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0.33500000000000002</c:v>
                </c:pt>
                <c:pt idx="1">
                  <c:v>0.60899999999999999</c:v>
                </c:pt>
                <c:pt idx="2">
                  <c:v>0.625</c:v>
                </c:pt>
                <c:pt idx="3">
                  <c:v>0.63500000000000001</c:v>
                </c:pt>
                <c:pt idx="4">
                  <c:v>0.71499999999999997</c:v>
                </c:pt>
                <c:pt idx="5">
                  <c:v>0.84799999999999998</c:v>
                </c:pt>
                <c:pt idx="6">
                  <c:v>0.85699999999999998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657-4AA6-8AA3-0A0D7D911A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200">
                <a:solidFill>
                  <a:srgbClr val="0F172A"/>
                </a:solidFill>
                <a:latin typeface="Space Grotesk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75569"/>
                </a:solidFill>
                <a:latin typeface="Space Grotesk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000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Deccan Herald/PTI on Delhi landfill fires (37 incidents in 2019); Outlook India on Ghazipur 2022; Outlook Business (95% battery estimate, no official figures); DT Next (Chennai); WRWA (London); Fogelman 9th Annual Waste and Recycling Facility Fires Report (US/Canada 2025). Delhi landfill fires are landfill fires, not MRF baler fires. Illustrations are not photos of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CPCB via Impri India (30-35%); Delhi DPCC SWMC minutes (57% MCD average, 2023); IIT BHU thesis citing CPCB 2022; Outlook Business; Houston city presentation (May 2026); Lets Recycle on Wigan (2015). Low segregation is context for contamination, not a measured MRF purity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 shown are illustrations of the 8 classes in the repo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Wireframe with placeholder values. The repo dashboard is a Flask backend with a three.js 3D twin (templates/index.html).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Trained on three merged Roboflow Universe datasets (CC BY 4.0), box annotations only, Colab T4. Final model YOLO11s (94 epochs); the results slides show the initial YOLO11n run (40 epochs).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22961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46861"/>
            <a:ext cx="10566400" cy="44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22961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46861"/>
            <a:ext cx="10566400" cy="44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rwa.gov.uk/wp-content/uploads/2019/01/WRWA-856-General-Managers-Final.pdf" TargetMode="External"/><Relationship Id="rId3" Type="http://schemas.openxmlformats.org/officeDocument/2006/relationships/hyperlink" Target="https://www.deccanherald.com/amp/story/india%2Fblaze-at-delhis-ghazipur-dumping-yard-rages-2-fire-tenders-involved-in-dousing-flames-1095999.html" TargetMode="External"/><Relationship Id="rId7" Type="http://schemas.openxmlformats.org/officeDocument/2006/relationships/hyperlink" Target="https://www.dtnext.in/amp/story/news/chennai/plastic-baling-centre-at-pallikaranai-dump-yard-catches-fir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www.outlookbusiness.com/magazine/indias-self-reliance-in-battery-manufacturing-needs-a-lithium-recycling-strategy" TargetMode="External"/><Relationship Id="rId4" Type="http://schemas.openxmlformats.org/officeDocument/2006/relationships/hyperlink" Target="https://outlookindia.com/national/fire-erupts-in-north-delhi-s-bhalswa-landfill-site-brought-under-control-news-200199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reflight.houstontx.gov/council/committees/resilience/20260507/Contamination-In-Recycling-Stream.pdf" TargetMode="External"/><Relationship Id="rId3" Type="http://schemas.openxmlformats.org/officeDocument/2006/relationships/hyperlink" Target="https://www.impriindia.com/insights/policy-update/solid-waste-management-rules-2026-examining-indias-implementation-readiness/" TargetMode="External"/><Relationship Id="rId7" Type="http://schemas.openxmlformats.org/officeDocument/2006/relationships/hyperlink" Target="https://www.outlookbusiness.com/circularity/plastic-waste-india-material-recovery-faciliti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idr-sdlib.iitbhu.ac.in/bitstreams/d4957ff4-68d0-4d15-a91f-4ff64918f0cb/download" TargetMode="External"/><Relationship Id="rId4" Type="http://schemas.openxmlformats.org/officeDocument/2006/relationships/hyperlink" Target="https://dpcc.delhi.gov.in/sites/default/files/DPCC/universal/mom-3rd-swmc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ng 1"/>
          <p:cNvSpPr/>
          <p:nvPr/>
        </p:nvSpPr>
        <p:spPr>
          <a:xfrm>
            <a:off x="7900000" y="-1500000"/>
            <a:ext cx="5200000" cy="5200000"/>
          </a:xfrm>
          <a:prstGeom prst="ellipse">
            <a:avLst/>
          </a:prstGeom>
          <a:noFill/>
          <a:ln w="12700">
            <a:solidFill>
              <a:srgbClr val="34D399">
                <a:alpha val="1800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12" name="Ring 2"/>
          <p:cNvSpPr/>
          <p:nvPr/>
        </p:nvSpPr>
        <p:spPr>
          <a:xfrm>
            <a:off x="8900000" y="-500000"/>
            <a:ext cx="3200000" cy="3200000"/>
          </a:xfrm>
          <a:prstGeom prst="ellipse">
            <a:avLst/>
          </a:prstGeom>
          <a:noFill/>
          <a:ln w="12700">
            <a:solidFill>
              <a:srgbClr val="34D399">
                <a:alpha val="30000"/>
              </a:srgbClr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13" name="Tag"/>
          <p:cNvSpPr/>
          <p:nvPr/>
        </p:nvSpPr>
        <p:spPr>
          <a:xfrm>
            <a:off x="812800" y="480000"/>
            <a:ext cx="10883392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INDUSTRIAL AI &amp; DIGITAL TWIN  ·  PROBLEM STATEMENT 06  ·  SMART RECYCLING ASSISTANT</a:t>
            </a:r>
            <a:endParaRPr lang="en-US" sz="1200" dirty="0"/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12800" y="830000"/>
            <a:ext cx="10883392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9200"/>
              </a:lnSpc>
              <a:buNone/>
            </a:pPr>
            <a:r>
              <a:rPr lang="en-US" sz="8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MRF</a:t>
            </a:r>
            <a:endParaRPr lang="en-US" sz="1200" dirty="0"/>
          </a:p>
        </p:txBody>
      </p:sp>
      <p:sp>
        <p:nvSpPr>
          <p:cNvPr id="15" name="Subtitle"/>
          <p:cNvSpPr/>
          <p:nvPr/>
        </p:nvSpPr>
        <p:spPr>
          <a:xfrm>
            <a:off x="812800" y="2020000"/>
            <a:ext cx="8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affordable intelligence layer for modern Material Recovery Facilities.</a:t>
            </a:r>
            <a:endParaRPr lang="en-US" sz="1200" dirty="0"/>
          </a:p>
        </p:txBody>
      </p:sp>
      <p:sp>
        <p:nvSpPr>
          <p:cNvPr id="16" name="Chip 1"/>
          <p:cNvSpPr/>
          <p:nvPr/>
        </p:nvSpPr>
        <p:spPr>
          <a:xfrm>
            <a:off x="812800" y="2950000"/>
            <a:ext cx="2650000" cy="430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5875"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Camera Feed (Eye)</a:t>
            </a:r>
            <a:endParaRPr lang="en-US" sz="1200" dirty="0"/>
          </a:p>
        </p:txBody>
      </p:sp>
      <p:sp>
        <p:nvSpPr>
          <p:cNvPr id="17" name="Arrow 1"/>
          <p:cNvSpPr/>
          <p:nvPr/>
        </p:nvSpPr>
        <p:spPr>
          <a:xfrm>
            <a:off x="3462800" y="2950000"/>
            <a:ext cx="33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Chip 2"/>
          <p:cNvSpPr/>
          <p:nvPr/>
        </p:nvSpPr>
        <p:spPr>
          <a:xfrm>
            <a:off x="3792800" y="2950000"/>
            <a:ext cx="2650000" cy="430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5875"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Controller (Brain)</a:t>
            </a:r>
            <a:endParaRPr lang="en-US" sz="1200" dirty="0"/>
          </a:p>
        </p:txBody>
      </p:sp>
      <p:sp>
        <p:nvSpPr>
          <p:cNvPr id="19" name="Arrow 2"/>
          <p:cNvSpPr/>
          <p:nvPr/>
        </p:nvSpPr>
        <p:spPr>
          <a:xfrm>
            <a:off x="6442800" y="2950000"/>
            <a:ext cx="33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Chip 3"/>
          <p:cNvSpPr/>
          <p:nvPr/>
        </p:nvSpPr>
        <p:spPr>
          <a:xfrm>
            <a:off x="6772800" y="2950000"/>
            <a:ext cx="2650000" cy="430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5875">
            <a:solidFill>
              <a:srgbClr val="34D399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Digital Twin (Actuator)</a:t>
            </a:r>
            <a:endParaRPr lang="en-US" sz="1200" dirty="0"/>
          </a:p>
        </p:txBody>
      </p:sp>
      <p:sp>
        <p:nvSpPr>
          <p:cNvPr id="21" name="Team label"/>
          <p:cNvSpPr/>
          <p:nvPr/>
        </p:nvSpPr>
        <p:spPr>
          <a:xfrm>
            <a:off x="812800" y="3880000"/>
            <a:ext cx="10883392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TEAM</a:t>
            </a:r>
            <a:endParaRPr lang="en-US" sz="1200" dirty="0"/>
          </a:p>
        </p:txBody>
      </p:sp>
      <p:sp>
        <p:nvSpPr>
          <p:cNvPr id="22" name="Card 1"/>
          <p:cNvSpPr/>
          <p:nvPr/>
        </p:nvSpPr>
        <p:spPr>
          <a:xfrm>
            <a:off x="812800" y="4230000"/>
            <a:ext cx="2570848" cy="13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23" name="Avatar 1"/>
          <p:cNvSpPr/>
          <p:nvPr/>
        </p:nvSpPr>
        <p:spPr>
          <a:xfrm>
            <a:off x="972800" y="4400000"/>
            <a:ext cx="540000" cy="540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</a:t>
            </a:r>
            <a:endParaRPr lang="en-US" sz="1200" dirty="0"/>
          </a:p>
        </p:txBody>
      </p:sp>
      <p:sp>
        <p:nvSpPr>
          <p:cNvPr id="24" name="Affil 1"/>
          <p:cNvSpPr/>
          <p:nvPr/>
        </p:nvSpPr>
        <p:spPr>
          <a:xfrm>
            <a:off x="1612800" y="4400000"/>
            <a:ext cx="1670848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DSATM</a:t>
            </a:r>
            <a:endParaRPr lang="en-US" sz="12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b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lead</a:t>
            </a:r>
            <a:endParaRPr lang="en-US" sz="1200" dirty="0"/>
          </a:p>
        </p:txBody>
      </p:sp>
      <p:sp>
        <p:nvSpPr>
          <p:cNvPr id="25" name="Name 1"/>
          <p:cNvSpPr/>
          <p:nvPr/>
        </p:nvSpPr>
        <p:spPr>
          <a:xfrm>
            <a:off x="972800" y="5050000"/>
            <a:ext cx="2310848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Chirag S Reddy</a:t>
            </a:r>
            <a:endParaRPr lang="en-US" sz="1200" dirty="0"/>
          </a:p>
        </p:txBody>
      </p:sp>
      <p:sp>
        <p:nvSpPr>
          <p:cNvPr id="26" name="Card 2"/>
          <p:cNvSpPr/>
          <p:nvPr/>
        </p:nvSpPr>
        <p:spPr>
          <a:xfrm>
            <a:off x="3583648" y="4230000"/>
            <a:ext cx="2570848" cy="13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27" name="Avatar 2"/>
          <p:cNvSpPr/>
          <p:nvPr/>
        </p:nvSpPr>
        <p:spPr>
          <a:xfrm>
            <a:off x="3743648" y="4400000"/>
            <a:ext cx="540000" cy="540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1200" dirty="0"/>
          </a:p>
        </p:txBody>
      </p:sp>
      <p:sp>
        <p:nvSpPr>
          <p:cNvPr id="28" name="Affil 2"/>
          <p:cNvSpPr/>
          <p:nvPr/>
        </p:nvSpPr>
        <p:spPr>
          <a:xfrm>
            <a:off x="4383648" y="4400000"/>
            <a:ext cx="1670848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BIT</a:t>
            </a:r>
            <a:endParaRPr lang="en-US" sz="1200" dirty="0"/>
          </a:p>
        </p:txBody>
      </p:sp>
      <p:sp>
        <p:nvSpPr>
          <p:cNvPr id="29" name="Name 2"/>
          <p:cNvSpPr/>
          <p:nvPr/>
        </p:nvSpPr>
        <p:spPr>
          <a:xfrm>
            <a:off x="3743648" y="5050000"/>
            <a:ext cx="2310848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Nikshay MS</a:t>
            </a:r>
            <a:endParaRPr lang="en-US" sz="1200" dirty="0"/>
          </a:p>
        </p:txBody>
      </p:sp>
      <p:sp>
        <p:nvSpPr>
          <p:cNvPr id="30" name="Card 3"/>
          <p:cNvSpPr/>
          <p:nvPr/>
        </p:nvSpPr>
        <p:spPr>
          <a:xfrm>
            <a:off x="6354496" y="4230000"/>
            <a:ext cx="2570848" cy="13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31" name="Avatar 3"/>
          <p:cNvSpPr/>
          <p:nvPr/>
        </p:nvSpPr>
        <p:spPr>
          <a:xfrm>
            <a:off x="6514496" y="4400000"/>
            <a:ext cx="540000" cy="540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CB</a:t>
            </a:r>
            <a:endParaRPr lang="en-US" sz="1200" dirty="0"/>
          </a:p>
        </p:txBody>
      </p:sp>
      <p:sp>
        <p:nvSpPr>
          <p:cNvPr id="32" name="Affil 3"/>
          <p:cNvSpPr/>
          <p:nvPr/>
        </p:nvSpPr>
        <p:spPr>
          <a:xfrm>
            <a:off x="7154496" y="4400000"/>
            <a:ext cx="1670848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BMS</a:t>
            </a:r>
            <a:endParaRPr lang="en-US" sz="1200" dirty="0"/>
          </a:p>
        </p:txBody>
      </p:sp>
      <p:sp>
        <p:nvSpPr>
          <p:cNvPr id="33" name="Name 3"/>
          <p:cNvSpPr/>
          <p:nvPr/>
        </p:nvSpPr>
        <p:spPr>
          <a:xfrm>
            <a:off x="6514496" y="5050000"/>
            <a:ext cx="2310848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Chetan B</a:t>
            </a:r>
            <a:endParaRPr lang="en-US" sz="1200" dirty="0"/>
          </a:p>
        </p:txBody>
      </p:sp>
      <p:sp>
        <p:nvSpPr>
          <p:cNvPr id="34" name="Card 4"/>
          <p:cNvSpPr/>
          <p:nvPr/>
        </p:nvSpPr>
        <p:spPr>
          <a:xfrm>
            <a:off x="9125344" y="4230000"/>
            <a:ext cx="2570848" cy="130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endParaRPr lang="en-US"/>
          </a:p>
        </p:txBody>
      </p:sp>
      <p:sp>
        <p:nvSpPr>
          <p:cNvPr id="35" name="Avatar 4"/>
          <p:cNvSpPr/>
          <p:nvPr/>
        </p:nvSpPr>
        <p:spPr>
          <a:xfrm>
            <a:off x="9285344" y="4400000"/>
            <a:ext cx="540000" cy="5400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</a:t>
            </a:r>
            <a:endParaRPr lang="en-US" sz="1200" dirty="0"/>
          </a:p>
        </p:txBody>
      </p:sp>
      <p:sp>
        <p:nvSpPr>
          <p:cNvPr id="36" name="Affil 4"/>
          <p:cNvSpPr/>
          <p:nvPr/>
        </p:nvSpPr>
        <p:spPr>
          <a:xfrm>
            <a:off x="9925344" y="4400000"/>
            <a:ext cx="1670848" cy="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BIT</a:t>
            </a:r>
            <a:endParaRPr lang="en-US" sz="1200" dirty="0"/>
          </a:p>
        </p:txBody>
      </p:sp>
      <p:sp>
        <p:nvSpPr>
          <p:cNvPr id="37" name="Name 4"/>
          <p:cNvSpPr/>
          <p:nvPr/>
        </p:nvSpPr>
        <p:spPr>
          <a:xfrm>
            <a:off x="9285344" y="5050000"/>
            <a:ext cx="2310848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Gurusmaran Raghavan</a:t>
            </a:r>
            <a:endParaRPr lang="en-US" sz="1200" dirty="0"/>
          </a:p>
        </p:txBody>
      </p:sp>
      <p:sp>
        <p:nvSpPr>
          <p:cNvPr id="38" name="Repo"/>
          <p:cNvSpPr/>
          <p:nvPr/>
        </p:nvSpPr>
        <p:spPr>
          <a:xfrm>
            <a:off x="812800" y="6080000"/>
            <a:ext cx="6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github.com/Chirag-S-Reddy/Smart-MRF</a:t>
            </a:r>
            <a:endParaRPr lang="en-US" sz="1200" dirty="0"/>
          </a:p>
        </p:txBody>
      </p:sp>
      <p:sp>
        <p:nvSpPr>
          <p:cNvPr id="39" name="Pillars"/>
          <p:cNvSpPr/>
          <p:nvPr/>
        </p:nvSpPr>
        <p:spPr>
          <a:xfrm>
            <a:off x="7012800" y="6080000"/>
            <a:ext cx="4683392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200" b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Computer Vision  ·  Digital Twin  ·  Generative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49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 Overview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 OVERVIEW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300"/>
              </a:lnSpc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MRF in Brief</a:t>
            </a:r>
          </a:p>
        </p:txBody>
      </p:sp>
      <p:sp>
        <p:nvSpPr>
          <p:cNvPr id="4" name="Lead"/>
          <p:cNvSpPr/>
          <p:nvPr/>
        </p:nvSpPr>
        <p:spPr>
          <a:xfrm>
            <a:off x="812800" y="1480000"/>
            <a:ext cx="1088339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200"/>
              </a:lnSpc>
              <a:spcAft>
                <a:spcPts val="0"/>
              </a:spcAft>
              <a:buNone/>
            </a:pPr>
            <a:r>
              <a:rPr lang="en-US" sz="1600" b="0" dirty="0">
                <a:solidFill>
                  <a:srgbClr val="3341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low-cost AI layer that turns an ordinary conveyor belt into a self-monitoring, hazard-aware recovery line.</a:t>
            </a:r>
          </a:p>
        </p:txBody>
      </p:sp>
      <p:sp>
        <p:nvSpPr>
          <p:cNvPr id="5" name="Card 1"/>
          <p:cNvSpPr/>
          <p:nvPr/>
        </p:nvSpPr>
        <p:spPr>
          <a:xfrm>
            <a:off x="812800" y="2300000"/>
            <a:ext cx="2530348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 wrap="square" lIns="150000" tIns="150000" rIns="130000" bIns="100000" rtlCol="0" anchor="t">
            <a:noAutofit/>
          </a:bodyPr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PROBLEM</a:t>
            </a:r>
          </a:p>
          <a:p>
            <a:pPr marL="0" indent="0" algn="l">
              <a:lnSpc>
                <a:spcPts val="23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sorting</a:t>
            </a:r>
          </a:p>
          <a:p>
            <a:pPr marL="0" indent="0" algn="l">
              <a:lnSpc>
                <a:spcPts val="2000"/>
              </a:lnSpc>
              <a:spcAft>
                <a:spcPts val="0"/>
              </a:spcAft>
              <a:buNone/>
            </a:pPr>
            <a:r>
              <a:rPr lang="en-US" sz="1400" b="0" dirty="0">
                <a:solidFill>
                  <a:srgbClr val="3341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Sorting is slow and inconsistent, and hidden batteries and aerosols spark fires at the baler.</a:t>
            </a:r>
          </a:p>
        </p:txBody>
      </p:sp>
      <p:sp>
        <p:nvSpPr>
          <p:cNvPr id="6" name="Card 2"/>
          <p:cNvSpPr/>
          <p:nvPr/>
        </p:nvSpPr>
        <p:spPr>
          <a:xfrm>
            <a:off x="3597148" y="2300000"/>
            <a:ext cx="2530348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 wrap="square" lIns="150000" tIns="150000" rIns="130000" bIns="100000" rtlCol="0" anchor="t">
            <a:noAutofit/>
          </a:bodyPr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THE EYE</a:t>
            </a:r>
          </a:p>
          <a:p>
            <a:pPr marL="0" indent="0" algn="l">
              <a:lnSpc>
                <a:spcPts val="23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camera</a:t>
            </a:r>
          </a:p>
          <a:p>
            <a:pPr marL="0" indent="0" algn="l">
              <a:lnSpc>
                <a:spcPts val="2000"/>
              </a:lnSpc>
              <a:spcAft>
                <a:spcPts val="0"/>
              </a:spcAft>
              <a:buNone/>
            </a:pPr>
            <a:r>
              <a:rPr lang="en-US" sz="1400" b="0" dirty="0">
                <a:solidFill>
                  <a:srgbClr val="3341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YOLO11s spots 8 material classes on the existing belt, with no conveyor rebuild.</a:t>
            </a:r>
          </a:p>
        </p:txBody>
      </p:sp>
      <p:sp>
        <p:nvSpPr>
          <p:cNvPr id="7" name="Card 3"/>
          <p:cNvSpPr/>
          <p:nvPr/>
        </p:nvSpPr>
        <p:spPr>
          <a:xfrm>
            <a:off x="6381496" y="2300000"/>
            <a:ext cx="2530348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 wrap="square" lIns="150000" tIns="150000" rIns="130000" bIns="100000" rtlCol="0" anchor="t">
            <a:noAutofit/>
          </a:bodyPr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BRAIN + TWIN</a:t>
            </a:r>
          </a:p>
          <a:p>
            <a:pPr marL="0" indent="0" algn="l">
              <a:lnSpc>
                <a:spcPts val="23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insight</a:t>
            </a:r>
          </a:p>
          <a:p>
            <a:pPr marL="0" indent="0" algn="l">
              <a:lnSpc>
                <a:spcPts val="2000"/>
              </a:lnSpc>
              <a:spcAft>
                <a:spcPts val="0"/>
              </a:spcAft>
              <a:buNone/>
            </a:pPr>
            <a:r>
              <a:rPr lang="en-US" sz="1400" b="0" dirty="0">
                <a:solidFill>
                  <a:srgbClr val="3341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digital twin counts every item and bin, and Gemini writes a plain-language report.</a:t>
            </a:r>
          </a:p>
        </p:txBody>
      </p:sp>
      <p:sp>
        <p:nvSpPr>
          <p:cNvPr id="8" name="Card 4"/>
          <p:cNvSpPr/>
          <p:nvPr/>
        </p:nvSpPr>
        <p:spPr>
          <a:xfrm>
            <a:off x="9165844" y="2300000"/>
            <a:ext cx="2530348" cy="26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 wrap="square" lIns="150000" tIns="150000" rIns="130000" bIns="100000" rtlCol="0" anchor="t">
            <a:noAutofit/>
          </a:bodyPr>
          <a:lstStyle/>
          <a:p>
            <a:pPr marL="0" indent="0" algn="l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STATUS</a:t>
            </a:r>
          </a:p>
          <a:p>
            <a:pPr marL="0" indent="0" algn="l">
              <a:lnSpc>
                <a:spcPts val="23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Prototype</a:t>
            </a:r>
          </a:p>
          <a:p>
            <a:pPr marL="0" indent="0" algn="l">
              <a:lnSpc>
                <a:spcPts val="2000"/>
              </a:lnSpc>
              <a:spcAft>
                <a:spcPts val="0"/>
              </a:spcAft>
              <a:buNone/>
            </a:pPr>
            <a:r>
              <a:rPr lang="en-US" sz="1400" b="0" dirty="0">
                <a:solidFill>
                  <a:srgbClr val="33415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mAP50 0.66 so far. Next: PLC/Modbus actuation and more battery and aerosol data.</a:t>
            </a:r>
          </a:p>
        </p:txBody>
      </p:sp>
      <p:sp>
        <p:nvSpPr>
          <p:cNvPr id="9" name="Edge strip"/>
          <p:cNvSpPr/>
          <p:nvPr/>
        </p:nvSpPr>
        <p:spPr>
          <a:xfrm>
            <a:off x="812800" y="5230000"/>
            <a:ext cx="10883392" cy="56000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/>
        </p:spPr>
        <p:txBody>
          <a:bodyPr wrap="square" lIns="200000" tIns="0" rIns="200000" bIns="0" rtlCol="0" anchor="ctr">
            <a:noAutofit/>
          </a:bodyPr>
          <a:lstStyle/>
          <a:p>
            <a:pPr marL="0" indent="0" algn="l">
              <a:lnSpc>
                <a:spcPts val="196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Hazards are caught and isolated before the baler, where fires start.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115423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3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85581"/>
            <a:ext cx="10883392" cy="3854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just"/>
            <a:r>
              <a:rPr lang="en-IN" sz="3200" dirty="0">
                <a:solidFill>
                  <a:srgbClr val="FF0000"/>
                </a:solidFill>
              </a:rPr>
              <a:t>Inefficient manual sorting </a:t>
            </a:r>
            <a:r>
              <a:rPr lang="en-IN" sz="3200" dirty="0"/>
              <a:t>and a </a:t>
            </a:r>
            <a:r>
              <a:rPr lang="en-IN" sz="3200" dirty="0">
                <a:solidFill>
                  <a:srgbClr val="FF0000"/>
                </a:solidFill>
              </a:rPr>
              <a:t>lack of actionable disposal guidance </a:t>
            </a:r>
            <a:r>
              <a:rPr lang="en-IN" sz="3200" dirty="0">
                <a:solidFill>
                  <a:schemeClr val="tx1"/>
                </a:solidFill>
              </a:rPr>
              <a:t>hinder </a:t>
            </a:r>
            <a:r>
              <a:rPr lang="en-IN" sz="3200" dirty="0"/>
              <a:t>effective waste management and circular economy adoption. This project develops an integrated system combining </a:t>
            </a:r>
            <a:r>
              <a:rPr lang="en-IN" sz="3200" dirty="0">
                <a:solidFill>
                  <a:schemeClr val="accent1"/>
                </a:solidFill>
              </a:rPr>
              <a:t>Computer Vision </a:t>
            </a:r>
            <a:r>
              <a:rPr lang="en-IN" sz="3200" dirty="0"/>
              <a:t>for automated material classification, a Digital Twin for real-time lifecycle tracking, and </a:t>
            </a:r>
            <a:r>
              <a:rPr lang="en-IN" sz="3200" dirty="0">
                <a:solidFill>
                  <a:schemeClr val="accent1"/>
                </a:solidFill>
              </a:rPr>
              <a:t>Generative AI </a:t>
            </a:r>
            <a:r>
              <a:rPr lang="en-IN" sz="3200" dirty="0"/>
              <a:t>for personalized recycling recommendations.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PROBLEM 1 · FIRE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Hidden Battery &amp; Aerosol Fires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19861"/>
            <a:ext cx="3420507" cy="942340"/>
          </a:xfrm>
          <a:prstGeom prst="roundRect">
            <a:avLst>
              <a:gd name="adj" fmla="val 80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419861"/>
            <a:ext cx="3420507" cy="942340"/>
          </a:xfrm>
          <a:custGeom>
            <a:avLst/>
            <a:gdLst/>
            <a:ahLst/>
            <a:cxnLst/>
            <a:rect l="l" t="t" r="r" b="b"/>
            <a:pathLst>
              <a:path w="3420507" h="942340">
                <a:moveTo>
                  <a:pt x="76200" y="942340"/>
                </a:moveTo>
                <a:lnTo>
                  <a:pt x="76200" y="94234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66140"/>
                </a:lnTo>
                <a:arcTo wR="25400" hR="76200" stAng="10800000" swAng="-5400000"/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34161"/>
            <a:ext cx="402336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1866900"/>
            <a:ext cx="315685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fire incidents at Delhi landfills in 2019 (fire department data) </a:t>
            </a:r>
            <a:r>
              <a:rPr lang="en-US" sz="1200" b="1" u="sng" dirty="0">
                <a:solidFill>
                  <a:srgbClr val="DC26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 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707" y="1419861"/>
            <a:ext cx="3420586" cy="942340"/>
          </a:xfrm>
          <a:prstGeom prst="roundRect">
            <a:avLst>
              <a:gd name="adj" fmla="val 808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385707" y="1419861"/>
            <a:ext cx="3420586" cy="942340"/>
          </a:xfrm>
          <a:custGeom>
            <a:avLst/>
            <a:gdLst/>
            <a:ahLst/>
            <a:cxnLst/>
            <a:rect l="l" t="t" r="r" b="b"/>
            <a:pathLst>
              <a:path w="3420586" h="942340">
                <a:moveTo>
                  <a:pt x="76200" y="942340"/>
                </a:moveTo>
                <a:lnTo>
                  <a:pt x="76200" y="94234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66140"/>
                </a:lnTo>
                <a:arcTo wR="25400" hR="76200" stAng="10800000" swAng="-5400000"/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588907" y="1534161"/>
            <a:ext cx="100584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50+ 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88907" y="1866900"/>
            <a:ext cx="315693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douse the Ghazipur landfill fire, March 2022 </a:t>
            </a:r>
            <a:r>
              <a:rPr lang="en-US" sz="1200" b="1" u="sng" dirty="0">
                <a:solidFill>
                  <a:srgbClr val="DC26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 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693" y="1419861"/>
            <a:ext cx="3420507" cy="942340"/>
          </a:xfrm>
          <a:prstGeom prst="roundRect">
            <a:avLst>
              <a:gd name="adj" fmla="val 8086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8693" y="1419861"/>
            <a:ext cx="3420507" cy="942340"/>
          </a:xfrm>
          <a:custGeom>
            <a:avLst/>
            <a:gdLst/>
            <a:ahLst/>
            <a:cxnLst/>
            <a:rect l="l" t="t" r="r" b="b"/>
            <a:pathLst>
              <a:path w="3420507" h="942340">
                <a:moveTo>
                  <a:pt x="76200" y="942340"/>
                </a:moveTo>
                <a:lnTo>
                  <a:pt x="76200" y="94234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66140"/>
                </a:lnTo>
                <a:arcTo wR="25400" hR="76200" stAng="10800000" swAng="-5400000"/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161893" y="1534161"/>
            <a:ext cx="804672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~95%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61893" y="1866900"/>
            <a:ext cx="315685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Indian Li-ion batteries believed to end up in rubbish tips (estimate) </a:t>
            </a:r>
            <a:r>
              <a:rPr lang="en-US" sz="1200" b="1" u="sng" dirty="0">
                <a:solidFill>
                  <a:srgbClr val="DC26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 ↗</a:t>
            </a:r>
            <a:endParaRPr lang="en-US" sz="120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800" y="2809240"/>
            <a:ext cx="2794000" cy="21945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762375" y="2543175"/>
            <a:ext cx="3727450" cy="2894965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42080" y="2697480"/>
            <a:ext cx="34690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INDIA · CHENNAI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42080" y="2974341"/>
            <a:ext cx="3469081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Baling-centre blaze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942080" y="3271520"/>
            <a:ext cx="3469081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About 60 firefighters worked 2 hours. Around 100 tons of flammable refuse-derived fuel was stored on site. Heat was suspected as the cause.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42080" y="4157980"/>
            <a:ext cx="34690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DC26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article ↗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648575" y="2543175"/>
            <a:ext cx="3727450" cy="2894965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28280" y="2697480"/>
            <a:ext cx="34690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UK · LONDON MRF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28280" y="2974341"/>
            <a:ext cx="3469081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Aerosols exploded in the baler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828280" y="3271520"/>
            <a:ext cx="3469081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fires since 2016, then a baler explosion. The first fire closed the MRF for over two weeks. In the US and Canada: 448 fires and about $2.5B damage in 2025.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28280" y="4157980"/>
            <a:ext cx="34690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DC26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council report ↗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12800" y="5619116"/>
            <a:ext cx="10566400" cy="629285"/>
          </a:xfrm>
          <a:prstGeom prst="roundRect">
            <a:avLst>
              <a:gd name="adj" fmla="val 12109"/>
            </a:avLst>
          </a:prstGeom>
          <a:solidFill>
            <a:srgbClr val="059669"/>
          </a:solidFill>
          <a:ln/>
        </p:spPr>
      </p:sp>
      <p:sp>
        <p:nvSpPr>
          <p:cNvPr id="29" name="Text 26"/>
          <p:cNvSpPr/>
          <p:nvPr/>
        </p:nvSpPr>
        <p:spPr>
          <a:xfrm>
            <a:off x="990600" y="5708016"/>
            <a:ext cx="105171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SMART MRF RESPONSE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90600" y="5921375"/>
            <a:ext cx="1051712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Spot battery and aerosol upstream of the baler and raise CRITICAL before they are crushed.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PROBLEM 2 · PURITY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Purity Is Measured Too 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422400"/>
            <a:ext cx="3420507" cy="946150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422400"/>
            <a:ext cx="3420507" cy="946150"/>
          </a:xfrm>
          <a:custGeom>
            <a:avLst/>
            <a:gdLst/>
            <a:ahLst/>
            <a:cxnLst/>
            <a:rect l="l" t="t" r="r" b="b"/>
            <a:pathLst>
              <a:path w="3420507" h="946150">
                <a:moveTo>
                  <a:pt x="76200" y="946150"/>
                </a:moveTo>
                <a:lnTo>
                  <a:pt x="76200" y="9461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69950"/>
                </a:lnTo>
                <a:arcTo wR="25400" hR="76200" stAng="10800000" swAng="-5400000"/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36700"/>
            <a:ext cx="1207008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30–35%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1869439"/>
            <a:ext cx="315685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India’s municipal waste is scientifically segregated (CPCB) </a:t>
            </a:r>
            <a:r>
              <a:rPr lang="en-US" sz="1200" b="1" u="sng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 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707" y="1422400"/>
            <a:ext cx="3420586" cy="946150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385707" y="1422400"/>
            <a:ext cx="3420586" cy="946150"/>
          </a:xfrm>
          <a:custGeom>
            <a:avLst/>
            <a:gdLst/>
            <a:ahLst/>
            <a:cxnLst/>
            <a:rect l="l" t="t" r="r" b="b"/>
            <a:pathLst>
              <a:path w="3420586" h="946150">
                <a:moveTo>
                  <a:pt x="76200" y="946150"/>
                </a:moveTo>
                <a:lnTo>
                  <a:pt x="76200" y="9461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69950"/>
                </a:lnTo>
                <a:arcTo wR="25400" hR="76200" stAng="10800000" swAng="-5400000"/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4588907" y="1536700"/>
            <a:ext cx="603504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88907" y="1869439"/>
            <a:ext cx="315693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average source segregation in Delhi’s MCD areas (2023) </a:t>
            </a:r>
            <a:r>
              <a:rPr lang="en-US" sz="1200" b="1" u="sng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 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693" y="1422400"/>
            <a:ext cx="3420507" cy="946150"/>
          </a:xfrm>
          <a:prstGeom prst="roundRect">
            <a:avLst>
              <a:gd name="adj" fmla="val 8054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8693" y="1422400"/>
            <a:ext cx="3420507" cy="946150"/>
          </a:xfrm>
          <a:custGeom>
            <a:avLst/>
            <a:gdLst/>
            <a:ahLst/>
            <a:cxnLst/>
            <a:rect l="l" t="t" r="r" b="b"/>
            <a:pathLst>
              <a:path w="3420507" h="946150">
                <a:moveTo>
                  <a:pt x="76200" y="946150"/>
                </a:moveTo>
                <a:lnTo>
                  <a:pt x="76200" y="9461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869950"/>
                </a:lnTo>
                <a:arcTo wR="25400" hR="76200" stAng="10800000" swAng="-5400000"/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8161893" y="1536700"/>
            <a:ext cx="804672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~50%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61893" y="1869439"/>
            <a:ext cx="315685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municipal waste processed: 79,956 of 160,039 tons a day (CPCB 2022) </a:t>
            </a:r>
            <a:r>
              <a:rPr lang="en-US" sz="1200" b="1" u="sng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 ↗</a:t>
            </a:r>
            <a:endParaRPr lang="en-US" sz="120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800" y="2638425"/>
            <a:ext cx="2794000" cy="268287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12800" y="5003800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Illustration of the failure mode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762375" y="2543175"/>
            <a:ext cx="3727450" cy="2895600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42080" y="2697482"/>
            <a:ext cx="34690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INDIA · CONTEXT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42080" y="2974339"/>
            <a:ext cx="3469081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Contamination, little digitisation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942080" y="3271521"/>
            <a:ext cx="3469081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Contamination, uneven flow and lack of digitisation are listed as core MRF challenges. No Indian bale-rejection data found.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42080" y="3952239"/>
            <a:ext cx="34690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article ↗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648575" y="2543175"/>
            <a:ext cx="3727450" cy="2895600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28280" y="2697482"/>
            <a:ext cx="34690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 · HOUSTON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28280" y="2974339"/>
            <a:ext cx="3469081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Contamination above 42%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828280" y="3271521"/>
            <a:ext cx="3469081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2026 city presentation puts Houston above 42%, against 15–25% nationally. In Wigan, UK, 14 rejected loads cost about £25,000 in two months (2015).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28280" y="4157982"/>
            <a:ext cx="346908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0596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report ↗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12800" y="5619750"/>
            <a:ext cx="10566400" cy="6350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</p:sp>
      <p:sp>
        <p:nvSpPr>
          <p:cNvPr id="29" name="Text 26"/>
          <p:cNvSpPr/>
          <p:nvPr/>
        </p:nvSpPr>
        <p:spPr>
          <a:xfrm>
            <a:off x="990600" y="5708650"/>
            <a:ext cx="105171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SMART MRF RESPONSE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90600" y="5922011"/>
            <a:ext cx="1051712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Show live per-class counts and bin totals while the material is still on the belt.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Belt Video to Operator Advice</a:t>
            </a:r>
            <a:endParaRPr lang="en-US" sz="3000" dirty="0"/>
          </a:p>
        </p:txBody>
      </p:sp>
      <p:pic>
        <p:nvPicPr>
          <p:cNvPr id="4" name="Image 0" descr="Flowchart from belt video through detection, tracking, event log, digital twin, dashboard and Gemini report to the operator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812800" y="1419861"/>
            <a:ext cx="105664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9150" y="3890011"/>
            <a:ext cx="3035300" cy="416560"/>
          </a:xfrm>
          <a:prstGeom prst="roundRect">
            <a:avLst>
              <a:gd name="adj" fmla="val 1372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YOLO11s · 640 px · 94 epochs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994150" y="3890011"/>
            <a:ext cx="2738120" cy="416560"/>
          </a:xfrm>
          <a:prstGeom prst="roundRect">
            <a:avLst>
              <a:gd name="adj" fmla="val 1372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Frame tracker: persistent IDs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9150" y="4446271"/>
            <a:ext cx="4909185" cy="416560"/>
          </a:xfrm>
          <a:prstGeom prst="roundRect">
            <a:avLst>
              <a:gd name="adj" fmla="val 1372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battery · aerosol → CRITICAL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68035" y="4446271"/>
            <a:ext cx="3827780" cy="416560"/>
          </a:xfrm>
          <a:prstGeom prst="roundRect">
            <a:avLst>
              <a:gd name="adj" fmla="val 13720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755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offline summary if no Gemini key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DEEP DIVE · THE EYE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8-Class Computer Vision on the Belt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423036"/>
            <a:ext cx="3431064" cy="1518444"/>
          </a:xfrm>
          <a:prstGeom prst="roundRect">
            <a:avLst>
              <a:gd name="adj" fmla="val 64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5" name="Image 0" descr="pap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5680" y="1852057"/>
            <a:ext cx="660400" cy="66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08480" y="1933336"/>
            <a:ext cx="142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paper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08480" y="2217818"/>
            <a:ext cx="164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[SAFE: RECYCLE]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0389" y="1423036"/>
            <a:ext cx="3431143" cy="1518444"/>
          </a:xfrm>
          <a:prstGeom prst="roundRect">
            <a:avLst>
              <a:gd name="adj" fmla="val 64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9" name="Image 1" descr="cardboard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60094" y="1852057"/>
            <a:ext cx="660400" cy="660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72894" y="1933336"/>
            <a:ext cx="142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cardboard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372894" y="2217818"/>
            <a:ext cx="164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[SAFE: RECYCLE]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44882" y="1423036"/>
            <a:ext cx="3431143" cy="1518444"/>
          </a:xfrm>
          <a:prstGeom prst="roundRect">
            <a:avLst>
              <a:gd name="adj" fmla="val 64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3" name="Image 2" descr="plastic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4587" y="1852057"/>
            <a:ext cx="660400" cy="660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37387" y="1933336"/>
            <a:ext cx="142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plastic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937387" y="2217818"/>
            <a:ext cx="164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[SAFE: RECYCLE]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75" y="3074829"/>
            <a:ext cx="3431064" cy="1518523"/>
          </a:xfrm>
          <a:prstGeom prst="roundRect">
            <a:avLst>
              <a:gd name="adj" fmla="val 64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7" name="Image 3" descr="glas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5680" y="3503851"/>
            <a:ext cx="660400" cy="660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08480" y="3585130"/>
            <a:ext cx="142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glass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808480" y="3869612"/>
            <a:ext cx="164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[SAFE: RECYCLE]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80389" y="3074829"/>
            <a:ext cx="3431143" cy="1518523"/>
          </a:xfrm>
          <a:prstGeom prst="roundRect">
            <a:avLst>
              <a:gd name="adj" fmla="val 64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1" name="Image 4" descr="metal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60094" y="3503851"/>
            <a:ext cx="660400" cy="660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72894" y="3585130"/>
            <a:ext cx="142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metal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372894" y="3869612"/>
            <a:ext cx="164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[SAFE: RECYCLE]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44882" y="3074829"/>
            <a:ext cx="3431143" cy="1518523"/>
          </a:xfrm>
          <a:prstGeom prst="roundRect">
            <a:avLst>
              <a:gd name="adj" fmla="val 64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plastic_ba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24587" y="3503851"/>
            <a:ext cx="660400" cy="660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937387" y="3585130"/>
            <a:ext cx="15138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plastic_bag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937387" y="3869612"/>
            <a:ext cx="17556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[SAFE: RECYCLE]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2598261" y="4726701"/>
            <a:ext cx="3431064" cy="1518523"/>
          </a:xfrm>
          <a:prstGeom prst="roundRect">
            <a:avLst>
              <a:gd name="adj" fmla="val 64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9" name="Image 6" descr="aerosol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777966" y="5155723"/>
            <a:ext cx="660400" cy="6604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590766" y="5237007"/>
            <a:ext cx="16967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aerosol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3590766" y="5521486"/>
            <a:ext cx="1975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[CRITICAL: HAZARD]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162675" y="4726701"/>
            <a:ext cx="3431143" cy="1518523"/>
          </a:xfrm>
          <a:prstGeom prst="roundRect">
            <a:avLst>
              <a:gd name="adj" fmla="val 64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7" name="Image 8" descr="battery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42380" y="5155723"/>
            <a:ext cx="660400" cy="6604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155180" y="5237007"/>
            <a:ext cx="169672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battery</a:t>
            </a:r>
            <a:endParaRPr lang="en-US" sz="1600" dirty="0"/>
          </a:p>
        </p:txBody>
      </p:sp>
      <p:sp>
        <p:nvSpPr>
          <p:cNvPr id="39" name="Text 28"/>
          <p:cNvSpPr/>
          <p:nvPr/>
        </p:nvSpPr>
        <p:spPr>
          <a:xfrm>
            <a:off x="7155180" y="5521486"/>
            <a:ext cx="19751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[CRITICAL: HAZARD]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DEEP DIVE · THE BRAIN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Gemini Report on Demand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426214"/>
            <a:ext cx="2388870" cy="1089660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1557021"/>
            <a:ext cx="21387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" y="1770379"/>
            <a:ext cx="21387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Scans run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5360" y="2004064"/>
            <a:ext cx="213874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Material moves along the belt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0570" y="1673864"/>
            <a:ext cx="21844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40760" y="1426214"/>
            <a:ext cx="2388870" cy="1089660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6970" y="1557021"/>
            <a:ext cx="21387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96970" y="1770379"/>
            <a:ext cx="21387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item scanned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96970" y="2004064"/>
            <a:ext cx="213874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model sees what passes the machinery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12180" y="1673864"/>
            <a:ext cx="21844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62370" y="1426214"/>
            <a:ext cx="2388870" cy="1089660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8580" y="1557021"/>
            <a:ext cx="21387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8580" y="1770379"/>
            <a:ext cx="21387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Twin logs 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18580" y="2004064"/>
            <a:ext cx="222631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Counts, bins, hazards, fill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33790" y="1673864"/>
            <a:ext cx="21844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983980" y="1426214"/>
            <a:ext cx="2388870" cy="1089660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0190" y="1557021"/>
            <a:ext cx="21387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0190" y="1770379"/>
            <a:ext cx="21387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0190" y="2004064"/>
            <a:ext cx="213874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the AI Summary button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975" y="2703196"/>
            <a:ext cx="5180330" cy="3542030"/>
          </a:xfrm>
          <a:prstGeom prst="roundRect">
            <a:avLst>
              <a:gd name="adj" fmla="val 277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1080" y="2882900"/>
            <a:ext cx="4913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 REPORT COVERS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1438" y="3172464"/>
            <a:ext cx="4835246" cy="1732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item that passed the machinery and was scanned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Counts per class, including film and hazards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hazards were flagged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Bin status and fill levels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Recommendations (offline if no key)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02680" y="2700021"/>
            <a:ext cx="5176520" cy="3548380"/>
          </a:xfrm>
          <a:prstGeom prst="roundRect">
            <a:avLst>
              <a:gd name="adj" fmla="val 2863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5880" y="2877821"/>
            <a:ext cx="49132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AI SUMMARY · EXAMPLE FORMAT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5880" y="3125471"/>
            <a:ext cx="49132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Scans: [N] · Avg confidence: [x]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5880" y="3373121"/>
            <a:ext cx="49132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Plastic [n] · Paper [n] · Hazards [n]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5880" y="3620771"/>
            <a:ext cx="49132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battery [n] · aerosol [n]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5880" y="3868421"/>
            <a:ext cx="49132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Fullest bin: [name] [x]%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5880" y="4116071"/>
            <a:ext cx="49132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Advice: [Gemini recommendation]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DEEP DIVE · THE ACTUATOR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Digital Twin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3158" y="1623528"/>
            <a:ext cx="3846322" cy="380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Belt mirror:</a:t>
            </a: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events become live counts per material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Conveyor view:</a:t>
            </a: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3D belt drops items into five bins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Bin fill:</a:t>
            </a: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level bars per bin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HUD:</a:t>
            </a: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scans, per-class counts, average confidence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Hazard alerts:</a:t>
            </a: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hazard banner and recent-detections log</a:t>
            </a:r>
            <a:endParaRPr lang="en-US" sz="1600" dirty="0"/>
          </a:p>
          <a:p>
            <a:pPr marL="183642" indent="-183642" algn="l">
              <a:lnSpc>
                <a:spcPts val="2240"/>
              </a:lnSpc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Summary:</a:t>
            </a:r>
            <a:r>
              <a:rPr lang="en-US" sz="16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Gemini report on demand, PDF export</a:t>
            </a:r>
            <a:endParaRPr lang="en-US" sz="16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6000" y="1623528"/>
            <a:ext cx="6482842" cy="39541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/>
                <a:ea typeface="JetBrains Mono"/>
                <a:cs typeface="JetBrains Mono"/>
              </a:rPr>
              <a:t>LIVE DEMO · SCREENSHOTS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The Dashboard in Action</a:t>
            </a:r>
          </a:p>
        </p:txBody>
      </p:sp>
      <p:pic>
        <p:nvPicPr>
          <p:cNvPr id="4" name="Screenshot 1" descr="Dashboard with empty twin and five b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496" y="1420000"/>
            <a:ext cx="4376000" cy="220054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5" name="Caption 1"/>
          <p:cNvSpPr txBox="1"/>
          <p:nvPr/>
        </p:nvSpPr>
        <p:spPr>
          <a:xfrm>
            <a:off x="1753496" y="3680541"/>
            <a:ext cx="4376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spcAft>
                <a:spcPts val="0"/>
              </a:spcAft>
              <a:buNone/>
            </a:pPr>
            <a:r>
              <a:rPr lang="en-US" sz="1200" b="0" dirty="0">
                <a:solidFill>
                  <a:srgbClr val="475569"/>
                </a:solidFill>
                <a:latin typeface="Space Grotesk"/>
                <a:ea typeface="Space Grotesk"/>
                <a:cs typeface="Space Grotesk"/>
              </a:rPr>
              <a:t>1 · Ready state: empty twin, five bins, hover tips</a:t>
            </a:r>
          </a:p>
        </p:txBody>
      </p:sp>
      <p:pic>
        <p:nvPicPr>
          <p:cNvPr id="6" name="Screenshot 2" descr="Live camera detection with boxes on the fe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96" y="1420000"/>
            <a:ext cx="4376000" cy="220054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Caption 2"/>
          <p:cNvSpPr txBox="1"/>
          <p:nvPr/>
        </p:nvSpPr>
        <p:spPr>
          <a:xfrm>
            <a:off x="6379496" y="3680541"/>
            <a:ext cx="4376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spcAft>
                <a:spcPts val="0"/>
              </a:spcAft>
              <a:buNone/>
            </a:pPr>
            <a:r>
              <a:rPr lang="en-US" sz="1200" b="0" dirty="0">
                <a:solidFill>
                  <a:srgbClr val="475569"/>
                </a:solidFill>
                <a:latin typeface="Space Grotesk"/>
                <a:ea typeface="Space Grotesk"/>
                <a:cs typeface="Space Grotesk"/>
              </a:rPr>
              <a:t>2 · Live camera: boxes on the feed, 225 ms</a:t>
            </a:r>
          </a:p>
        </p:txBody>
      </p:sp>
      <p:pic>
        <p:nvPicPr>
          <p:cNvPr id="8" name="Screenshot 3" descr="Glass bottle detected at 0.78 confide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496" y="4020541"/>
            <a:ext cx="4376000" cy="220054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9" name="Caption 3"/>
          <p:cNvSpPr txBox="1"/>
          <p:nvPr/>
        </p:nvSpPr>
        <p:spPr>
          <a:xfrm>
            <a:off x="1753496" y="6281082"/>
            <a:ext cx="4376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spcAft>
                <a:spcPts val="0"/>
              </a:spcAft>
              <a:buNone/>
            </a:pPr>
            <a:r>
              <a:rPr lang="en-US" sz="1200" b="0" dirty="0">
                <a:solidFill>
                  <a:srgbClr val="475569"/>
                </a:solidFill>
                <a:latin typeface="Space Grotesk"/>
                <a:ea typeface="Space Grotesk"/>
                <a:cs typeface="Space Grotesk"/>
              </a:rPr>
              <a:t>3 · Glass bottle detected at 0.78, binned as glass</a:t>
            </a:r>
          </a:p>
        </p:txBody>
      </p:sp>
      <p:pic>
        <p:nvPicPr>
          <p:cNvPr id="10" name="Screenshot 4" descr="Uploaded video analysed, items sorted into bi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496" y="4020541"/>
            <a:ext cx="4376000" cy="220054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1" name="Caption 4"/>
          <p:cNvSpPr txBox="1"/>
          <p:nvPr/>
        </p:nvSpPr>
        <p:spPr>
          <a:xfrm>
            <a:off x="6379496" y="6281082"/>
            <a:ext cx="4376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spcAft>
                <a:spcPts val="0"/>
              </a:spcAft>
              <a:buNone/>
            </a:pPr>
            <a:r>
              <a:rPr lang="en-US" sz="1200" b="0" dirty="0">
                <a:solidFill>
                  <a:srgbClr val="475569"/>
                </a:solidFill>
                <a:latin typeface="Space Grotesk"/>
                <a:ea typeface="Space Grotesk"/>
                <a:cs typeface="Space Grotesk"/>
              </a:rPr>
              <a:t>4 · Video upload: 4 items sorted, battery to hazard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/>
                <a:ea typeface="JetBrains Mono"/>
                <a:cs typeface="JetBrains Mono"/>
              </a:rPr>
              <a:t>LIVE DEMO · VIDEO</a:t>
            </a:r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The Model Working, End to End</a:t>
            </a:r>
          </a:p>
        </p:txBody>
      </p:sp>
      <p:sp>
        <p:nvSpPr>
          <p:cNvPr id="4" name="Video frame"/>
          <p:cNvSpPr/>
          <p:nvPr/>
        </p:nvSpPr>
        <p:spPr>
          <a:xfrm>
            <a:off x="812800" y="1500000"/>
            <a:ext cx="7000000" cy="39375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lay circle"/>
          <p:cNvSpPr/>
          <p:nvPr/>
        </p:nvSpPr>
        <p:spPr>
          <a:xfrm>
            <a:off x="3862800" y="2768750"/>
            <a:ext cx="900000" cy="900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lay icon"/>
          <p:cNvSpPr/>
          <p:nvPr/>
        </p:nvSpPr>
        <p:spPr>
          <a:xfrm rot="5400000">
            <a:off x="4182800" y="2988750"/>
            <a:ext cx="300000" cy="460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Video label"/>
          <p:cNvSpPr txBox="1"/>
          <p:nvPr/>
        </p:nvSpPr>
        <p:spPr>
          <a:xfrm>
            <a:off x="1112800" y="3868750"/>
            <a:ext cx="6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[Demo video to be added]</a:t>
            </a:r>
          </a:p>
        </p:txBody>
      </p:sp>
      <p:sp>
        <p:nvSpPr>
          <p:cNvPr id="8" name="Video hint"/>
          <p:cNvSpPr txBox="1"/>
          <p:nvPr/>
        </p:nvSpPr>
        <p:spPr>
          <a:xfrm>
            <a:off x="1112800" y="4248750"/>
            <a:ext cx="6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spcAft>
                <a:spcPts val="0"/>
              </a:spcAft>
              <a:buNone/>
            </a:pPr>
            <a:r>
              <a:rPr lang="en-US" sz="1200" b="0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</a:rPr>
              <a:t>Insert › Video › This Device, then drop it over this frame</a:t>
            </a:r>
          </a:p>
        </p:txBody>
      </p:sp>
      <p:sp>
        <p:nvSpPr>
          <p:cNvPr id="9" name="Watch heading"/>
          <p:cNvSpPr txBox="1"/>
          <p:nvPr/>
        </p:nvSpPr>
        <p:spPr>
          <a:xfrm>
            <a:off x="8250000" y="1500000"/>
            <a:ext cx="344619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spcAft>
                <a:spcPts val="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/>
                <a:ea typeface="JetBrains Mono"/>
                <a:cs typeface="JetBrains Mono"/>
              </a:rPr>
              <a:t>WHAT TO WATCH FOR</a:t>
            </a:r>
          </a:p>
        </p:txBody>
      </p:sp>
      <p:sp>
        <p:nvSpPr>
          <p:cNvPr id="10" name="Watch list"/>
          <p:cNvSpPr txBox="1"/>
          <p:nvPr/>
        </p:nvSpPr>
        <p:spPr>
          <a:xfrm>
            <a:off x="8250000" y="1920000"/>
            <a:ext cx="3446192" cy="3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3642" indent="-183642" algn="l">
              <a:lnSpc>
                <a:spcPts val="224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Camera feed:</a:t>
            </a:r>
            <a:r>
              <a:rPr lang="en-US" sz="1600" b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 a box and class label on every item</a:t>
            </a:r>
          </a:p>
          <a:p>
            <a:pPr marL="183642" indent="-183642" algn="l">
              <a:lnSpc>
                <a:spcPts val="224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Digital twin:</a:t>
            </a:r>
            <a:r>
              <a:rPr lang="en-US" sz="1600" b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 each item lands in its bin</a:t>
            </a:r>
          </a:p>
          <a:p>
            <a:pPr marL="183642" indent="-183642" algn="l">
              <a:lnSpc>
                <a:spcPts val="224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Audit log:</a:t>
            </a:r>
            <a:r>
              <a:rPr lang="en-US" sz="1600" b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 time, category and confidence per item</a:t>
            </a:r>
          </a:p>
          <a:p>
            <a:pPr marL="183642" indent="-183642" algn="l">
              <a:lnSpc>
                <a:spcPts val="2240"/>
              </a:lnSpc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Hazards:</a:t>
            </a:r>
            <a:r>
              <a:rPr lang="en-US" sz="1600" b="0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 batteries go to the hazard bin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WHAT MAKES US DIFFERENT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Smart MRF Is Different</a:t>
            </a:r>
            <a:endParaRPr lang="en-US" sz="3000" dirty="0"/>
          </a:p>
        </p:txBody>
      </p:sp>
      <p:sp>
        <p:nvSpPr>
          <p:cNvPr id="101" name="Hazard panel"/>
          <p:cNvSpPr/>
          <p:nvPr/>
        </p:nvSpPr>
        <p:spPr>
          <a:xfrm>
            <a:off x="812902" y="1463040"/>
            <a:ext cx="5029200" cy="40690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02" name="Panel label"/>
          <p:cNvSpPr txBox="1"/>
          <p:nvPr/>
        </p:nvSpPr>
        <p:spPr>
          <a:xfrm>
            <a:off x="1087222" y="1682496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OUR KEY DIFFERENCE</a:t>
            </a:r>
          </a:p>
        </p:txBody>
      </p:sp>
      <p:sp>
        <p:nvSpPr>
          <p:cNvPr id="103" name="Panel heading"/>
          <p:cNvSpPr txBox="1"/>
          <p:nvPr/>
        </p:nvSpPr>
        <p:spPr>
          <a:xfrm>
            <a:off x="1087222" y="189280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 dedicated hazard section</a:t>
            </a:r>
          </a:p>
        </p:txBody>
      </p:sp>
      <p:sp>
        <p:nvSpPr>
          <p:cNvPr id="104" name="Panel sub"/>
          <p:cNvSpPr txBox="1"/>
          <p:nvPr/>
        </p:nvSpPr>
        <p:spPr>
          <a:xfrm>
            <a:off x="1087222" y="230428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Space Grotesk"/>
                <a:ea typeface="Space Grotesk"/>
                <a:cs typeface="Space Grotesk"/>
              </a:rPr>
              <a:t>Every detection is classified by risk, not just material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0FC2E3E-E8E4-2234-BC41-FBC98E728972}"/>
              </a:ext>
            </a:extLst>
          </p:cNvPr>
          <p:cNvGrpSpPr/>
          <p:nvPr/>
        </p:nvGrpSpPr>
        <p:grpSpPr>
          <a:xfrm>
            <a:off x="995782" y="2688336"/>
            <a:ext cx="4663440" cy="621792"/>
            <a:chOff x="995782" y="2688336"/>
            <a:chExt cx="4663440" cy="621792"/>
          </a:xfrm>
        </p:grpSpPr>
        <p:sp>
          <p:nvSpPr>
            <p:cNvPr id="105" name="Tier row SAFE · RECYCLE"/>
            <p:cNvSpPr/>
            <p:nvPr/>
          </p:nvSpPr>
          <p:spPr>
            <a:xfrm>
              <a:off x="995782" y="2688336"/>
              <a:ext cx="4663440" cy="621792"/>
            </a:xfrm>
            <a:prstGeom prst="roundRect">
              <a:avLst>
                <a:gd name="adj" fmla="val 9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06" name="Tier chip SAFE · RECYCLE"/>
            <p:cNvSpPr/>
            <p:nvPr/>
          </p:nvSpPr>
          <p:spPr>
            <a:xfrm>
              <a:off x="1132942" y="2843784"/>
              <a:ext cx="1600200" cy="310896"/>
            </a:xfrm>
            <a:prstGeom prst="roundRect">
              <a:avLst>
                <a:gd name="adj" fmla="val 30000"/>
              </a:avLst>
            </a:prstGeom>
            <a:solidFill>
              <a:srgbClr val="059669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SAFE · RECYCLE</a:t>
              </a:r>
            </a:p>
          </p:txBody>
        </p:sp>
        <p:sp>
          <p:nvSpPr>
            <p:cNvPr id="107" name="Tier classes"/>
            <p:cNvSpPr txBox="1"/>
            <p:nvPr/>
          </p:nvSpPr>
          <p:spPr>
            <a:xfrm>
              <a:off x="2916022" y="2788920"/>
              <a:ext cx="2606040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</a:rPr>
                <a:t>paper · cardboard · </a:t>
              </a:r>
            </a:p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</a:rPr>
                <a:t>glass · metal</a:t>
              </a:r>
            </a:p>
          </p:txBody>
        </p:sp>
      </p:grpSp>
      <p:sp>
        <p:nvSpPr>
          <p:cNvPr id="112" name="Tier row CRITICAL · HAZARD"/>
          <p:cNvSpPr/>
          <p:nvPr/>
        </p:nvSpPr>
        <p:spPr>
          <a:xfrm>
            <a:off x="995782" y="4343400"/>
            <a:ext cx="4663440" cy="996696"/>
          </a:xfrm>
          <a:prstGeom prst="roundRect">
            <a:avLst>
              <a:gd name="adj" fmla="val 9000"/>
            </a:avLst>
          </a:prstGeom>
          <a:solidFill>
            <a:srgbClr val="1E293B"/>
          </a:solidFill>
          <a:ln w="19050">
            <a:solidFill>
              <a:srgbClr val="DC2626"/>
            </a:solidFill>
          </a:ln>
        </p:spPr>
      </p:sp>
      <p:sp>
        <p:nvSpPr>
          <p:cNvPr id="113" name="Tier chip CRITICAL · HAZARD"/>
          <p:cNvSpPr/>
          <p:nvPr/>
        </p:nvSpPr>
        <p:spPr>
          <a:xfrm>
            <a:off x="1132942" y="4471416"/>
            <a:ext cx="1600200" cy="310896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CRITICAL · HAZARD</a:t>
            </a:r>
          </a:p>
        </p:txBody>
      </p:sp>
      <p:sp>
        <p:nvSpPr>
          <p:cNvPr id="114" name="Tier classes"/>
          <p:cNvSpPr txBox="1"/>
          <p:nvPr/>
        </p:nvSpPr>
        <p:spPr>
          <a:xfrm>
            <a:off x="2916022" y="450799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battery · aerosol</a:t>
            </a:r>
          </a:p>
        </p:txBody>
      </p:sp>
      <p:sp>
        <p:nvSpPr>
          <p:cNvPr id="115" name="Tier note"/>
          <p:cNvSpPr txBox="1"/>
          <p:nvPr/>
        </p:nvSpPr>
        <p:spPr>
          <a:xfrm>
            <a:off x="1132942" y="4855464"/>
            <a:ext cx="43891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pace Grotesk"/>
                <a:ea typeface="Space Grotesk"/>
                <a:cs typeface="Space Grotesk"/>
              </a:rPr>
              <a:t>Own hazardous bin, operator alert, log entry and AI summary</a:t>
            </a:r>
          </a:p>
        </p:txBody>
      </p:sp>
      <p:sp>
        <p:nvSpPr>
          <p:cNvPr id="116" name="Compare card WHAT IT WATCHES"/>
          <p:cNvSpPr/>
          <p:nvPr/>
        </p:nvSpPr>
        <p:spPr>
          <a:xfrm>
            <a:off x="6080760" y="1463040"/>
            <a:ext cx="5294376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7" name="Compare label"/>
          <p:cNvSpPr txBox="1"/>
          <p:nvPr/>
        </p:nvSpPr>
        <p:spPr>
          <a:xfrm>
            <a:off x="6309360" y="160020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JetBrains Mono"/>
                <a:ea typeface="JetBrains Mono"/>
                <a:cs typeface="JetBrains Mono"/>
              </a:rPr>
              <a:t>WHAT IT WATCHES</a:t>
            </a:r>
          </a:p>
        </p:txBody>
      </p:sp>
      <p:sp>
        <p:nvSpPr>
          <p:cNvPr id="118" name="Chip typical"/>
          <p:cNvSpPr/>
          <p:nvPr/>
        </p:nvSpPr>
        <p:spPr>
          <a:xfrm>
            <a:off x="6309360" y="1892808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TYPICAL</a:t>
            </a:r>
          </a:p>
        </p:txBody>
      </p:sp>
      <p:sp>
        <p:nvSpPr>
          <p:cNvPr id="119" name="Typical text"/>
          <p:cNvSpPr txBox="1"/>
          <p:nvPr/>
        </p:nvSpPr>
        <p:spPr>
          <a:xfrm>
            <a:off x="7360920" y="1865376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Space Grotesk"/>
                <a:ea typeface="Space Grotesk"/>
                <a:cs typeface="Space Grotesk"/>
              </a:rPr>
              <a:t>Material type, for sorting value</a:t>
            </a:r>
          </a:p>
        </p:txBody>
      </p:sp>
      <p:sp>
        <p:nvSpPr>
          <p:cNvPr id="120" name="Chip smart"/>
          <p:cNvSpPr/>
          <p:nvPr/>
        </p:nvSpPr>
        <p:spPr>
          <a:xfrm>
            <a:off x="6309360" y="2249424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SMART MRF</a:t>
            </a:r>
          </a:p>
        </p:txBody>
      </p:sp>
      <p:sp>
        <p:nvSpPr>
          <p:cNvPr id="121" name="Smart text"/>
          <p:cNvSpPr txBox="1"/>
          <p:nvPr/>
        </p:nvSpPr>
        <p:spPr>
          <a:xfrm>
            <a:off x="7360920" y="2212848"/>
            <a:ext cx="37947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Material plus risk: 2 hazard classes and a film-jam warning</a:t>
            </a:r>
          </a:p>
        </p:txBody>
      </p:sp>
      <p:sp>
        <p:nvSpPr>
          <p:cNvPr id="122" name="Compare card HOW IT INSTALLS"/>
          <p:cNvSpPr/>
          <p:nvPr/>
        </p:nvSpPr>
        <p:spPr>
          <a:xfrm>
            <a:off x="6080760" y="2866644"/>
            <a:ext cx="5294376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3" name="Compare label"/>
          <p:cNvSpPr txBox="1"/>
          <p:nvPr/>
        </p:nvSpPr>
        <p:spPr>
          <a:xfrm>
            <a:off x="6309360" y="3003804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JetBrains Mono"/>
                <a:ea typeface="JetBrains Mono"/>
                <a:cs typeface="JetBrains Mono"/>
              </a:rPr>
              <a:t>HOW IT INSTALLS</a:t>
            </a:r>
          </a:p>
        </p:txBody>
      </p:sp>
      <p:sp>
        <p:nvSpPr>
          <p:cNvPr id="124" name="Chip typical"/>
          <p:cNvSpPr/>
          <p:nvPr/>
        </p:nvSpPr>
        <p:spPr>
          <a:xfrm>
            <a:off x="6309360" y="3296412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TYPICAL</a:t>
            </a:r>
          </a:p>
        </p:txBody>
      </p:sp>
      <p:sp>
        <p:nvSpPr>
          <p:cNvPr id="125" name="Typical text"/>
          <p:cNvSpPr txBox="1"/>
          <p:nvPr/>
        </p:nvSpPr>
        <p:spPr>
          <a:xfrm>
            <a:off x="7360920" y="3268980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Space Grotesk"/>
                <a:ea typeface="Space Grotesk"/>
                <a:cs typeface="Space Grotesk"/>
              </a:rPr>
              <a:t>Robot arms at about $200K per unit</a:t>
            </a:r>
          </a:p>
        </p:txBody>
      </p:sp>
      <p:sp>
        <p:nvSpPr>
          <p:cNvPr id="126" name="Chip smart"/>
          <p:cNvSpPr/>
          <p:nvPr/>
        </p:nvSpPr>
        <p:spPr>
          <a:xfrm>
            <a:off x="6309360" y="3653028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SMART MRF</a:t>
            </a:r>
          </a:p>
        </p:txBody>
      </p:sp>
      <p:sp>
        <p:nvSpPr>
          <p:cNvPr id="127" name="Smart text"/>
          <p:cNvSpPr txBox="1"/>
          <p:nvPr/>
        </p:nvSpPr>
        <p:spPr>
          <a:xfrm>
            <a:off x="7360920" y="3616452"/>
            <a:ext cx="37947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One camera over the existing belt, no conveyor rebuild</a:t>
            </a:r>
          </a:p>
        </p:txBody>
      </p:sp>
      <p:sp>
        <p:nvSpPr>
          <p:cNvPr id="128" name="Compare card WHAT OPERATORS GET"/>
          <p:cNvSpPr/>
          <p:nvPr/>
        </p:nvSpPr>
        <p:spPr>
          <a:xfrm>
            <a:off x="6080760" y="4270248"/>
            <a:ext cx="5294376" cy="1261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9" name="Compare label"/>
          <p:cNvSpPr txBox="1"/>
          <p:nvPr/>
        </p:nvSpPr>
        <p:spPr>
          <a:xfrm>
            <a:off x="6309360" y="4407408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JetBrains Mono"/>
                <a:ea typeface="JetBrains Mono"/>
                <a:cs typeface="JetBrains Mono"/>
              </a:rPr>
              <a:t>WHAT OPERATORS GET</a:t>
            </a:r>
          </a:p>
        </p:txBody>
      </p:sp>
      <p:sp>
        <p:nvSpPr>
          <p:cNvPr id="130" name="Chip typical"/>
          <p:cNvSpPr/>
          <p:nvPr/>
        </p:nvSpPr>
        <p:spPr>
          <a:xfrm>
            <a:off x="6309360" y="4700016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TYPICAL</a:t>
            </a:r>
          </a:p>
        </p:txBody>
      </p:sp>
      <p:sp>
        <p:nvSpPr>
          <p:cNvPr id="131" name="Typical text"/>
          <p:cNvSpPr txBox="1"/>
          <p:nvPr/>
        </p:nvSpPr>
        <p:spPr>
          <a:xfrm>
            <a:off x="7360920" y="4672584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Space Grotesk"/>
                <a:ea typeface="Space Grotesk"/>
                <a:cs typeface="Space Grotesk"/>
              </a:rPr>
              <a:t>Purity checked late, at the bale</a:t>
            </a:r>
          </a:p>
        </p:txBody>
      </p:sp>
      <p:sp>
        <p:nvSpPr>
          <p:cNvPr id="132" name="Chip smart"/>
          <p:cNvSpPr/>
          <p:nvPr/>
        </p:nvSpPr>
        <p:spPr>
          <a:xfrm>
            <a:off x="6309360" y="5056632"/>
            <a:ext cx="914400" cy="237744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SMART MRF</a:t>
            </a:r>
          </a:p>
        </p:txBody>
      </p:sp>
      <p:sp>
        <p:nvSpPr>
          <p:cNvPr id="133" name="Smart text"/>
          <p:cNvSpPr txBox="1"/>
          <p:nvPr/>
        </p:nvSpPr>
        <p:spPr>
          <a:xfrm>
            <a:off x="7360920" y="5020056"/>
            <a:ext cx="379476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</a:rPr>
              <a:t>Live counts, bin fill and a plain-language Gemini report</a:t>
            </a:r>
          </a:p>
        </p:txBody>
      </p:sp>
      <p:sp>
        <p:nvSpPr>
          <p:cNvPr id="134" name="Edge banner"/>
          <p:cNvSpPr/>
          <p:nvPr/>
        </p:nvSpPr>
        <p:spPr>
          <a:xfrm>
            <a:off x="812902" y="5715000"/>
            <a:ext cx="10561320" cy="566928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135" name="Edge label"/>
          <p:cNvSpPr txBox="1"/>
          <p:nvPr/>
        </p:nvSpPr>
        <p:spPr>
          <a:xfrm>
            <a:off x="995782" y="5788152"/>
            <a:ext cx="10058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FAE5"/>
                </a:solidFill>
                <a:latin typeface="JetBrains Mono"/>
                <a:ea typeface="JetBrains Mono"/>
                <a:cs typeface="JetBrains Mono"/>
              </a:rPr>
              <a:t>SMART MRF EDGE</a:t>
            </a:r>
          </a:p>
        </p:txBody>
      </p:sp>
      <p:sp>
        <p:nvSpPr>
          <p:cNvPr id="136" name="Edge text"/>
          <p:cNvSpPr txBox="1"/>
          <p:nvPr/>
        </p:nvSpPr>
        <p:spPr>
          <a:xfrm>
            <a:off x="995782" y="5961888"/>
            <a:ext cx="10149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Hazards are caught and isolated before the baler, where fires start.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7FDF08-8454-26A8-26AB-9826D6107078}"/>
              </a:ext>
            </a:extLst>
          </p:cNvPr>
          <p:cNvGrpSpPr/>
          <p:nvPr/>
        </p:nvGrpSpPr>
        <p:grpSpPr>
          <a:xfrm>
            <a:off x="995782" y="3474907"/>
            <a:ext cx="4663440" cy="621792"/>
            <a:chOff x="995782" y="2688336"/>
            <a:chExt cx="4663440" cy="621792"/>
          </a:xfrm>
        </p:grpSpPr>
        <p:sp>
          <p:nvSpPr>
            <p:cNvPr id="9" name="Tier row SAFE · RECYCLE">
              <a:extLst>
                <a:ext uri="{FF2B5EF4-FFF2-40B4-BE49-F238E27FC236}">
                  <a16:creationId xmlns:a16="http://schemas.microsoft.com/office/drawing/2014/main" id="{CD9CE166-D335-CE05-9448-5C83F34AB025}"/>
                </a:ext>
              </a:extLst>
            </p:cNvPr>
            <p:cNvSpPr/>
            <p:nvPr/>
          </p:nvSpPr>
          <p:spPr>
            <a:xfrm>
              <a:off x="995782" y="2688336"/>
              <a:ext cx="4663440" cy="621792"/>
            </a:xfrm>
            <a:prstGeom prst="roundRect">
              <a:avLst>
                <a:gd name="adj" fmla="val 9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0" name="Tier chip SAFE · RECYCLE">
              <a:extLst>
                <a:ext uri="{FF2B5EF4-FFF2-40B4-BE49-F238E27FC236}">
                  <a16:creationId xmlns:a16="http://schemas.microsoft.com/office/drawing/2014/main" id="{CBA82DD7-AAAB-4AAC-F93B-6B647497ED26}"/>
                </a:ext>
              </a:extLst>
            </p:cNvPr>
            <p:cNvSpPr/>
            <p:nvPr/>
          </p:nvSpPr>
          <p:spPr>
            <a:xfrm>
              <a:off x="1132942" y="2843784"/>
              <a:ext cx="1600200" cy="310896"/>
            </a:xfrm>
            <a:prstGeom prst="roundRect">
              <a:avLst>
                <a:gd name="adj" fmla="val 30000"/>
              </a:avLst>
            </a:prstGeom>
            <a:solidFill>
              <a:srgbClr val="059669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SAFE · RECYCLE</a:t>
              </a:r>
            </a:p>
          </p:txBody>
        </p:sp>
        <p:sp>
          <p:nvSpPr>
            <p:cNvPr id="11" name="Tier classes">
              <a:extLst>
                <a:ext uri="{FF2B5EF4-FFF2-40B4-BE49-F238E27FC236}">
                  <a16:creationId xmlns:a16="http://schemas.microsoft.com/office/drawing/2014/main" id="{199F496F-F6B4-92D4-16E8-C6552548DB10}"/>
                </a:ext>
              </a:extLst>
            </p:cNvPr>
            <p:cNvSpPr txBox="1"/>
            <p:nvPr/>
          </p:nvSpPr>
          <p:spPr>
            <a:xfrm>
              <a:off x="2916022" y="2788920"/>
              <a:ext cx="2606040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</a:rPr>
                <a:t>Plastic bags - plastic bottles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HAZARD PROTOCOL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Hazard Isolation Before the Crusher</a:t>
            </a:r>
            <a:endParaRPr lang="en-US" sz="3000" dirty="0"/>
          </a:p>
        </p:txBody>
      </p:sp>
      <p:pic>
        <p:nvPicPr>
          <p:cNvPr id="4" name="Image 0" descr="Flowchart from belt frame through detection to hazard check, critical status, hazardous bin, detections log, operator alert and AI summary"/>
          <p:cNvPicPr>
            <a:picLocks noChangeAspect="1"/>
          </p:cNvPicPr>
          <p:nvPr/>
        </p:nvPicPr>
        <p:blipFill>
          <a:blip r:embed="rId3"/>
          <a:srcRect l="-43" r="-43"/>
          <a:stretch/>
        </p:blipFill>
        <p:spPr>
          <a:xfrm>
            <a:off x="812800" y="1419864"/>
            <a:ext cx="10566400" cy="279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391664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Bin sorting is simulated in the twin today. Physical actuation is Phase 2 (PLC/Modbus).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WHY THIS MODEL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Our Model Fits This Use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5975" y="1423039"/>
            <a:ext cx="4641612" cy="466090"/>
          </a:xfrm>
          <a:prstGeom prst="roundRect">
            <a:avLst>
              <a:gd name="adj" fmla="val 156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 wrap="square" lIns="132917" tIns="82117" rIns="2927" bIns="66877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Many items in one frame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587762" y="1483364"/>
            <a:ext cx="1905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60812" y="1426214"/>
            <a:ext cx="5512038" cy="459740"/>
          </a:xfrm>
          <a:prstGeom prst="roundRect">
            <a:avLst>
              <a:gd name="adj" fmla="val 1519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135751" tIns="84952" rIns="0" bIns="5955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Box detection finds each 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5975" y="1984375"/>
            <a:ext cx="4641612" cy="466090"/>
          </a:xfrm>
          <a:prstGeom prst="roundRect">
            <a:avLst>
              <a:gd name="adj" fmla="val 156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 wrap="square" lIns="132917" tIns="82117" rIns="2927" bIns="66877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Counts must not double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87762" y="2044700"/>
            <a:ext cx="1905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60812" y="1987550"/>
            <a:ext cx="5512038" cy="459740"/>
          </a:xfrm>
          <a:prstGeom prst="roundRect">
            <a:avLst>
              <a:gd name="adj" fmla="val 1519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135751" tIns="84952" rIns="0" bIns="5955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tracker gives each item a persistent 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5975" y="2545717"/>
            <a:ext cx="4641612" cy="466090"/>
          </a:xfrm>
          <a:prstGeom prst="roundRect">
            <a:avLst>
              <a:gd name="adj" fmla="val 156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 wrap="square" lIns="132917" tIns="82117" rIns="2927" bIns="66877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Hazards and film matter most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87762" y="2606042"/>
            <a:ext cx="1905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60812" y="2548892"/>
            <a:ext cx="5512038" cy="459740"/>
          </a:xfrm>
          <a:prstGeom prst="roundRect">
            <a:avLst>
              <a:gd name="adj" fmla="val 1519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135751" tIns="84952" rIns="0" bIns="5955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hazard classes, not just material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5975" y="3107054"/>
            <a:ext cx="4641612" cy="466090"/>
          </a:xfrm>
          <a:prstGeom prst="roundRect">
            <a:avLst>
              <a:gd name="adj" fmla="val 156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 wrap="square" lIns="132917" tIns="82117" rIns="2927" bIns="66877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Must run on a shop-floor PC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762" y="3167379"/>
            <a:ext cx="1905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60812" y="3110229"/>
            <a:ext cx="5512038" cy="459740"/>
          </a:xfrm>
          <a:prstGeom prst="roundRect">
            <a:avLst>
              <a:gd name="adj" fmla="val 1519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135751" tIns="84952" rIns="0" bIns="5955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YOLO11s, a small, fast model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5975" y="3668396"/>
            <a:ext cx="4641612" cy="466090"/>
          </a:xfrm>
          <a:prstGeom prst="roundRect">
            <a:avLst>
              <a:gd name="adj" fmla="val 1566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 wrap="square" lIns="132917" tIns="82117" rIns="2927" bIns="66877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budget for a rebuild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87762" y="3728721"/>
            <a:ext cx="1905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60812" y="3671571"/>
            <a:ext cx="5512038" cy="459740"/>
          </a:xfrm>
          <a:prstGeom prst="roundRect">
            <a:avLst>
              <a:gd name="adj" fmla="val 1519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 wrap="square" lIns="135751" tIns="84952" rIns="0" bIns="5955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camera over the existing belt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5788664"/>
            <a:ext cx="10566400" cy="459740"/>
          </a:xfrm>
          <a:prstGeom prst="roundRect">
            <a:avLst>
              <a:gd name="adj" fmla="val 16575"/>
            </a:avLst>
          </a:prstGeom>
          <a:solidFill>
            <a:srgbClr val="FFF7ED"/>
          </a:solidFill>
          <a:ln/>
        </p:spPr>
        <p:txBody>
          <a:bodyPr wrap="square" lIns="206282" tIns="91982" rIns="0" bIns="665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A58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ACCURACY: mAP50 0.66 and mAP50-95 0.47 on the validation split after 94 epochs. Hazard classes still need more data.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" y="5788664"/>
            <a:ext cx="10566400" cy="459740"/>
          </a:xfrm>
          <a:custGeom>
            <a:avLst/>
            <a:gdLst/>
            <a:ahLst/>
            <a:cxnLst/>
            <a:rect l="l" t="t" r="r" b="b"/>
            <a:pathLst>
              <a:path w="10566400" h="459740">
                <a:moveTo>
                  <a:pt x="76200" y="459740"/>
                </a:moveTo>
                <a:lnTo>
                  <a:pt x="76200" y="45974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383540"/>
                </a:lnTo>
                <a:arcTo wR="25400" hR="76200" stAng="10800000" swAng="-5400000"/>
                <a:close/>
              </a:path>
            </a:pathLst>
          </a:custGeom>
          <a:solidFill>
            <a:srgbClr val="EA580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0"/>
              </a:lnSpc>
            </a:pPr>
            <a:r>
              <a:rPr sz="3000" b="1" dirty="0">
                <a:solidFill>
                  <a:srgbClr val="0F172A"/>
                </a:solidFill>
                <a:latin typeface="Space Grotesk"/>
              </a:rPr>
              <a:t>Initial Run: 94 Epochs, Still Improving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JetBrains Mono"/>
              </a:rPr>
              <a:t>MODEL RESULTS · TRAINING</a:t>
            </a:r>
          </a:p>
        </p:txBody>
      </p:sp>
      <p:sp>
        <p:nvSpPr>
          <p:cNvPr id="4" name="Stat card"/>
          <p:cNvSpPr/>
          <p:nvPr/>
        </p:nvSpPr>
        <p:spPr>
          <a:xfrm>
            <a:off x="812800" y="1500000"/>
            <a:ext cx="19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tat value"/>
          <p:cNvSpPr txBox="1"/>
          <p:nvPr/>
        </p:nvSpPr>
        <p:spPr>
          <a:xfrm>
            <a:off x="962800" y="1620000"/>
            <a:ext cx="16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dirty="0">
                <a:solidFill>
                  <a:srgbClr val="059669"/>
                </a:solidFill>
                <a:latin typeface="JetBrains Mono"/>
              </a:rPr>
              <a:t>0.6</a:t>
            </a:r>
            <a:r>
              <a:rPr lang="en-US" sz="3600" b="1" dirty="0">
                <a:solidFill>
                  <a:srgbClr val="059669"/>
                </a:solidFill>
                <a:latin typeface="JetBrains Mono"/>
              </a:rPr>
              <a:t>64</a:t>
            </a:r>
            <a:endParaRPr sz="3600" b="1" dirty="0">
              <a:solidFill>
                <a:srgbClr val="059669"/>
              </a:solidFill>
              <a:latin typeface="JetBrains Mono"/>
            </a:endParaRPr>
          </a:p>
        </p:txBody>
      </p:sp>
      <p:sp>
        <p:nvSpPr>
          <p:cNvPr id="6" name="Stat label"/>
          <p:cNvSpPr txBox="1"/>
          <p:nvPr/>
        </p:nvSpPr>
        <p:spPr>
          <a:xfrm>
            <a:off x="962800" y="2312000"/>
            <a:ext cx="1600000" cy="4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pace Grotesk"/>
              </a:rPr>
              <a:t>mAP50</a:t>
            </a:r>
          </a:p>
        </p:txBody>
      </p:sp>
      <p:sp>
        <p:nvSpPr>
          <p:cNvPr id="7" name="Stat card"/>
          <p:cNvSpPr/>
          <p:nvPr/>
        </p:nvSpPr>
        <p:spPr>
          <a:xfrm>
            <a:off x="2912800" y="1500000"/>
            <a:ext cx="19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at value"/>
          <p:cNvSpPr txBox="1"/>
          <p:nvPr/>
        </p:nvSpPr>
        <p:spPr>
          <a:xfrm>
            <a:off x="3062800" y="1620000"/>
            <a:ext cx="16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3600" b="1" dirty="0">
                <a:solidFill>
                  <a:srgbClr val="059669"/>
                </a:solidFill>
                <a:latin typeface="JetBrains Mono"/>
              </a:rPr>
              <a:t>0.466</a:t>
            </a:r>
            <a:endParaRPr sz="3600" b="1" dirty="0">
              <a:solidFill>
                <a:srgbClr val="059669"/>
              </a:solidFill>
              <a:latin typeface="JetBrains Mono"/>
            </a:endParaRPr>
          </a:p>
        </p:txBody>
      </p:sp>
      <p:sp>
        <p:nvSpPr>
          <p:cNvPr id="9" name="Stat label"/>
          <p:cNvSpPr txBox="1"/>
          <p:nvPr/>
        </p:nvSpPr>
        <p:spPr>
          <a:xfrm>
            <a:off x="3062800" y="2312000"/>
            <a:ext cx="1600000" cy="4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pace Grotesk"/>
              </a:rPr>
              <a:t>mAP50-95</a:t>
            </a:r>
          </a:p>
        </p:txBody>
      </p:sp>
      <p:sp>
        <p:nvSpPr>
          <p:cNvPr id="10" name="Stat card"/>
          <p:cNvSpPr/>
          <p:nvPr/>
        </p:nvSpPr>
        <p:spPr>
          <a:xfrm>
            <a:off x="812800" y="3100000"/>
            <a:ext cx="19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tat value"/>
          <p:cNvSpPr txBox="1"/>
          <p:nvPr/>
        </p:nvSpPr>
        <p:spPr>
          <a:xfrm>
            <a:off x="962800" y="3220000"/>
            <a:ext cx="16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dirty="0">
                <a:solidFill>
                  <a:srgbClr val="059669"/>
                </a:solidFill>
                <a:latin typeface="JetBrains Mono"/>
              </a:rPr>
              <a:t>0.</a:t>
            </a:r>
            <a:r>
              <a:rPr lang="en-US" sz="3600" b="1" dirty="0">
                <a:solidFill>
                  <a:srgbClr val="059669"/>
                </a:solidFill>
                <a:latin typeface="JetBrains Mono"/>
              </a:rPr>
              <a:t>682</a:t>
            </a:r>
            <a:endParaRPr sz="3600" b="1" dirty="0">
              <a:solidFill>
                <a:srgbClr val="059669"/>
              </a:solidFill>
              <a:latin typeface="JetBrains Mono"/>
            </a:endParaRPr>
          </a:p>
        </p:txBody>
      </p:sp>
      <p:sp>
        <p:nvSpPr>
          <p:cNvPr id="12" name="Stat label"/>
          <p:cNvSpPr txBox="1"/>
          <p:nvPr/>
        </p:nvSpPr>
        <p:spPr>
          <a:xfrm>
            <a:off x="962800" y="3912000"/>
            <a:ext cx="1600000" cy="4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pace Grotesk"/>
              </a:rPr>
              <a:t>Precision</a:t>
            </a:r>
          </a:p>
        </p:txBody>
      </p:sp>
      <p:sp>
        <p:nvSpPr>
          <p:cNvPr id="13" name="Stat card"/>
          <p:cNvSpPr/>
          <p:nvPr/>
        </p:nvSpPr>
        <p:spPr>
          <a:xfrm>
            <a:off x="2912800" y="3100000"/>
            <a:ext cx="190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tat value"/>
          <p:cNvSpPr txBox="1"/>
          <p:nvPr/>
        </p:nvSpPr>
        <p:spPr>
          <a:xfrm>
            <a:off x="3062800" y="3220000"/>
            <a:ext cx="16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dirty="0">
                <a:solidFill>
                  <a:srgbClr val="059669"/>
                </a:solidFill>
                <a:latin typeface="JetBrains Mono"/>
              </a:rPr>
              <a:t>0.</a:t>
            </a:r>
            <a:r>
              <a:rPr lang="en-US" sz="3600" b="1" dirty="0">
                <a:solidFill>
                  <a:srgbClr val="059669"/>
                </a:solidFill>
                <a:latin typeface="JetBrains Mono"/>
              </a:rPr>
              <a:t>608</a:t>
            </a:r>
            <a:endParaRPr sz="3600" b="1" dirty="0">
              <a:solidFill>
                <a:srgbClr val="059669"/>
              </a:solidFill>
              <a:latin typeface="JetBrains Mono"/>
            </a:endParaRPr>
          </a:p>
        </p:txBody>
      </p:sp>
      <p:sp>
        <p:nvSpPr>
          <p:cNvPr id="15" name="Stat label"/>
          <p:cNvSpPr txBox="1"/>
          <p:nvPr/>
        </p:nvSpPr>
        <p:spPr>
          <a:xfrm>
            <a:off x="3062800" y="3912000"/>
            <a:ext cx="1600000" cy="4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pace Grotesk"/>
              </a:rPr>
              <a:t>Recall</a:t>
            </a:r>
          </a:p>
        </p:txBody>
      </p:sp>
      <p:pic>
        <p:nvPicPr>
          <p:cNvPr id="16" name="Training curves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800" y="1500000"/>
            <a:ext cx="6583392" cy="3291696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17" name="Caption"/>
          <p:cNvSpPr txBox="1"/>
          <p:nvPr/>
        </p:nvSpPr>
        <p:spPr>
          <a:xfrm>
            <a:off x="5112800" y="4871696"/>
            <a:ext cx="6583392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475569"/>
                </a:solidFill>
                <a:latin typeface="Space Grotesk"/>
              </a:rPr>
              <a:t>YOLO11</a:t>
            </a:r>
            <a:r>
              <a:rPr lang="en-US" sz="1100" b="0" dirty="0">
                <a:solidFill>
                  <a:srgbClr val="475569"/>
                </a:solidFill>
                <a:latin typeface="Space Grotesk"/>
              </a:rPr>
              <a:t>s</a:t>
            </a:r>
            <a:r>
              <a:rPr sz="1100" b="0" dirty="0">
                <a:solidFill>
                  <a:srgbClr val="475569"/>
                </a:solidFill>
                <a:latin typeface="Space Grotesk"/>
              </a:rPr>
              <a:t> initial run: loss and metric curves over </a:t>
            </a:r>
            <a:r>
              <a:rPr lang="en-US" sz="1100" dirty="0">
                <a:solidFill>
                  <a:srgbClr val="475569"/>
                </a:solidFill>
                <a:latin typeface="Space Grotesk"/>
              </a:rPr>
              <a:t>94</a:t>
            </a:r>
            <a:r>
              <a:rPr sz="1100" b="0" dirty="0">
                <a:solidFill>
                  <a:srgbClr val="475569"/>
                </a:solidFill>
                <a:latin typeface="Space Grotesk"/>
              </a:rPr>
              <a:t> epochs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0"/>
              </a:lnSpc>
            </a:pPr>
            <a:r>
              <a:rPr sz="3000" b="1">
                <a:solidFill>
                  <a:srgbClr val="0F172A"/>
                </a:solidFill>
                <a:latin typeface="Space Grotesk"/>
              </a:rPr>
              <a:t>Metal and Cardboard Lead, Aerosol Lags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JetBrains Mono"/>
              </a:rPr>
              <a:t>MODEL RESULTS · PER CLASS (INITIAL RUN)</a:t>
            </a:r>
          </a:p>
        </p:txBody>
      </p:sp>
      <p:graphicFrame>
        <p:nvGraphicFramePr>
          <p:cNvPr id="4" name="AP50 per class"/>
          <p:cNvGraphicFramePr>
            <a:graphicFrameLocks noGrp="1"/>
          </p:cNvGraphicFramePr>
          <p:nvPr/>
        </p:nvGraphicFramePr>
        <p:xfrm>
          <a:off x="812800" y="1450000"/>
          <a:ext cx="6200000" cy="46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akeaways"/>
          <p:cNvSpPr txBox="1"/>
          <p:nvPr/>
        </p:nvSpPr>
        <p:spPr>
          <a:xfrm>
            <a:off x="7400000" y="1500000"/>
            <a:ext cx="4296192" cy="4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3642" indent="-183642" algn="l">
              <a:spcAft>
                <a:spcPts val="12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Best: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cardboard 0.857 and metal 0.848.</a:t>
            </a:r>
          </a:p>
          <a:p>
            <a:pPr marL="183642" indent="-183642" algn="l">
              <a:spcAft>
                <a:spcPts val="12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Mid-range: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plastic 0.715, glass 0.635, plastic_bag 0.625 and paper 0.609.</a:t>
            </a:r>
          </a:p>
          <a:p>
            <a:pPr marL="183642" indent="-183642" algn="l">
              <a:spcAft>
                <a:spcPts val="12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Weakest: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aerosol 0.335, a hazard class with only 13 labelled boxes.</a:t>
            </a:r>
          </a:p>
          <a:p>
            <a:pPr marL="183642" indent="-183642" algn="l">
              <a:spcAft>
                <a:spcPts val="12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Not scored: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battery does not appear in the validation results.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0"/>
              </a:lnSpc>
            </a:pPr>
            <a:r>
              <a:rPr sz="3000" b="1">
                <a:solidFill>
                  <a:srgbClr val="0F172A"/>
                </a:solidFill>
                <a:latin typeface="Space Grotesk"/>
              </a:rPr>
              <a:t>Hazard Classes Are Rare in the Data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JetBrains Mono"/>
              </a:rPr>
              <a:t>MODEL RESULTS · DATASET</a:t>
            </a:r>
          </a:p>
        </p:txBody>
      </p:sp>
      <p:pic>
        <p:nvPicPr>
          <p:cNvPr id="4" name="Label distribution" descr="labe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450000"/>
            <a:ext cx="4650000" cy="465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5" name="Stat card"/>
          <p:cNvSpPr/>
          <p:nvPr/>
        </p:nvSpPr>
        <p:spPr>
          <a:xfrm>
            <a:off x="5812800" y="1500000"/>
            <a:ext cx="184113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tat value"/>
          <p:cNvSpPr txBox="1"/>
          <p:nvPr/>
        </p:nvSpPr>
        <p:spPr>
          <a:xfrm>
            <a:off x="5962800" y="1620000"/>
            <a:ext cx="154113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59669"/>
                </a:solidFill>
                <a:latin typeface="JetBrains Mono"/>
              </a:rPr>
              <a:t>6,162</a:t>
            </a:r>
          </a:p>
        </p:txBody>
      </p:sp>
      <p:sp>
        <p:nvSpPr>
          <p:cNvPr id="7" name="Stat label"/>
          <p:cNvSpPr txBox="1"/>
          <p:nvPr/>
        </p:nvSpPr>
        <p:spPr>
          <a:xfrm>
            <a:off x="5962800" y="2312000"/>
            <a:ext cx="1541130" cy="4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pace Grotesk"/>
              </a:rPr>
              <a:t>labelled boxes, 8 classes</a:t>
            </a:r>
          </a:p>
        </p:txBody>
      </p:sp>
      <p:sp>
        <p:nvSpPr>
          <p:cNvPr id="8" name="Stat card"/>
          <p:cNvSpPr/>
          <p:nvPr/>
        </p:nvSpPr>
        <p:spPr>
          <a:xfrm>
            <a:off x="7833930" y="1500000"/>
            <a:ext cx="184113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t value"/>
          <p:cNvSpPr txBox="1"/>
          <p:nvPr/>
        </p:nvSpPr>
        <p:spPr>
          <a:xfrm>
            <a:off x="7983930" y="1620000"/>
            <a:ext cx="154113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DC2626"/>
                </a:solidFill>
                <a:latin typeface="JetBrains Mono"/>
              </a:rPr>
              <a:t>34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7983930" y="2312000"/>
            <a:ext cx="1541130" cy="4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pace Grotesk"/>
              </a:rPr>
              <a:t>battery boxes</a:t>
            </a:r>
          </a:p>
        </p:txBody>
      </p:sp>
      <p:sp>
        <p:nvSpPr>
          <p:cNvPr id="11" name="Stat card"/>
          <p:cNvSpPr/>
          <p:nvPr/>
        </p:nvSpPr>
        <p:spPr>
          <a:xfrm>
            <a:off x="9855060" y="1500000"/>
            <a:ext cx="184113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value"/>
          <p:cNvSpPr txBox="1"/>
          <p:nvPr/>
        </p:nvSpPr>
        <p:spPr>
          <a:xfrm>
            <a:off x="10005060" y="1620000"/>
            <a:ext cx="1541130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DC2626"/>
                </a:solidFill>
                <a:latin typeface="JetBrains Mono"/>
              </a:rPr>
              <a:t>13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10005060" y="2312000"/>
            <a:ext cx="1541130" cy="4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pace Grotesk"/>
              </a:rPr>
              <a:t>aerosol boxes</a:t>
            </a:r>
          </a:p>
        </p:txBody>
      </p:sp>
      <p:sp>
        <p:nvSpPr>
          <p:cNvPr id="14" name="Dataset notes"/>
          <p:cNvSpPr txBox="1"/>
          <p:nvPr/>
        </p:nvSpPr>
        <p:spPr>
          <a:xfrm>
            <a:off x="5812800" y="3200000"/>
            <a:ext cx="5883392" cy="2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Most data: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metal 1,868 and plastic 1,667 boxes.</a:t>
            </a:r>
          </a:p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Least data: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battery 34 and aerosol 13, the classes that trigger CRITICAL alerts.</a:t>
            </a:r>
          </a:p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Box sizes: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mostly small to medium and centred in the frame, with some filling the whole image.</a:t>
            </a:r>
          </a:p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Next step: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label more battery and aerosol images to strengthen the hazard classes.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0"/>
              </a:lnSpc>
            </a:pPr>
            <a:r>
              <a:rPr sz="3000" b="1">
                <a:solidFill>
                  <a:srgbClr val="0F172A"/>
                </a:solidFill>
                <a:latin typeface="Space Grotesk"/>
              </a:rPr>
              <a:t>Where the Model Gets Confused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JetBrains Mono"/>
              </a:rPr>
              <a:t>MODEL RESULTS · CONFUSION MATRIX (INITIAL RUN)</a:t>
            </a:r>
          </a:p>
        </p:txBody>
      </p:sp>
      <p:pic>
        <p:nvPicPr>
          <p:cNvPr id="4" name="Normalized confusion matrix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450000"/>
            <a:ext cx="6200000" cy="465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5" name="Confusion notes"/>
          <p:cNvSpPr txBox="1"/>
          <p:nvPr/>
        </p:nvSpPr>
        <p:spPr>
          <a:xfrm>
            <a:off x="7362800" y="1500000"/>
            <a:ext cx="4333392" cy="3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Correct: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metal 0.76, plastic 0.68 and cardboard 0.67 of true items.</a:t>
            </a:r>
          </a:p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Paper: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only 0.50 correct, and 0.24 of paper is called cardboard.</a:t>
            </a:r>
          </a:p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Glass: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0.20 of glass is called plastic.</a:t>
            </a:r>
          </a:p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Aerosol: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0.67 of aerosol is called metal.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7362800" y="5350000"/>
            <a:ext cx="4333392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Space Grotesk"/>
              </a:rPr>
              <a:t>Columns are the true class, rows are the prediction.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00"/>
              </a:lnSpc>
            </a:pPr>
            <a:r>
              <a:rPr sz="3000" b="1">
                <a:solidFill>
                  <a:srgbClr val="0F172A"/>
                </a:solidFill>
                <a:latin typeface="Space Grotesk"/>
              </a:rPr>
              <a:t>Choosing the Confidence Threshold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JetBrains Mono"/>
              </a:rPr>
              <a:t>MODEL RESULTS · THRESHOLD (INITIAL RUN)</a:t>
            </a:r>
          </a:p>
        </p:txBody>
      </p:sp>
      <p:pic>
        <p:nvPicPr>
          <p:cNvPr id="4" name="F1 confidence curve" descr="BoxF1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450000"/>
            <a:ext cx="6000000" cy="400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5" name="Stat card"/>
          <p:cNvSpPr/>
          <p:nvPr/>
        </p:nvSpPr>
        <p:spPr>
          <a:xfrm>
            <a:off x="7162800" y="1500000"/>
            <a:ext cx="2176696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tat value"/>
          <p:cNvSpPr txBox="1"/>
          <p:nvPr/>
        </p:nvSpPr>
        <p:spPr>
          <a:xfrm>
            <a:off x="7312800" y="1620000"/>
            <a:ext cx="1876696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59669"/>
                </a:solidFill>
                <a:latin typeface="JetBrains Mono"/>
              </a:rPr>
              <a:t>0.64</a:t>
            </a:r>
          </a:p>
        </p:txBody>
      </p:sp>
      <p:sp>
        <p:nvSpPr>
          <p:cNvPr id="7" name="Stat label"/>
          <p:cNvSpPr txBox="1"/>
          <p:nvPr/>
        </p:nvSpPr>
        <p:spPr>
          <a:xfrm>
            <a:off x="7312800" y="2312000"/>
            <a:ext cx="1876696" cy="4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pace Grotesk"/>
              </a:rPr>
              <a:t>best F1, all classes, at 0.29 confidence</a:t>
            </a:r>
          </a:p>
        </p:txBody>
      </p:sp>
      <p:sp>
        <p:nvSpPr>
          <p:cNvPr id="8" name="Stat card"/>
          <p:cNvSpPr/>
          <p:nvPr/>
        </p:nvSpPr>
        <p:spPr>
          <a:xfrm>
            <a:off x="9519496" y="1500000"/>
            <a:ext cx="2176696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t value"/>
          <p:cNvSpPr txBox="1"/>
          <p:nvPr/>
        </p:nvSpPr>
        <p:spPr>
          <a:xfrm>
            <a:off x="9669496" y="1620000"/>
            <a:ext cx="1876696" cy="7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F172A"/>
                </a:solidFill>
                <a:latin typeface="JetBrains Mono"/>
              </a:rPr>
              <a:t>40%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9669496" y="2312000"/>
            <a:ext cx="1876696" cy="4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75569"/>
                </a:solidFill>
                <a:latin typeface="Space Grotesk"/>
              </a:rPr>
              <a:t>dashboard default today</a:t>
            </a:r>
          </a:p>
        </p:txBody>
      </p:sp>
      <p:sp>
        <p:nvSpPr>
          <p:cNvPr id="11" name="Threshold notes"/>
          <p:cNvSpPr txBox="1"/>
          <p:nvPr/>
        </p:nvSpPr>
        <p:spPr>
          <a:xfrm>
            <a:off x="7162800" y="3200000"/>
            <a:ext cx="4533392" cy="2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F1 peaks near 0.29.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The 40% default (adjustable) sits above it, which favours fewer false alarms over catching every item.</a:t>
            </a:r>
          </a:p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Precision reaches 1.00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only at 0.963 confidence.</a:t>
            </a:r>
          </a:p>
          <a:p>
            <a:pPr marL="183642" indent="-183642" algn="l">
              <a:spcAft>
                <a:spcPts val="1000"/>
              </a:spcAft>
              <a:buChar char="•"/>
            </a:pPr>
            <a:r>
              <a:rPr sz="1600" b="1">
                <a:solidFill>
                  <a:srgbClr val="0F172A"/>
                </a:solidFill>
                <a:latin typeface="Space Grotesk"/>
              </a:rPr>
              <a:t>Hazard classes</a:t>
            </a:r>
            <a:r>
              <a:rPr sz="1600" b="0">
                <a:solidFill>
                  <a:srgbClr val="0F172A"/>
                </a:solidFill>
                <a:latin typeface="Space Grotesk"/>
              </a:rPr>
              <a:t> can run a lower threshold than the rest, so a battery is not missed.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22964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Scaling the Smart MRF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426214"/>
            <a:ext cx="3390900" cy="481584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30021"/>
            <a:ext cx="3383280" cy="960120"/>
          </a:xfrm>
          <a:custGeom>
            <a:avLst/>
            <a:gdLst/>
            <a:ahLst/>
            <a:cxnLst/>
            <a:rect l="l" t="t" r="r" b="b"/>
            <a:pathLst>
              <a:path w="3383280" h="960120">
                <a:moveTo>
                  <a:pt x="0" y="91440"/>
                </a:moveTo>
                <a:arcTo wR="91440" hR="91440" stAng="10800000" swAng="5400000"/>
                <a:lnTo>
                  <a:pt x="3291840" y="0"/>
                </a:lnTo>
                <a:arcTo wR="91440" hR="91440" stAng="16200000" swAng="5400000"/>
                <a:lnTo>
                  <a:pt x="3383280" y="960120"/>
                </a:lnTo>
                <a:lnTo>
                  <a:pt x="0" y="960120"/>
                </a:lnTo>
                <a:close/>
              </a:path>
            </a:pathLst>
          </a:cu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1026160" y="1607821"/>
            <a:ext cx="30661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26160" y="1963421"/>
            <a:ext cx="3066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NOW · IN PROGRESS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6160" y="2567942"/>
            <a:ext cx="3066187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Vision + Twin + AI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26160" y="2921639"/>
            <a:ext cx="306618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Train YOLO11s, build twin and dashboard, Gemini report.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00550" y="1426214"/>
            <a:ext cx="3390900" cy="481584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4360" y="1430021"/>
            <a:ext cx="3383280" cy="960120"/>
          </a:xfrm>
          <a:custGeom>
            <a:avLst/>
            <a:gdLst/>
            <a:ahLst/>
            <a:cxnLst/>
            <a:rect l="l" t="t" r="r" b="b"/>
            <a:pathLst>
              <a:path w="3383280" h="960120">
                <a:moveTo>
                  <a:pt x="0" y="91440"/>
                </a:moveTo>
                <a:arcTo wR="91440" hR="91440" stAng="10800000" swAng="5400000"/>
                <a:lnTo>
                  <a:pt x="3291840" y="0"/>
                </a:lnTo>
                <a:arcTo wR="91440" hR="91440" stAng="16200000" swAng="5400000"/>
                <a:lnTo>
                  <a:pt x="3383280" y="960120"/>
                </a:lnTo>
                <a:lnTo>
                  <a:pt x="0" y="960120"/>
                </a:lnTo>
                <a:close/>
              </a:path>
            </a:pathLst>
          </a:custGeom>
          <a:solidFill>
            <a:srgbClr val="C2410C"/>
          </a:solidFill>
          <a:ln/>
        </p:spPr>
      </p:sp>
      <p:sp>
        <p:nvSpPr>
          <p:cNvPr id="12" name="Text 10"/>
          <p:cNvSpPr/>
          <p:nvPr/>
        </p:nvSpPr>
        <p:spPr>
          <a:xfrm>
            <a:off x="4607560" y="1607821"/>
            <a:ext cx="30661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07560" y="1963421"/>
            <a:ext cx="3066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7560" y="2567942"/>
            <a:ext cx="3066187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Bridge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07560" y="2921639"/>
            <a:ext cx="30661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PLC/Modbus to drive air-jets and diverters.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81950" y="1426214"/>
            <a:ext cx="3390900" cy="4815840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85760" y="1430021"/>
            <a:ext cx="3383280" cy="960120"/>
          </a:xfrm>
          <a:custGeom>
            <a:avLst/>
            <a:gdLst/>
            <a:ahLst/>
            <a:cxnLst/>
            <a:rect l="l" t="t" r="r" b="b"/>
            <a:pathLst>
              <a:path w="3383280" h="960120">
                <a:moveTo>
                  <a:pt x="0" y="91440"/>
                </a:moveTo>
                <a:arcTo wR="91440" hR="91440" stAng="10800000" swAng="5400000"/>
                <a:lnTo>
                  <a:pt x="3291840" y="0"/>
                </a:lnTo>
                <a:arcTo wR="91440" hR="91440" stAng="16200000" swAng="5400000"/>
                <a:lnTo>
                  <a:pt x="3383280" y="960120"/>
                </a:lnTo>
                <a:lnTo>
                  <a:pt x="0" y="96012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8188960" y="1607821"/>
            <a:ext cx="30661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88960" y="1963421"/>
            <a:ext cx="30661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LATER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88960" y="2567942"/>
            <a:ext cx="3066187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Facility Mesh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188960" y="2921639"/>
            <a:ext cx="306618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bale-purity certification and predictive maintenance.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1520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074943"/>
            <a:ext cx="10883392" cy="173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32"/>
              </a:lnSpc>
              <a:buNone/>
            </a:pPr>
            <a:r>
              <a:rPr lang="en-US" sz="6600" b="1" i="0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Smarter Nervous System for Recycling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4013442"/>
            <a:ext cx="1088339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D5E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Turning standard conveyor belts into self-protecting, AI-orchestrated recovery lines.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940542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34D399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github.com/Chirag-S-Reddy/Smart-MRF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MRF — Pitch Deck">
  <a:themeElements>
    <a:clrScheme name="Smart MRF — Pitch Deck">
      <a:dk1>
        <a:srgbClr val="0F172A"/>
      </a:dk1>
      <a:lt1>
        <a:srgbClr val="F8FAFC"/>
      </a:lt1>
      <a:dk2>
        <a:srgbClr val="49505F"/>
      </a:dk2>
      <a:lt2>
        <a:srgbClr val="E1E3E7"/>
      </a:lt2>
      <a:accent1>
        <a:srgbClr val="059669"/>
      </a:accent1>
      <a:accent2>
        <a:srgbClr val="34D399"/>
      </a:accent2>
      <a:accent3>
        <a:srgbClr val="DC2626"/>
      </a:accent3>
      <a:accent4>
        <a:srgbClr val="EA580C"/>
      </a:accent4>
      <a:accent5>
        <a:srgbClr val="C2410C"/>
      </a:accent5>
      <a:accent6>
        <a:srgbClr val="FDBA74"/>
      </a:accent6>
      <a:hlink>
        <a:srgbClr val="0563C1"/>
      </a:hlink>
      <a:folHlink>
        <a:srgbClr val="954F72"/>
      </a:folHlink>
    </a:clrScheme>
    <a:fontScheme name="Smart MRF — Pitch Deck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etBrai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1911</Words>
  <Application>Microsoft Office PowerPoint</Application>
  <PresentationFormat>Widescreen</PresentationFormat>
  <Paragraphs>287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JetBrains Mono</vt:lpstr>
      <vt:lpstr>Space Grotesk</vt:lpstr>
      <vt:lpstr>Arial</vt:lpstr>
      <vt:lpstr>Smart MRF — Pitch Deck</vt:lpstr>
      <vt:lpstr>Smart MRF</vt:lpstr>
      <vt:lpstr>PowerPoint Presentation</vt:lpstr>
      <vt:lpstr>Smart MRF in Brief</vt:lpstr>
      <vt:lpstr>Inefficient manual sorting and a lack of actionable disposal guidance hinder effective waste management and circular economy adoption. This project develops an integrated system combining Computer Vision for automated material classification, a Digital Twin for real-time lifecycle tracking, and Generative AI for personalized recycling recommendations.</vt:lpstr>
      <vt:lpstr>Hidden Battery &amp; Aerosol Fires</vt:lpstr>
      <vt:lpstr>Purity Is Measured Too Late</vt:lpstr>
      <vt:lpstr>From Belt Video to Operator Advice</vt:lpstr>
      <vt:lpstr>8-Class Computer Vision on the Belt</vt:lpstr>
      <vt:lpstr>A Gemini Report on Demand</vt:lpstr>
      <vt:lpstr>Real-Time Digital Twin Dashboard</vt:lpstr>
      <vt:lpstr>The Dashboard in Action</vt:lpstr>
      <vt:lpstr>The Model Working, End to End</vt:lpstr>
      <vt:lpstr>Why Smart MRF Is Different</vt:lpstr>
      <vt:lpstr>Hazard Isolation Before the Crusher</vt:lpstr>
      <vt:lpstr>Why Our Model Fits This Use Case</vt:lpstr>
      <vt:lpstr>Initial Run: 94 Epochs, Still Improving</vt:lpstr>
      <vt:lpstr>Metal and Cardboard Lead, Aerosol Lags</vt:lpstr>
      <vt:lpstr>Hazard Classes Are Rare in the Data</vt:lpstr>
      <vt:lpstr>Where the Model Gets Confused</vt:lpstr>
      <vt:lpstr>Choosing the Confidence Threshold</vt:lpstr>
      <vt:lpstr>Scaling the Smart MRF Ecosystem</vt:lpstr>
      <vt:lpstr>A Smarter Nervous System for Recycling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MRF — Pitch Deck</dc:title>
  <dc:subject/>
  <dc:creator>Gurusmaran</dc:creator>
  <cp:lastModifiedBy>Scelly P</cp:lastModifiedBy>
  <cp:revision>4</cp:revision>
  <dcterms:created xsi:type="dcterms:W3CDTF">2026-10-15T10:50:38Z</dcterms:created>
  <dcterms:modified xsi:type="dcterms:W3CDTF">2026-10-16T09:43:01Z</dcterms:modified>
</cp:coreProperties>
</file>